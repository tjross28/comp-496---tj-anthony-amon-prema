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9a1f31aa1d04286" /><Relationship Type="http://schemas.openxmlformats.org/officeDocument/2006/relationships/extended-properties" Target="/docProps/app.xml" Id="R762772cc3e3c44dd" /><Relationship Type="http://schemas.openxmlformats.org/officeDocument/2006/relationships/officeDocument" Target="/ppt/presentation.xml" Id="R9775776826694caf" /></Relationships>
</file>

<file path=ppt/presentation.xml><?xml version="1.0" encoding="utf-8"?>
<p:presentation xmlns:p="http://schemas.openxmlformats.org/presentationml/2006/main">
  <p:sldMasterIdLst>
    <p:sldMasterId xmlns:r="http://schemas.openxmlformats.org/officeDocument/2006/relationships" id="2147483648" r:id="R3b607350c2654838"/>
  </p:sldMasterIdLst>
  <p:notesMasterIdLst>
    <p:notesMasterId xmlns:r="http://schemas.openxmlformats.org/officeDocument/2006/relationships" r:id="R27ee658546b14fba"/>
  </p:notesMasterIdLst>
  <p:sldIdLst>
    <p:sldId xmlns:r="http://schemas.openxmlformats.org/officeDocument/2006/relationships" id="256" r:id="Rbbfcf6a516664460"/>
    <p:sldId xmlns:r="http://schemas.openxmlformats.org/officeDocument/2006/relationships" id="257" r:id="R5724b51cca494d9b"/>
    <p:sldId xmlns:r="http://schemas.openxmlformats.org/officeDocument/2006/relationships" id="258" r:id="R5fe46a4624ba451f"/>
    <p:sldId xmlns:r="http://schemas.openxmlformats.org/officeDocument/2006/relationships" id="259" r:id="R322f1a7b1df04eef"/>
    <p:sldId xmlns:r="http://schemas.openxmlformats.org/officeDocument/2006/relationships" id="260" r:id="R735cf41fbc1343c5"/>
    <p:sldId xmlns:r="http://schemas.openxmlformats.org/officeDocument/2006/relationships" id="261" r:id="R1522920b021e41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7d5b91462354c4f" /><Relationship Type="http://schemas.openxmlformats.org/officeDocument/2006/relationships/slideMaster" Target="/ppt/slideMasters/slideMaster1.xml" Id="R3b607350c2654838" /><Relationship Type="http://schemas.openxmlformats.org/officeDocument/2006/relationships/notesMaster" Target="/ppt/notesMasters/notesMaster1.xml" Id="R27ee658546b14fba" /><Relationship Type="http://schemas.openxmlformats.org/officeDocument/2006/relationships/presProps" Target="/ppt/presProps.xml" Id="R21dd7e96e8524f74" /><Relationship Type="http://schemas.openxmlformats.org/officeDocument/2006/relationships/tableStyles" Target="/ppt/tableStyles.xml" Id="Rc659e84732ba42cd" /><Relationship Type="http://schemas.openxmlformats.org/officeDocument/2006/relationships/slide" Target="/ppt/slides/slide1.xml" Id="Rbbfcf6a516664460" /><Relationship Type="http://schemas.openxmlformats.org/officeDocument/2006/relationships/slide" Target="/ppt/slides/slide2.xml" Id="R5724b51cca494d9b" /><Relationship Type="http://schemas.openxmlformats.org/officeDocument/2006/relationships/slide" Target="/ppt/slides/slide3.xml" Id="R5fe46a4624ba451f" /><Relationship Type="http://schemas.openxmlformats.org/officeDocument/2006/relationships/slide" Target="/ppt/slides/slide4.xml" Id="R322f1a7b1df04eef" /><Relationship Type="http://schemas.openxmlformats.org/officeDocument/2006/relationships/slide" Target="/ppt/slides/slide5.xml" Id="R735cf41fbc1343c5" /><Relationship Type="http://schemas.openxmlformats.org/officeDocument/2006/relationships/slide" Target="/ppt/slides/slide6.xml" Id="R1522920b021e41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d73cde647d40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1a415266cc4640" /><Relationship Type="http://schemas.openxmlformats.org/officeDocument/2006/relationships/notesMaster" Target="/ppt/notesMasters/notesMaster1.xml" Id="Re454c2b52c7c47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61d28608dd41a5" /><Relationship Type="http://schemas.openxmlformats.org/officeDocument/2006/relationships/notesMaster" Target="/ppt/notesMasters/notesMaster1.xml" Id="R6d1a83b1307f44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681eb188ac41ed" /><Relationship Type="http://schemas.openxmlformats.org/officeDocument/2006/relationships/notesMaster" Target="/ppt/notesMasters/notesMaster1.xml" Id="Red78445a2dff4a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a5b47981024bcb" /><Relationship Type="http://schemas.openxmlformats.org/officeDocument/2006/relationships/notesMaster" Target="/ppt/notesMasters/notesMaster1.xml" Id="Rba3150f1c90a45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f04fb41f4f4f13" /><Relationship Type="http://schemas.openxmlformats.org/officeDocument/2006/relationships/notesMaster" Target="/ppt/notesMasters/notesMaster1.xml" Id="R210f1d8ab7ea46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249ecc0e104684" /><Relationship Type="http://schemas.openxmlformats.org/officeDocument/2006/relationships/notesMaster" Target="/ppt/notesMasters/notesMaster1.xml" Id="R1e81d65b9bda44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Anthony · 20 seconds</a:t>
            </a:r>
          </a:p>
          <a:p xmlns:a="http://schemas.openxmlformats.org/drawingml/2006/main">
            <a:r>
              <a:t/>
            </a:r>
          </a:p>
          <a:p xmlns:a="http://schemas.openxmlformats.org/drawingml/2006/main">
            <a:r>
              <a:t>“Hi, we’re TJ, Anthony, and Amon. We built ClearPolicy to help a reader find privacy practices worth a closer look. We’ll show how the updated model fits into the analyzer, then TJ will run a fictional sample policy through the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Amon · 55 seconds</a:t>
            </a:r>
          </a:p>
          <a:p xmlns:a="http://schemas.openxmlformats.org/drawingml/2006/main">
            <a:r>
              <a:t/>
            </a:r>
          </a:p>
          <a:p xmlns:a="http://schemas.openxmlformats.org/drawingml/2006/main">
            <a:r>
              <a:t>“After the user selects Analyze, the interface sends the policy text to our local API, which splits it into clauses. Two separate paths run. First, the versioned rule engine matches configured language and records the source excerpt, explanation, and next step. It calculates a weighted score across data sharing at 25 percent, readability at 20, data collection at 20, legal language at 20, and user agency at 15. A category without enough evidence stays unassessed and appears in coverage. Readability is a separate text heuristic. Alongside that path, the learned classifier suggests privacy topics for individual clauses. Its tags return with the analysis but do not change the Trust Score. The API processes policy text in memory.”</a:t>
            </a:r>
          </a:p>
          <a:p xmlns:a="http://schemas.openxmlformats.org/drawingml/2006/main">
            <a:r>
              <a:t/>
            </a:r>
          </a:p>
          <a:p xmlns:a="http://schemas.openxmlformats.org/drawingml/2006/main">
            <a:r>
              <a:t>Sources: backend/compliance_engine/evaluator.py; backend/compliance_engine/scoring.py; backend/app.py; backend/ml/MODEL_CARD.md.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Amon · 65 seconds</a:t>
            </a:r>
          </a:p>
          <a:p xmlns:a="http://schemas.openxmlformats.org/drawingml/2006/main">
            <a:r>
              <a:t/>
            </a:r>
          </a:p>
          <a:p xmlns:a="http://schemas.openxmlformats.org/drawingml/2006/main">
            <a:r>
              <a:t>“The new clause tagger is a multi-label Multinomial Naive Bayes model. It uses consolidated OPP-115 annotations and 3,790 sanitized policy segments. We held out complete policies, rather than random clauses, so the 862 validation segments came from 23 policies the evaluator had not seen; 92 policies formed the training split. The tokenizer creates binary features for individual words and adjacent word pairs. For each clause, the classifier ranks topic labels and returns up to three that clear its 0.5 display threshold. On that holdout, micro F1 was 0.7119, macro F1 was 0.6150, and exact set match was 0.3805. Topic performance varies. After evaluation, the distributed version 1 artifact was fit on all 115 policies. This is a historical English-language baseline, not a guarantee for current policies.”</a:t>
            </a:r>
          </a:p>
          <a:p xmlns:a="http://schemas.openxmlformats.org/drawingml/2006/main">
            <a:r>
              <a:t/>
            </a:r>
          </a:p>
          <a:p xmlns:a="http://schemas.openxmlformats.org/drawingml/2006/main">
            <a:r>
              <a:t>Sources: backend/ml/MODEL_CARD.md; backend/ml/training_report_v1.json; backend/ml/train_privacy_classifier.py; backend/ml/privacy_classifier.py. Corpus reference: Wilson et al., “The Creation and Analysis of a Website Privacy Policy Corpus,” ACL 2016, https://aclanthology.org/P16-1126/.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Anthony · 25 seconds</a:t>
            </a:r>
          </a:p>
          <a:p xmlns:a="http://schemas.openxmlformats.org/drawingml/2006/main">
            <a:r>
              <a:t/>
            </a:r>
          </a:p>
          <a:p xmlns:a="http://schemas.openxmlformats.org/drawingml/2006/main">
            <a:r>
              <a:t>“These outputs answer different questions. The Trust Score summarizes rule signals for categories with enough evidence, and the coverage line shows what the supplied text did not support. A rule finding points to a phrase and gives a reason to review it. A model tag suggests a topic that may help us find a clause; its score is not a calibrated probability. Keep the original wording in view. The app is an educational aid, not a legal compliance determination. TJ will take us through the live example.”</a:t>
            </a:r>
          </a:p>
          <a:p xmlns:a="http://schemas.openxmlformats.org/drawingml/2006/main">
            <a:r>
              <a:t/>
            </a:r>
          </a:p>
          <a:p xmlns:a="http://schemas.openxmlformats.org/drawingml/2006/main">
            <a:r>
              <a:t>Sources: backend/ml/MODEL_CARD.md; backend/compliance_engine/evaluator.py; backend/compliance_engine/scoring.py.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TJ · 2 minutes 30 seconds</a:t>
            </a:r>
          </a:p>
          <a:p xmlns:a="http://schemas.openxmlformats.org/drawingml/2006/main">
            <a:r>
              <a:t/>
            </a:r>
          </a:p>
          <a:p xmlns:a="http://schemas.openxmlformats.org/drawingml/2006/main">
            <a:r>
              <a:t>[Take control of the browser. Keep the local app open before the presentation.]</a:t>
            </a:r>
          </a:p>
          <a:p xmlns:a="http://schemas.openxmlformats.org/drawingml/2006/main">
            <a:r>
              <a:t/>
            </a:r>
          </a:p>
          <a:p xmlns:a="http://schemas.openxmlformats.org/drawingml/2006/main">
            <a:r>
              <a:t>“Now I’ll run the sample policy through the app. This is a fictional policy written for the classroom demo, not a real company’s policy.”</a:t>
            </a:r>
          </a:p>
          <a:p xmlns:a="http://schemas.openxmlformats.org/drawingml/2006/main">
            <a:r>
              <a:t/>
            </a:r>
          </a:p>
          <a:p xmlns:a="http://schemas.openxmlformats.org/drawingml/2006/main">
            <a:r>
              <a:t>[Select Try sample policy. Briefly show the input, then select Analyze policy.]</a:t>
            </a:r>
          </a:p>
          <a:p xmlns:a="http://schemas.openxmlformats.org/drawingml/2006/main">
            <a:r>
              <a:t/>
            </a:r>
          </a:p>
          <a:p xmlns:a="http://schemas.openxmlformats.org/drawingml/2006/main">
            <a:r>
              <a:t>“The app sends this text to the local analysis API. I’ll start with the summary. The Trust Score combines documented rule signals; the category rows show which parts of the policy gave the analyzer enough evidence. A category marked Needs evidence has no score from this text.”</a:t>
            </a:r>
          </a:p>
          <a:p xmlns:a="http://schemas.openxmlformats.org/drawingml/2006/main">
            <a:r>
              <a:t/>
            </a:r>
          </a:p>
          <a:p xmlns:a="http://schemas.openxmlformats.org/drawingml/2006/main">
            <a:r>
              <a:t>[Point to one or two rule findings and their source wording.]</a:t>
            </a:r>
          </a:p>
          <a:p xmlns:a="http://schemas.openxmlformats.org/drawingml/2006/main">
            <a:r>
              <a:t/>
            </a:r>
          </a:p>
          <a:p xmlns:a="http://schemas.openxmlformats.org/drawingml/2006/main">
            <a:r>
              <a:t>“Here the rule engine has highlighted language about sharing with advertising partners and open-ended retention. We can compare each finding with the sentence that triggered it, then check the next-step note against the full policy.”</a:t>
            </a:r>
          </a:p>
          <a:p xmlns:a="http://schemas.openxmlformats.org/drawingml/2006/main">
            <a:r>
              <a:t/>
            </a:r>
          </a:p>
          <a:p xmlns:a="http://schemas.openxmlformats.org/drawingml/2006/main">
            <a:r>
              <a:t>[Point to an AI clause tag if one appears, and read its excerpt.]</a:t>
            </a:r>
          </a:p>
          <a:p xmlns:a="http://schemas.openxmlformats.org/drawingml/2006/main">
            <a:r>
              <a:t/>
            </a:r>
          </a:p>
          <a:p xmlns:a="http://schemas.openxmlformats.org/drawingml/2006/main">
            <a:r>
              <a:t>“The tagger adds a topic suggestion for this clause. It is separate from the scoring rules, and its score is a model estimate. I’m checking the original sentence before drawing a conclusion. The sample also describes access and deletion requests and an advertising opt-out, so the findings need to be read in the context of the whole policy.”</a:t>
            </a:r>
          </a:p>
          <a:p xmlns:a="http://schemas.openxmlformats.org/drawingml/2006/main">
            <a:r>
              <a:t/>
            </a:r>
          </a:p>
          <a:p xmlns:a="http://schemas.openxmlformats.org/drawingml/2006/main">
            <a:r>
              <a:t>“Those signals help me decide where to read more closely. They don’t tell me whether the policy complies with a law.”</a:t>
            </a:r>
          </a:p>
          <a:p xmlns:a="http://schemas.openxmlformats.org/drawingml/2006/main">
            <a:r>
              <a:t/>
            </a:r>
          </a:p>
          <a:p xmlns:a="http://schemas.openxmlformats.org/drawingml/2006/main">
            <a:r>
              <a:t>[Keep all browser actions with TJ; hand back to Anthony for the close.]</a:t>
            </a:r>
          </a:p>
          <a:p xmlns:a="http://schemas.openxmlformats.org/drawingml/2006/main">
            <a:r>
              <a:t/>
            </a:r>
          </a:p>
          <a:p xmlns:a="http://schemas.openxmlformats.org/drawingml/2006/main">
            <a:r>
              <a:t>Sources: demo/DEMO_SCRIPT.md; public/sample_privacy_policy.txt; src/main.jsx; backend/ml/MODEL_CARD.md.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Anthony · 20 seconds</a:t>
            </a:r>
          </a:p>
          <a:p xmlns:a="http://schemas.openxmlformats.org/drawingml/2006/main">
            <a:r>
              <a:t/>
            </a:r>
          </a:p>
          <a:p xmlns:a="http://schemas.openxmlformats.org/drawingml/2006/main">
            <a:r>
              <a:t>“That’s the workflow: the rule engine points to configured language, and the trained model suggests clause topics. Both help us return to the original policy with better questions. The prototype provides educational signals; it does not establish legal compliance. Thanks.”</a:t>
            </a:r>
          </a:p>
          <a:p xmlns:a="http://schemas.openxmlformats.org/drawingml/2006/main">
            <a:r>
              <a:t/>
            </a:r>
          </a:p>
          <a:p xmlns:a="http://schemas.openxmlformats.org/drawingml/2006/main">
            <a:r>
              <a:t>Sources: backend/ml/MODEL_CARD.md;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f4af62db204c4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d3961fd03ce4a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d09926f9d25411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1d0390b9808469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ad2f54f737f428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355a1703f9248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3A4A2A-829E-4298-A9F6-970F3CE1738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48FB828-64A9-4465-B440-BD518052570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7FFCC47-54D2-47CB-B008-F9A73C96E7D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CE375C-5889-4F6C-A07C-948CE5C374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6EB4C1A-454B-42D4-89EC-2D9B78DDEB7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95CF87C-A202-48CD-A1A0-8B340DA8D3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0805DA0-DE0D-461D-97A1-D80D36CBC0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2A69555-4F25-4536-8C46-BBA65DEF458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690CD4-EAAE-47D4-983E-85F54D11F4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0CECCC-3646-4F4E-8F73-2BCCAF9A341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deafceb2754f66" /><Relationship Type="http://schemas.openxmlformats.org/officeDocument/2006/relationships/slideLayout" Target="/ppt/slideLayouts/slideLayout1.xml" Id="R19824c06bd944d03" /><Relationship Type="http://schemas.openxmlformats.org/officeDocument/2006/relationships/slideLayout" Target="/ppt/slideLayouts/slideLayout2.xml" Id="R8f84daf0b5a84780" /><Relationship Type="http://schemas.openxmlformats.org/officeDocument/2006/relationships/slideLayout" Target="/ppt/slideLayouts/slideLayout3.xml" Id="R1e0f236f8cb744c7" /><Relationship Type="http://schemas.openxmlformats.org/officeDocument/2006/relationships/slideLayout" Target="/ppt/slideLayouts/slideLayout4.xml" Id="R13d134e64c744586" /><Relationship Type="http://schemas.openxmlformats.org/officeDocument/2006/relationships/slideLayout" Target="/ppt/slideLayouts/slideLayout5.xml" Id="R794b4c732d8a4e27" /><Relationship Type="http://schemas.openxmlformats.org/officeDocument/2006/relationships/slideLayout" Target="/ppt/slideLayouts/slideLayout6.xml" Id="R637250bedb0043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824c06bd944d03"/>
    <p:sldLayoutId xmlns:r="http://schemas.openxmlformats.org/officeDocument/2006/relationships" id="2147483650" r:id="R8f84daf0b5a84780"/>
    <p:sldLayoutId xmlns:r="http://schemas.openxmlformats.org/officeDocument/2006/relationships" id="2147483651" r:id="R1e0f236f8cb744c7"/>
    <p:sldLayoutId xmlns:r="http://schemas.openxmlformats.org/officeDocument/2006/relationships" id="2147483652" r:id="R13d134e64c744586"/>
    <p:sldLayoutId xmlns:r="http://schemas.openxmlformats.org/officeDocument/2006/relationships" id="2147483653" r:id="R794b4c732d8a4e27"/>
    <p:sldLayoutId xmlns:r="http://schemas.openxmlformats.org/officeDocument/2006/relationships" id="2147483654" r:id="R637250bedb0043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2a48dd868294a77" /><Relationship Type="http://schemas.openxmlformats.org/officeDocument/2006/relationships/notesSlide" Target="/ppt/notesSlides/notesSlide1.xml" Id="R4d81ebf2af044e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9dcddc14d3144ba" /><Relationship Type="http://schemas.openxmlformats.org/officeDocument/2006/relationships/notesSlide" Target="/ppt/notesSlides/notesSlide2.xml" Id="Rd78c7887335f4e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99689c432fc4c0d" /><Relationship Type="http://schemas.openxmlformats.org/officeDocument/2006/relationships/notesSlide" Target="/ppt/notesSlides/notesSlide3.xml" Id="R46bee9b7320c4f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04faf84f0194e2d" /><Relationship Type="http://schemas.openxmlformats.org/officeDocument/2006/relationships/notesSlide" Target="/ppt/notesSlides/notesSlide4.xml" Id="R7d53227ba7a347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c5991dc2f4547f1" /><Relationship Type="http://schemas.openxmlformats.org/officeDocument/2006/relationships/notesSlide" Target="/ppt/notesSlides/notesSlide5.xml" Id="Rd0918729e1e541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9357615ce024157" /><Relationship Type="http://schemas.openxmlformats.org/officeDocument/2006/relationships/notesSlide" Target="/ppt/notesSlides/notesSlide6.xml" Id="Rbb65015adf464e67" /></Relationships>
</file>

<file path=ppt/slides/slide1.xml><?xml version="1.0" encoding="utf-8"?>
<p:sld xmlns:p="http://schemas.openxmlformats.org/presentationml/2006/main">
  <p:cSld>
    <p:bg>
      <p:bgPr>
        <a:solidFill xmlns:a="http://schemas.openxmlformats.org/drawingml/2006/main">
          <a:srgbClr val="20262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19D555-41EC-43B2-B61B-6B82FEA84B5F}"/>
              </a:ext>
            </a:extLst>
          </p:cNvPr>
          <p:cNvSpPr>
            <a:spLocks xmlns:a="http://schemas.openxmlformats.org/drawingml/2006/main" noGrp="1"/>
          </p:cNvSpPr>
          <p:nvPr/>
        </p:nvSpPr>
        <p:spPr>
          <a:xfrm xmlns:a="http://schemas.openxmlformats.org/drawingml/2006/main">
            <a:off x="800100" y="876300"/>
            <a:ext cx="66675" cy="1238250"/>
          </a:xfrm>
          <a:prstGeom xmlns:a="http://schemas.openxmlformats.org/drawingml/2006/main" prst="rect">
            <a:avLst/>
          </a:prstGeom>
          <a:solidFill xmlns:a="http://schemas.openxmlformats.org/drawingml/2006/main">
            <a:srgbClr val="E2B34B"/>
          </a:solidFill>
          <a:ln xmlns:a="http://schemas.openxmlformats.org/drawingml/2006/main" w="0">
            <a:solidFill>
              <a:srgbClr val="E2B34B"/>
            </a:solidFill>
            <a:prstDash val="solid"/>
          </a:ln>
        </p:spPr>
      </p:sp>
      <p:sp>
        <p:nvSpPr>
          <p:cNvPr id="2" name="">
            <a:extLst xmlns:a="http://schemas.openxmlformats.org/drawingml/2006/main">
              <a:ext uri="{FF2B5EF4-FFF2-40B4-BE49-F238E27FC236}">
                <a16:creationId xmlns:a16="http://schemas.microsoft.com/office/drawing/2014/main" id="{DD02D015-D012-430F-A51A-D5DD1C9A653F}"/>
              </a:ext>
            </a:extLst>
          </p:cNvPr>
          <p:cNvSpPr>
            <a:spLocks xmlns:a="http://schemas.openxmlformats.org/drawingml/2006/main" noGrp="1"/>
          </p:cNvSpPr>
          <p:nvPr/>
        </p:nvSpPr>
        <p:spPr>
          <a:xfrm xmlns:a="http://schemas.openxmlformats.org/drawingml/2006/main">
            <a:off x="1123950" y="8953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1" i="0">
                <a:solidFill>
                  <a:srgbClr val="DCEBE4"/>
                </a:solidFill>
                <a:latin typeface="Arial"/>
                <a:ea typeface="Arial"/>
                <a:cs typeface="Arial"/>
              </a:defRPr>
            </a:defPPr>
          </a:lstStyle>
          <a:p xmlns:a="http://schemas.openxmlformats.org/drawingml/2006/main">
            <a:pPr algn="l">
              <a:defRPr sz="1275" b="1" i="0">
                <a:solidFill>
                  <a:srgbClr val="DCEBE4"/>
                </a:solidFill>
                <a:latin typeface="Arial"/>
                <a:ea typeface="Arial"/>
                <a:cs typeface="Arial"/>
              </a:defRPr>
            </a:pPr>
            <a:r>
              <a:rPr sz="1275" b="1" i="0">
                <a:solidFill>
                  <a:srgbClr val="DCEBE4"/>
                </a:solidFill>
                <a:latin typeface="Arial"/>
                <a:ea typeface="Arial"/>
                <a:cs typeface="Arial"/>
              </a:rPr>
              <a:t>CLEARPOLICY</a:t>
            </a:r>
          </a:p>
        </p:txBody>
      </p:sp>
      <p:sp>
        <p:nvSpPr>
          <p:cNvPr id="3" name="">
            <a:extLst xmlns:a="http://schemas.openxmlformats.org/drawingml/2006/main">
              <a:ext uri="{FF2B5EF4-FFF2-40B4-BE49-F238E27FC236}">
                <a16:creationId xmlns:a16="http://schemas.microsoft.com/office/drawing/2014/main" id="{F45E6A58-28F4-4E74-97DB-6522DDFD3BB9}"/>
              </a:ext>
            </a:extLst>
          </p:cNvPr>
          <p:cNvSpPr>
            <a:spLocks xmlns:a="http://schemas.openxmlformats.org/drawingml/2006/main" noGrp="1"/>
          </p:cNvSpPr>
          <p:nvPr/>
        </p:nvSpPr>
        <p:spPr>
          <a:xfrm xmlns:a="http://schemas.openxmlformats.org/drawingml/2006/main">
            <a:off x="1123950" y="1504950"/>
            <a:ext cx="8096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5025" b="1" i="0">
                <a:solidFill>
                  <a:srgbClr val="FFFFFF"/>
                </a:solidFill>
                <a:latin typeface="Arial"/>
                <a:ea typeface="Arial"/>
                <a:cs typeface="Arial"/>
              </a:defRPr>
            </a:defPPr>
          </a:lstStyle>
          <a:p xmlns:a="http://schemas.openxmlformats.org/drawingml/2006/main">
            <a:pPr algn="l">
              <a:defRPr sz="5025" b="1" i="0">
                <a:solidFill>
                  <a:srgbClr val="FFFFFF"/>
                </a:solidFill>
                <a:latin typeface="Arial"/>
                <a:ea typeface="Arial"/>
                <a:cs typeface="Arial"/>
              </a:defRPr>
            </a:pPr>
            <a:r>
              <a:rPr sz="5025" b="1" i="0">
                <a:solidFill>
                  <a:srgbClr val="FFFFFF"/>
                </a:solidFill>
                <a:latin typeface="Arial"/>
                <a:ea typeface="Arial"/>
                <a:cs typeface="Arial"/>
              </a:rPr>
              <a:t>Privacy Policy</a:t>
            </a:r>
          </a:p>
          <a:p xmlns:a="http://schemas.openxmlformats.org/drawingml/2006/main">
            <a:pPr algn="l">
              <a:defRPr sz="5025" b="1" i="0">
                <a:solidFill>
                  <a:srgbClr val="FFFFFF"/>
                </a:solidFill>
                <a:latin typeface="Arial"/>
                <a:ea typeface="Arial"/>
                <a:cs typeface="Arial"/>
              </a:defRPr>
            </a:pPr>
            <a:r>
              <a:rPr sz="5025" b="1" i="0">
                <a:solidFill>
                  <a:srgbClr val="FFFFFF"/>
                </a:solidFill>
                <a:latin typeface="Arial"/>
                <a:ea typeface="Arial"/>
                <a:cs typeface="Arial"/>
              </a:rPr>
              <a:t>Analyzer</a:t>
            </a:r>
          </a:p>
        </p:txBody>
      </p:sp>
      <p:sp>
        <p:nvSpPr>
          <p:cNvPr id="4" name="">
            <a:extLst xmlns:a="http://schemas.openxmlformats.org/drawingml/2006/main">
              <a:ext uri="{FF2B5EF4-FFF2-40B4-BE49-F238E27FC236}">
                <a16:creationId xmlns:a16="http://schemas.microsoft.com/office/drawing/2014/main" id="{A2E2DAD9-89B4-40C2-A6F3-35375ECB3B5D}"/>
              </a:ext>
            </a:extLst>
          </p:cNvPr>
          <p:cNvSpPr>
            <a:spLocks xmlns:a="http://schemas.openxmlformats.org/drawingml/2006/main" noGrp="1"/>
          </p:cNvSpPr>
          <p:nvPr/>
        </p:nvSpPr>
        <p:spPr>
          <a:xfrm xmlns:a="http://schemas.openxmlformats.org/drawingml/2006/main">
            <a:off x="1143000" y="3381375"/>
            <a:ext cx="876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025" b="0" i="0">
                <a:solidFill>
                  <a:srgbClr val="DCEBE4"/>
                </a:solidFill>
                <a:latin typeface="Arial"/>
                <a:ea typeface="Arial"/>
                <a:cs typeface="Arial"/>
              </a:defRPr>
            </a:defPPr>
          </a:lstStyle>
          <a:p xmlns:a="http://schemas.openxmlformats.org/drawingml/2006/main">
            <a:pPr algn="l">
              <a:defRPr sz="2025" b="0" i="0">
                <a:solidFill>
                  <a:srgbClr val="DCEBE4"/>
                </a:solidFill>
                <a:latin typeface="Arial"/>
                <a:ea typeface="Arial"/>
                <a:cs typeface="Arial"/>
              </a:defRPr>
            </a:pPr>
            <a:r>
              <a:rPr sz="2025" b="0" i="0">
                <a:solidFill>
                  <a:srgbClr val="DCEBE4"/>
                </a:solidFill>
                <a:latin typeface="Arial"/>
                <a:ea typeface="Arial"/>
                <a:cs typeface="Arial"/>
              </a:rPr>
              <a:t>A live demo of the updated analysis model</a:t>
            </a:r>
          </a:p>
        </p:txBody>
      </p:sp>
      <p:sp>
        <p:nvSpPr>
          <p:cNvPr id="5" name="">
            <a:extLst xmlns:a="http://schemas.openxmlformats.org/drawingml/2006/main">
              <a:ext uri="{FF2B5EF4-FFF2-40B4-BE49-F238E27FC236}">
                <a16:creationId xmlns:a16="http://schemas.microsoft.com/office/drawing/2014/main" id="{8EB5774D-7EFD-4AC1-88A7-67975E70D412}"/>
              </a:ext>
            </a:extLst>
          </p:cNvPr>
          <p:cNvSpPr>
            <a:spLocks xmlns:a="http://schemas.openxmlformats.org/drawingml/2006/main" noGrp="1"/>
          </p:cNvSpPr>
          <p:nvPr/>
        </p:nvSpPr>
        <p:spPr>
          <a:xfrm xmlns:a="http://schemas.openxmlformats.org/drawingml/2006/main">
            <a:off x="1143000" y="5429250"/>
            <a:ext cx="647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650" b="0" i="0">
                <a:solidFill>
                  <a:srgbClr val="FFFFFF"/>
                </a:solidFill>
                <a:latin typeface="Arial"/>
                <a:ea typeface="Arial"/>
                <a:cs typeface="Arial"/>
              </a:defRPr>
            </a:defPPr>
          </a:lstStyle>
          <a:p xmlns:a="http://schemas.openxmlformats.org/drawingml/2006/main">
            <a:pPr algn="l">
              <a:defRPr sz="1650" b="0" i="0">
                <a:solidFill>
                  <a:srgbClr val="FFFFFF"/>
                </a:solidFill>
                <a:latin typeface="Arial"/>
                <a:ea typeface="Arial"/>
                <a:cs typeface="Arial"/>
              </a:defRPr>
            </a:pPr>
            <a:r>
              <a:rPr sz="1650" b="0" i="0">
                <a:solidFill>
                  <a:srgbClr val="FFFFFF"/>
                </a:solidFill>
                <a:latin typeface="Arial"/>
                <a:ea typeface="Arial"/>
                <a:cs typeface="Arial"/>
              </a:rPr>
              <a:t>Anthony  ·  Amon  ·  TJ</a:t>
            </a:r>
          </a:p>
        </p:txBody>
      </p:sp>
      <p:sp>
        <p:nvSpPr>
          <p:cNvPr id="6" name="">
            <a:extLst xmlns:a="http://schemas.openxmlformats.org/drawingml/2006/main">
              <a:ext uri="{FF2B5EF4-FFF2-40B4-BE49-F238E27FC236}">
                <a16:creationId xmlns:a16="http://schemas.microsoft.com/office/drawing/2014/main" id="{0BD948B4-6094-45F5-B98F-402D48210F3C}"/>
              </a:ext>
            </a:extLst>
          </p:cNvPr>
          <p:cNvSpPr>
            <a:spLocks xmlns:a="http://schemas.openxmlformats.org/drawingml/2006/main" noGrp="1"/>
          </p:cNvSpPr>
          <p:nvPr/>
        </p:nvSpPr>
        <p:spPr>
          <a:xfrm xmlns:a="http://schemas.openxmlformats.org/drawingml/2006/main">
            <a:off x="1143000" y="591502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00" b="1" i="0">
                <a:solidFill>
                  <a:srgbClr val="BAC5C1"/>
                </a:solidFill>
                <a:latin typeface="Arial"/>
                <a:ea typeface="Arial"/>
                <a:cs typeface="Arial"/>
              </a:defRPr>
            </a:defPPr>
          </a:lstStyle>
          <a:p xmlns:a="http://schemas.openxmlformats.org/drawingml/2006/main">
            <a:pPr algn="l">
              <a:defRPr sz="1200" b="1" i="0">
                <a:solidFill>
                  <a:srgbClr val="BAC5C1"/>
                </a:solidFill>
                <a:latin typeface="Arial"/>
                <a:ea typeface="Arial"/>
                <a:cs typeface="Arial"/>
              </a:defRPr>
            </a:pPr>
            <a:r>
              <a:rPr sz="1200" b="1" i="0">
                <a:solidFill>
                  <a:srgbClr val="BAC5C1"/>
                </a:solidFill>
                <a:latin typeface="Arial"/>
                <a:ea typeface="Arial"/>
                <a:cs typeface="Arial"/>
              </a:rPr>
              <a:t>COMP 496</a:t>
            </a:r>
          </a:p>
        </p:txBody>
      </p:sp>
    </p:spTree>
    <p:extLst>
      <p:ext uri="{BB962C8B-B14F-4D97-AF65-F5344CB8AC3E}">
        <p14:creationId xmlns:p14="http://schemas.microsoft.com/office/powerpoint/2010/main" val="1322754141"/>
      </p:ext>
    </p:extLst>
  </p:cSld>
</p:sld>
</file>

<file path=ppt/slides/slide2.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31F4514-6C1F-4912-BBC2-718EAB919E7F}"/>
              </a:ext>
            </a:extLst>
          </p:cNvPr>
          <p:cNvSpPr>
            <a:spLocks xmlns:a="http://schemas.openxmlformats.org/drawingml/2006/main" noGrp="1"/>
          </p:cNvSpPr>
          <p:nvPr/>
        </p:nvSpPr>
        <p:spPr>
          <a:xfrm xmlns:a="http://schemas.openxmlformats.org/drawingml/2006/main">
            <a:off x="800100" y="45720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00" b="1" i="0">
                <a:solidFill>
                  <a:srgbClr val="1B6B57"/>
                </a:solidFill>
                <a:latin typeface="Arial"/>
                <a:ea typeface="Arial"/>
                <a:cs typeface="Arial"/>
              </a:defRPr>
            </a:defPPr>
          </a:lstStyle>
          <a:p xmlns:a="http://schemas.openxmlformats.org/drawingml/2006/main">
            <a:pPr algn="l">
              <a:defRPr sz="1200" b="1" i="0">
                <a:solidFill>
                  <a:srgbClr val="1B6B57"/>
                </a:solidFill>
                <a:latin typeface="Arial"/>
                <a:ea typeface="Arial"/>
                <a:cs typeface="Arial"/>
              </a:defRPr>
            </a:pPr>
            <a:r>
              <a:rPr sz="1200" b="1" i="0">
                <a:solidFill>
                  <a:srgbClr val="1B6B57"/>
                </a:solidFill>
                <a:latin typeface="Arial"/>
                <a:ea typeface="Arial"/>
                <a:cs typeface="Arial"/>
              </a:rPr>
              <a:t>SYSTEM STRUCTURE</a:t>
            </a:r>
          </a:p>
        </p:txBody>
      </p:sp>
      <p:sp>
        <p:nvSpPr>
          <p:cNvPr id="2" name="">
            <a:extLst xmlns:a="http://schemas.openxmlformats.org/drawingml/2006/main">
              <a:ext uri="{FF2B5EF4-FFF2-40B4-BE49-F238E27FC236}">
                <a16:creationId xmlns:a16="http://schemas.microsoft.com/office/drawing/2014/main" id="{780F6F37-124F-43F4-A1D9-D12AE80D95C6}"/>
              </a:ext>
            </a:extLst>
          </p:cNvPr>
          <p:cNvSpPr>
            <a:spLocks xmlns:a="http://schemas.openxmlformats.org/drawingml/2006/main" noGrp="1"/>
          </p:cNvSpPr>
          <p:nvPr/>
        </p:nvSpPr>
        <p:spPr>
          <a:xfrm xmlns:a="http://schemas.openxmlformats.org/drawingml/2006/main">
            <a:off x="800100" y="79057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3375" b="1" i="0">
                <a:solidFill>
                  <a:srgbClr val="20262E"/>
                </a:solidFill>
                <a:latin typeface="Arial"/>
                <a:ea typeface="Arial"/>
                <a:cs typeface="Arial"/>
              </a:defRPr>
            </a:defPPr>
          </a:lstStyle>
          <a:p xmlns:a="http://schemas.openxmlformats.org/drawingml/2006/main">
            <a:pPr algn="l">
              <a:defRPr sz="3375" b="1" i="0">
                <a:solidFill>
                  <a:srgbClr val="20262E"/>
                </a:solidFill>
                <a:latin typeface="Arial"/>
                <a:ea typeface="Arial"/>
                <a:cs typeface="Arial"/>
              </a:defRPr>
            </a:pPr>
            <a:r>
              <a:rPr sz="3375" b="1" i="0">
                <a:solidFill>
                  <a:srgbClr val="20262E"/>
                </a:solidFill>
                <a:latin typeface="Arial"/>
                <a:ea typeface="Arial"/>
                <a:cs typeface="Arial"/>
              </a:rPr>
              <a:t>One request follows two analysis paths.</a:t>
            </a:r>
          </a:p>
        </p:txBody>
      </p:sp>
      <p:sp>
        <p:nvSpPr>
          <p:cNvPr id="3" name="">
            <a:extLst xmlns:a="http://schemas.openxmlformats.org/drawingml/2006/main">
              <a:ext uri="{FF2B5EF4-FFF2-40B4-BE49-F238E27FC236}">
                <a16:creationId xmlns:a16="http://schemas.microsoft.com/office/drawing/2014/main" id="{B5C945E5-CA62-4E25-8D12-7885C3B179D7}"/>
              </a:ext>
            </a:extLst>
          </p:cNvPr>
          <p:cNvSpPr>
            <a:spLocks xmlns:a="http://schemas.openxmlformats.org/drawingml/2006/main" noGrp="1"/>
          </p:cNvSpPr>
          <p:nvPr/>
        </p:nvSpPr>
        <p:spPr>
          <a:xfrm xmlns:a="http://schemas.openxmlformats.org/drawingml/2006/main">
            <a:off x="800100" y="17145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350" b="1" i="0">
                <a:solidFill>
                  <a:srgbClr val="59636B"/>
                </a:solidFill>
                <a:latin typeface="Arial"/>
                <a:ea typeface="Arial"/>
                <a:cs typeface="Arial"/>
              </a:defRPr>
            </a:defPPr>
          </a:lstStyle>
          <a:p xmlns:a="http://schemas.openxmlformats.org/drawingml/2006/main">
            <a:pPr algn="l">
              <a:defRPr sz="1350" b="1" i="0">
                <a:solidFill>
                  <a:srgbClr val="59636B"/>
                </a:solidFill>
                <a:latin typeface="Arial"/>
                <a:ea typeface="Arial"/>
                <a:cs typeface="Arial"/>
              </a:defRPr>
            </a:pPr>
            <a:r>
              <a:rPr sz="1350" b="1" i="0">
                <a:solidFill>
                  <a:srgbClr val="59636B"/>
                </a:solidFill>
                <a:latin typeface="Arial"/>
                <a:ea typeface="Arial"/>
                <a:cs typeface="Arial"/>
              </a:rPr>
              <a:t>POLICY TEXT IS SPLIT INTO CLAUSES</a:t>
            </a:r>
          </a:p>
        </p:txBody>
      </p:sp>
      <p:sp>
        <p:nvSpPr>
          <p:cNvPr id="4" name="">
            <a:extLst xmlns:a="http://schemas.openxmlformats.org/drawingml/2006/main">
              <a:ext uri="{FF2B5EF4-FFF2-40B4-BE49-F238E27FC236}">
                <a16:creationId xmlns:a16="http://schemas.microsoft.com/office/drawing/2014/main" id="{47D94D9A-539E-49AD-B3AF-17EBA52041C2}"/>
              </a:ext>
            </a:extLst>
          </p:cNvPr>
          <p:cNvSpPr>
            <a:spLocks xmlns:a="http://schemas.openxmlformats.org/drawingml/2006/main" noGrp="1"/>
          </p:cNvSpPr>
          <p:nvPr/>
        </p:nvSpPr>
        <p:spPr>
          <a:xfrm xmlns:a="http://schemas.openxmlformats.org/drawingml/2006/main">
            <a:off x="800100" y="2124075"/>
            <a:ext cx="10591800" cy="19050"/>
          </a:xfrm>
          <a:prstGeom xmlns:a="http://schemas.openxmlformats.org/drawingml/2006/main" prst="rect">
            <a:avLst/>
          </a:prstGeom>
          <a:solidFill xmlns:a="http://schemas.openxmlformats.org/drawingml/2006/main">
            <a:srgbClr val="C8D0CC"/>
          </a:solidFill>
          <a:ln xmlns:a="http://schemas.openxmlformats.org/drawingml/2006/main" w="0">
            <a:solidFill>
              <a:srgbClr val="C8D0CC"/>
            </a:solidFill>
            <a:prstDash val="solid"/>
          </a:ln>
        </p:spPr>
      </p:sp>
      <p:sp>
        <p:nvSpPr>
          <p:cNvPr id="5" name="">
            <a:extLst xmlns:a="http://schemas.openxmlformats.org/drawingml/2006/main">
              <a:ext uri="{FF2B5EF4-FFF2-40B4-BE49-F238E27FC236}">
                <a16:creationId xmlns:a16="http://schemas.microsoft.com/office/drawing/2014/main" id="{47CF8ECA-D78D-4939-BE02-D8EB3F649371}"/>
              </a:ext>
            </a:extLst>
          </p:cNvPr>
          <p:cNvSpPr>
            <a:spLocks xmlns:a="http://schemas.openxmlformats.org/drawingml/2006/main" noGrp="1"/>
          </p:cNvSpPr>
          <p:nvPr/>
        </p:nvSpPr>
        <p:spPr>
          <a:xfrm xmlns:a="http://schemas.openxmlformats.org/drawingml/2006/main">
            <a:off x="800100" y="24574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1" i="0">
                <a:solidFill>
                  <a:srgbClr val="1B6B57"/>
                </a:solidFill>
                <a:latin typeface="Arial"/>
                <a:ea typeface="Arial"/>
                <a:cs typeface="Arial"/>
              </a:defRPr>
            </a:defPPr>
          </a:lstStyle>
          <a:p xmlns:a="http://schemas.openxmlformats.org/drawingml/2006/main">
            <a:pPr algn="l">
              <a:defRPr sz="1275" b="1" i="0">
                <a:solidFill>
                  <a:srgbClr val="1B6B57"/>
                </a:solidFill>
                <a:latin typeface="Arial"/>
                <a:ea typeface="Arial"/>
                <a:cs typeface="Arial"/>
              </a:defRPr>
            </a:pPr>
            <a:r>
              <a:rPr sz="1275" b="1" i="0">
                <a:solidFill>
                  <a:srgbClr val="1B6B57"/>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36B7D9CD-AECB-4C22-A583-8652C856A4DC}"/>
              </a:ext>
            </a:extLst>
          </p:cNvPr>
          <p:cNvSpPr>
            <a:spLocks xmlns:a="http://schemas.openxmlformats.org/drawingml/2006/main" noGrp="1"/>
          </p:cNvSpPr>
          <p:nvPr/>
        </p:nvSpPr>
        <p:spPr>
          <a:xfrm xmlns:a="http://schemas.openxmlformats.org/drawingml/2006/main">
            <a:off x="1352550" y="239077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100" b="1" i="0">
                <a:solidFill>
                  <a:srgbClr val="20262E"/>
                </a:solidFill>
                <a:latin typeface="Arial"/>
                <a:ea typeface="Arial"/>
                <a:cs typeface="Arial"/>
              </a:defRPr>
            </a:defPPr>
          </a:lstStyle>
          <a:p xmlns:a="http://schemas.openxmlformats.org/drawingml/2006/main">
            <a:pPr algn="l">
              <a:defRPr sz="2100" b="1" i="0">
                <a:solidFill>
                  <a:srgbClr val="20262E"/>
                </a:solidFill>
                <a:latin typeface="Arial"/>
                <a:ea typeface="Arial"/>
                <a:cs typeface="Arial"/>
              </a:defRPr>
            </a:pPr>
            <a:r>
              <a:rPr sz="2100" b="1" i="0">
                <a:solidFill>
                  <a:srgbClr val="20262E"/>
                </a:solidFill>
                <a:latin typeface="Arial"/>
                <a:ea typeface="Arial"/>
                <a:cs typeface="Arial"/>
              </a:rPr>
              <a:t>RULE ENGINE</a:t>
            </a:r>
          </a:p>
        </p:txBody>
      </p:sp>
      <p:sp>
        <p:nvSpPr>
          <p:cNvPr id="7" name="">
            <a:extLst xmlns:a="http://schemas.openxmlformats.org/drawingml/2006/main">
              <a:ext uri="{FF2B5EF4-FFF2-40B4-BE49-F238E27FC236}">
                <a16:creationId xmlns:a16="http://schemas.microsoft.com/office/drawing/2014/main" id="{00A9AF2D-7908-4A29-AC3E-DFC096A51C70}"/>
              </a:ext>
            </a:extLst>
          </p:cNvPr>
          <p:cNvSpPr>
            <a:spLocks xmlns:a="http://schemas.openxmlformats.org/drawingml/2006/main" noGrp="1"/>
          </p:cNvSpPr>
          <p:nvPr/>
        </p:nvSpPr>
        <p:spPr>
          <a:xfrm xmlns:a="http://schemas.openxmlformats.org/drawingml/2006/main">
            <a:off x="800100" y="2952750"/>
            <a:ext cx="4667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650" b="0" i="0">
                <a:solidFill>
                  <a:srgbClr val="59636B"/>
                </a:solidFill>
                <a:latin typeface="Arial"/>
                <a:ea typeface="Arial"/>
                <a:cs typeface="Arial"/>
              </a:defRPr>
            </a:defPPr>
          </a:lstStyle>
          <a:p xmlns:a="http://schemas.openxmlformats.org/drawingml/2006/main">
            <a:pPr algn="l">
              <a:defRPr sz="1650" b="0" i="0">
                <a:solidFill>
                  <a:srgbClr val="59636B"/>
                </a:solidFill>
                <a:latin typeface="Arial"/>
                <a:ea typeface="Arial"/>
                <a:cs typeface="Arial"/>
              </a:defRPr>
            </a:pPr>
            <a:r>
              <a:rPr sz="1650" b="0" i="0">
                <a:solidFill>
                  <a:srgbClr val="59636B"/>
                </a:solidFill>
                <a:latin typeface="Arial"/>
                <a:ea typeface="Arial"/>
                <a:cs typeface="Arial"/>
              </a:rPr>
              <a:t>Versioned phrase rules match policy wording and attach excerpts, explanations, and next steps.</a:t>
            </a:r>
          </a:p>
        </p:txBody>
      </p:sp>
      <p:sp>
        <p:nvSpPr>
          <p:cNvPr id="8" name="">
            <a:extLst xmlns:a="http://schemas.openxmlformats.org/drawingml/2006/main">
              <a:ext uri="{FF2B5EF4-FFF2-40B4-BE49-F238E27FC236}">
                <a16:creationId xmlns:a16="http://schemas.microsoft.com/office/drawing/2014/main" id="{29D38981-2B3D-496E-9634-DD227A30BCBE}"/>
              </a:ext>
            </a:extLst>
          </p:cNvPr>
          <p:cNvSpPr>
            <a:spLocks xmlns:a="http://schemas.openxmlformats.org/drawingml/2006/main" noGrp="1"/>
          </p:cNvSpPr>
          <p:nvPr/>
        </p:nvSpPr>
        <p:spPr>
          <a:xfrm xmlns:a="http://schemas.openxmlformats.org/drawingml/2006/main">
            <a:off x="800100" y="4019550"/>
            <a:ext cx="4667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650" b="0" i="0">
                <a:solidFill>
                  <a:srgbClr val="59636B"/>
                </a:solidFill>
                <a:latin typeface="Arial"/>
                <a:ea typeface="Arial"/>
                <a:cs typeface="Arial"/>
              </a:defRPr>
            </a:defPPr>
          </a:lstStyle>
          <a:p xmlns:a="http://schemas.openxmlformats.org/drawingml/2006/main">
            <a:pPr algn="l">
              <a:defRPr sz="1650" b="0" i="0">
                <a:solidFill>
                  <a:srgbClr val="59636B"/>
                </a:solidFill>
                <a:latin typeface="Arial"/>
                <a:ea typeface="Arial"/>
                <a:cs typeface="Arial"/>
              </a:defRPr>
            </a:pPr>
            <a:r>
              <a:rPr sz="1650" b="0" i="0">
                <a:solidFill>
                  <a:srgbClr val="59636B"/>
                </a:solidFill>
                <a:latin typeface="Arial"/>
                <a:ea typeface="Arial"/>
                <a:cs typeface="Arial"/>
              </a:rPr>
              <a:t>Weighted categories produce the Trust Score. Missing evidence remains visible in coverage.</a:t>
            </a:r>
          </a:p>
        </p:txBody>
      </p:sp>
      <p:sp>
        <p:nvSpPr>
          <p:cNvPr id="9" name="">
            <a:extLst xmlns:a="http://schemas.openxmlformats.org/drawingml/2006/main">
              <a:ext uri="{FF2B5EF4-FFF2-40B4-BE49-F238E27FC236}">
                <a16:creationId xmlns:a16="http://schemas.microsoft.com/office/drawing/2014/main" id="{055A070B-835E-4ED7-A1DA-804F52188E22}"/>
              </a:ext>
            </a:extLst>
          </p:cNvPr>
          <p:cNvSpPr>
            <a:spLocks xmlns:a="http://schemas.openxmlformats.org/drawingml/2006/main" noGrp="1"/>
          </p:cNvSpPr>
          <p:nvPr/>
        </p:nvSpPr>
        <p:spPr>
          <a:xfrm xmlns:a="http://schemas.openxmlformats.org/drawingml/2006/main">
            <a:off x="800100" y="5038725"/>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1" i="0">
                <a:solidFill>
                  <a:srgbClr val="1B6B57"/>
                </a:solidFill>
                <a:latin typeface="Arial"/>
                <a:ea typeface="Arial"/>
                <a:cs typeface="Arial"/>
              </a:defRPr>
            </a:defPPr>
          </a:lstStyle>
          <a:p xmlns:a="http://schemas.openxmlformats.org/drawingml/2006/main">
            <a:pPr algn="l">
              <a:defRPr sz="1275" b="1" i="0">
                <a:solidFill>
                  <a:srgbClr val="1B6B57"/>
                </a:solidFill>
                <a:latin typeface="Arial"/>
                <a:ea typeface="Arial"/>
                <a:cs typeface="Arial"/>
              </a:defRPr>
            </a:pPr>
            <a:r>
              <a:rPr sz="1275" b="1" i="0">
                <a:solidFill>
                  <a:srgbClr val="1B6B57"/>
                </a:solidFill>
                <a:latin typeface="Arial"/>
                <a:ea typeface="Arial"/>
                <a:cs typeface="Arial"/>
              </a:rPr>
              <a:t>SHARING 25%     READABILITY 20%</a:t>
            </a:r>
          </a:p>
          <a:p xmlns:a="http://schemas.openxmlformats.org/drawingml/2006/main">
            <a:pPr algn="l">
              <a:defRPr sz="1275" b="1" i="0">
                <a:solidFill>
                  <a:srgbClr val="1B6B57"/>
                </a:solidFill>
                <a:latin typeface="Arial"/>
                <a:ea typeface="Arial"/>
                <a:cs typeface="Arial"/>
              </a:defRPr>
            </a:pPr>
            <a:r>
              <a:rPr sz="1275" b="1" i="0">
                <a:solidFill>
                  <a:srgbClr val="1B6B57"/>
                </a:solidFill>
                <a:latin typeface="Arial"/>
                <a:ea typeface="Arial"/>
                <a:cs typeface="Arial"/>
              </a:rPr>
              <a:t>COLLECTION 20%   LEGAL LANGUAGE 20%</a:t>
            </a:r>
          </a:p>
          <a:p xmlns:a="http://schemas.openxmlformats.org/drawingml/2006/main">
            <a:pPr algn="l">
              <a:defRPr sz="1275" b="1" i="0">
                <a:solidFill>
                  <a:srgbClr val="1B6B57"/>
                </a:solidFill>
                <a:latin typeface="Arial"/>
                <a:ea typeface="Arial"/>
                <a:cs typeface="Arial"/>
              </a:defRPr>
            </a:pPr>
            <a:r>
              <a:rPr sz="1275" b="1" i="0">
                <a:solidFill>
                  <a:srgbClr val="1B6B57"/>
                </a:solidFill>
                <a:latin typeface="Arial"/>
                <a:ea typeface="Arial"/>
                <a:cs typeface="Arial"/>
              </a:rPr>
              <a:t>USER AGENCY 15%</a:t>
            </a:r>
          </a:p>
        </p:txBody>
      </p:sp>
      <p:sp>
        <p:nvSpPr>
          <p:cNvPr id="10" name="">
            <a:extLst xmlns:a="http://schemas.openxmlformats.org/drawingml/2006/main">
              <a:ext uri="{FF2B5EF4-FFF2-40B4-BE49-F238E27FC236}">
                <a16:creationId xmlns:a16="http://schemas.microsoft.com/office/drawing/2014/main" id="{0C1248E6-1239-40B3-8F64-587A0E1F6C98}"/>
              </a:ext>
            </a:extLst>
          </p:cNvPr>
          <p:cNvSpPr>
            <a:spLocks xmlns:a="http://schemas.openxmlformats.org/drawingml/2006/main" noGrp="1"/>
          </p:cNvSpPr>
          <p:nvPr/>
        </p:nvSpPr>
        <p:spPr>
          <a:xfrm xmlns:a="http://schemas.openxmlformats.org/drawingml/2006/main">
            <a:off x="6038850" y="2447925"/>
            <a:ext cx="19050" cy="3476625"/>
          </a:xfrm>
          <a:prstGeom xmlns:a="http://schemas.openxmlformats.org/drawingml/2006/main" prst="rect">
            <a:avLst/>
          </a:prstGeom>
          <a:solidFill xmlns:a="http://schemas.openxmlformats.org/drawingml/2006/main">
            <a:srgbClr val="C8D0CC"/>
          </a:solidFill>
          <a:ln xmlns:a="http://schemas.openxmlformats.org/drawingml/2006/main" w="0">
            <a:solidFill>
              <a:srgbClr val="C8D0CC"/>
            </a:solidFill>
            <a:prstDash val="solid"/>
          </a:ln>
        </p:spPr>
      </p:sp>
      <p:sp>
        <p:nvSpPr>
          <p:cNvPr id="11" name="">
            <a:extLst xmlns:a="http://schemas.openxmlformats.org/drawingml/2006/main">
              <a:ext uri="{FF2B5EF4-FFF2-40B4-BE49-F238E27FC236}">
                <a16:creationId xmlns:a16="http://schemas.microsoft.com/office/drawing/2014/main" id="{FC14B16A-5873-4818-A09E-820AD62C5F36}"/>
              </a:ext>
            </a:extLst>
          </p:cNvPr>
          <p:cNvSpPr>
            <a:spLocks xmlns:a="http://schemas.openxmlformats.org/drawingml/2006/main" noGrp="1"/>
          </p:cNvSpPr>
          <p:nvPr/>
        </p:nvSpPr>
        <p:spPr>
          <a:xfrm xmlns:a="http://schemas.openxmlformats.org/drawingml/2006/main">
            <a:off x="6457950" y="24574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1" i="0">
                <a:solidFill>
                  <a:srgbClr val="1B6B57"/>
                </a:solidFill>
                <a:latin typeface="Arial"/>
                <a:ea typeface="Arial"/>
                <a:cs typeface="Arial"/>
              </a:defRPr>
            </a:defPPr>
          </a:lstStyle>
          <a:p xmlns:a="http://schemas.openxmlformats.org/drawingml/2006/main">
            <a:pPr algn="l">
              <a:defRPr sz="1275" b="1" i="0">
                <a:solidFill>
                  <a:srgbClr val="1B6B57"/>
                </a:solidFill>
                <a:latin typeface="Arial"/>
                <a:ea typeface="Arial"/>
                <a:cs typeface="Arial"/>
              </a:defRPr>
            </a:pPr>
            <a:r>
              <a:rPr sz="1275" b="1" i="0">
                <a:solidFill>
                  <a:srgbClr val="1B6B57"/>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E1604547-0A9E-4774-B4FA-E46258943699}"/>
              </a:ext>
            </a:extLst>
          </p:cNvPr>
          <p:cNvSpPr>
            <a:spLocks xmlns:a="http://schemas.openxmlformats.org/drawingml/2006/main" noGrp="1"/>
          </p:cNvSpPr>
          <p:nvPr/>
        </p:nvSpPr>
        <p:spPr>
          <a:xfrm xmlns:a="http://schemas.openxmlformats.org/drawingml/2006/main">
            <a:off x="7010400" y="23907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100" b="1" i="0">
                <a:solidFill>
                  <a:srgbClr val="20262E"/>
                </a:solidFill>
                <a:latin typeface="Arial"/>
                <a:ea typeface="Arial"/>
                <a:cs typeface="Arial"/>
              </a:defRPr>
            </a:defPPr>
          </a:lstStyle>
          <a:p xmlns:a="http://schemas.openxmlformats.org/drawingml/2006/main">
            <a:pPr algn="l">
              <a:defRPr sz="2100" b="1" i="0">
                <a:solidFill>
                  <a:srgbClr val="20262E"/>
                </a:solidFill>
                <a:latin typeface="Arial"/>
                <a:ea typeface="Arial"/>
                <a:cs typeface="Arial"/>
              </a:defRPr>
            </a:pPr>
            <a:r>
              <a:rPr sz="2100" b="1" i="0">
                <a:solidFill>
                  <a:srgbClr val="20262E"/>
                </a:solidFill>
                <a:latin typeface="Arial"/>
                <a:ea typeface="Arial"/>
                <a:cs typeface="Arial"/>
              </a:rPr>
              <a:t>CLAUSE CLASSIFIER</a:t>
            </a:r>
          </a:p>
        </p:txBody>
      </p:sp>
      <p:sp>
        <p:nvSpPr>
          <p:cNvPr id="13" name="">
            <a:extLst xmlns:a="http://schemas.openxmlformats.org/drawingml/2006/main">
              <a:ext uri="{FF2B5EF4-FFF2-40B4-BE49-F238E27FC236}">
                <a16:creationId xmlns:a16="http://schemas.microsoft.com/office/drawing/2014/main" id="{53155288-EFF4-49E0-A176-928221B8C6B6}"/>
              </a:ext>
            </a:extLst>
          </p:cNvPr>
          <p:cNvSpPr>
            <a:spLocks xmlns:a="http://schemas.openxmlformats.org/drawingml/2006/main" noGrp="1"/>
          </p:cNvSpPr>
          <p:nvPr/>
        </p:nvSpPr>
        <p:spPr>
          <a:xfrm xmlns:a="http://schemas.openxmlformats.org/drawingml/2006/main">
            <a:off x="6457950" y="2952750"/>
            <a:ext cx="4762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650" b="0" i="0">
                <a:solidFill>
                  <a:srgbClr val="59636B"/>
                </a:solidFill>
                <a:latin typeface="Arial"/>
                <a:ea typeface="Arial"/>
                <a:cs typeface="Arial"/>
              </a:defRPr>
            </a:defPPr>
          </a:lstStyle>
          <a:p xmlns:a="http://schemas.openxmlformats.org/drawingml/2006/main">
            <a:pPr algn="l">
              <a:defRPr sz="1650" b="0" i="0">
                <a:solidFill>
                  <a:srgbClr val="59636B"/>
                </a:solidFill>
                <a:latin typeface="Arial"/>
                <a:ea typeface="Arial"/>
                <a:cs typeface="Arial"/>
              </a:defRPr>
            </a:pPr>
            <a:r>
              <a:rPr sz="1650" b="0" i="0">
                <a:solidFill>
                  <a:srgbClr val="59636B"/>
                </a:solidFill>
                <a:latin typeface="Arial"/>
                <a:ea typeface="Arial"/>
                <a:cs typeface="Arial"/>
              </a:rPr>
              <a:t>A separate learned model suggests privacy topics for each clause.</a:t>
            </a:r>
          </a:p>
        </p:txBody>
      </p:sp>
      <p:sp>
        <p:nvSpPr>
          <p:cNvPr id="14" name="">
            <a:extLst xmlns:a="http://schemas.openxmlformats.org/drawingml/2006/main">
              <a:ext uri="{FF2B5EF4-FFF2-40B4-BE49-F238E27FC236}">
                <a16:creationId xmlns:a16="http://schemas.microsoft.com/office/drawing/2014/main" id="{A580FDE0-4D29-4646-85B6-64891A339DD0}"/>
              </a:ext>
            </a:extLst>
          </p:cNvPr>
          <p:cNvSpPr>
            <a:spLocks xmlns:a="http://schemas.openxmlformats.org/drawingml/2006/main" noGrp="1"/>
          </p:cNvSpPr>
          <p:nvPr/>
        </p:nvSpPr>
        <p:spPr>
          <a:xfrm xmlns:a="http://schemas.openxmlformats.org/drawingml/2006/main">
            <a:off x="6457950" y="3752850"/>
            <a:ext cx="4762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650" b="0" i="0">
                <a:solidFill>
                  <a:srgbClr val="59636B"/>
                </a:solidFill>
                <a:latin typeface="Arial"/>
                <a:ea typeface="Arial"/>
                <a:cs typeface="Arial"/>
              </a:defRPr>
            </a:defPPr>
          </a:lstStyle>
          <a:p xmlns:a="http://schemas.openxmlformats.org/drawingml/2006/main">
            <a:pPr algn="l">
              <a:defRPr sz="1650" b="0" i="0">
                <a:solidFill>
                  <a:srgbClr val="59636B"/>
                </a:solidFill>
                <a:latin typeface="Arial"/>
                <a:ea typeface="Arial"/>
                <a:cs typeface="Arial"/>
              </a:defRPr>
            </a:pPr>
            <a:r>
              <a:rPr sz="1650" b="0" i="0">
                <a:solidFill>
                  <a:srgbClr val="59636B"/>
                </a:solidFill>
                <a:latin typeface="Arial"/>
                <a:ea typeface="Arial"/>
                <a:cs typeface="Arial"/>
              </a:rPr>
              <a:t>It returns topic tags alongside the rule results. Tags do not change the Trust Score.</a:t>
            </a:r>
          </a:p>
        </p:txBody>
      </p:sp>
      <p:sp>
        <p:nvSpPr>
          <p:cNvPr id="15" name="">
            <a:extLst xmlns:a="http://schemas.openxmlformats.org/drawingml/2006/main">
              <a:ext uri="{FF2B5EF4-FFF2-40B4-BE49-F238E27FC236}">
                <a16:creationId xmlns:a16="http://schemas.microsoft.com/office/drawing/2014/main" id="{64AFFE97-C485-4927-A9AC-36AAAB179191}"/>
              </a:ext>
            </a:extLst>
          </p:cNvPr>
          <p:cNvSpPr>
            <a:spLocks xmlns:a="http://schemas.openxmlformats.org/drawingml/2006/main" noGrp="1"/>
          </p:cNvSpPr>
          <p:nvPr/>
        </p:nvSpPr>
        <p:spPr>
          <a:xfrm xmlns:a="http://schemas.openxmlformats.org/drawingml/2006/main">
            <a:off x="6457950" y="4905375"/>
            <a:ext cx="4762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00" b="1" i="0">
                <a:solidFill>
                  <a:srgbClr val="1B6B57"/>
                </a:solidFill>
                <a:latin typeface="Arial"/>
                <a:ea typeface="Arial"/>
                <a:cs typeface="Arial"/>
              </a:defRPr>
            </a:defPPr>
          </a:lstStyle>
          <a:p xmlns:a="http://schemas.openxmlformats.org/drawingml/2006/main">
            <a:pPr algn="l">
              <a:defRPr sz="1500" b="1" i="0">
                <a:solidFill>
                  <a:srgbClr val="1B6B57"/>
                </a:solidFill>
                <a:latin typeface="Arial"/>
                <a:ea typeface="Arial"/>
                <a:cs typeface="Arial"/>
              </a:defRPr>
            </a:pPr>
            <a:r>
              <a:rPr sz="1500" b="1" i="0">
                <a:solidFill>
                  <a:srgbClr val="1B6B57"/>
                </a:solidFill>
                <a:latin typeface="Arial"/>
                <a:ea typeface="Arial"/>
                <a:cs typeface="Arial"/>
              </a:rPr>
              <a:t>The local API returns both paths to the interface; policy text is processed in memory.</a:t>
            </a:r>
          </a:p>
        </p:txBody>
      </p:sp>
    </p:spTree>
    <p:extLst>
      <p:ext uri="{BB962C8B-B14F-4D97-AF65-F5344CB8AC3E}">
        <p14:creationId xmlns:p14="http://schemas.microsoft.com/office/powerpoint/2010/main" val="1657535530"/>
      </p:ext>
    </p:extLst>
  </p:cSld>
</p:sld>
</file>

<file path=ppt/slides/slide3.xml><?xml version="1.0" encoding="utf-8"?>
<p:sld xmlns:p="http://schemas.openxmlformats.org/presentationml/2006/main">
  <p:cSld>
    <p:bg>
      <p:bgPr>
        <a:solidFill xmlns:a="http://schemas.openxmlformats.org/drawingml/2006/main">
          <a:srgbClr val="F0ECD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2F3084C-CB3F-4154-AFDA-21DAAC8F3D61}"/>
              </a:ext>
            </a:extLst>
          </p:cNvPr>
          <p:cNvSpPr>
            <a:spLocks xmlns:a="http://schemas.openxmlformats.org/drawingml/2006/main" noGrp="1"/>
          </p:cNvSpPr>
          <p:nvPr/>
        </p:nvSpPr>
        <p:spPr>
          <a:xfrm xmlns:a="http://schemas.openxmlformats.org/drawingml/2006/main">
            <a:off x="800100" y="45720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00" b="1" i="0">
                <a:solidFill>
                  <a:srgbClr val="1B6B57"/>
                </a:solidFill>
                <a:latin typeface="Arial"/>
                <a:ea typeface="Arial"/>
                <a:cs typeface="Arial"/>
              </a:defRPr>
            </a:defPPr>
          </a:lstStyle>
          <a:p xmlns:a="http://schemas.openxmlformats.org/drawingml/2006/main">
            <a:pPr algn="l">
              <a:defRPr sz="1200" b="1" i="0">
                <a:solidFill>
                  <a:srgbClr val="1B6B57"/>
                </a:solidFill>
                <a:latin typeface="Arial"/>
                <a:ea typeface="Arial"/>
                <a:cs typeface="Arial"/>
              </a:defRPr>
            </a:pPr>
            <a:r>
              <a:rPr sz="1200" b="1" i="0">
                <a:solidFill>
                  <a:srgbClr val="1B6B57"/>
                </a:solidFill>
                <a:latin typeface="Arial"/>
                <a:ea typeface="Arial"/>
                <a:cs typeface="Arial"/>
              </a:rPr>
              <a:t>THE LEARNED CLAUSE TAGGER</a:t>
            </a:r>
          </a:p>
        </p:txBody>
      </p:sp>
      <p:sp>
        <p:nvSpPr>
          <p:cNvPr id="2" name="">
            <a:extLst xmlns:a="http://schemas.openxmlformats.org/drawingml/2006/main">
              <a:ext uri="{FF2B5EF4-FFF2-40B4-BE49-F238E27FC236}">
                <a16:creationId xmlns:a16="http://schemas.microsoft.com/office/drawing/2014/main" id="{683F19B8-16A0-4ABC-9EE6-2DAA5F861BF6}"/>
              </a:ext>
            </a:extLst>
          </p:cNvPr>
          <p:cNvSpPr>
            <a:spLocks xmlns:a="http://schemas.openxmlformats.org/drawingml/2006/main" noGrp="1"/>
          </p:cNvSpPr>
          <p:nvPr/>
        </p:nvSpPr>
        <p:spPr>
          <a:xfrm xmlns:a="http://schemas.openxmlformats.org/drawingml/2006/main">
            <a:off x="800100" y="79057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3375" b="1" i="0">
                <a:solidFill>
                  <a:srgbClr val="20262E"/>
                </a:solidFill>
                <a:latin typeface="Arial"/>
                <a:ea typeface="Arial"/>
                <a:cs typeface="Arial"/>
              </a:defRPr>
            </a:defPPr>
          </a:lstStyle>
          <a:p xmlns:a="http://schemas.openxmlformats.org/drawingml/2006/main">
            <a:pPr algn="l">
              <a:defRPr sz="3375" b="1" i="0">
                <a:solidFill>
                  <a:srgbClr val="20262E"/>
                </a:solidFill>
                <a:latin typeface="Arial"/>
                <a:ea typeface="Arial"/>
                <a:cs typeface="Arial"/>
              </a:defRPr>
            </a:pPr>
            <a:r>
              <a:rPr sz="3375" b="1" i="0">
                <a:solidFill>
                  <a:srgbClr val="20262E"/>
                </a:solidFill>
                <a:latin typeface="Arial"/>
                <a:ea typeface="Arial"/>
                <a:cs typeface="Arial"/>
              </a:rPr>
              <a:t>A small model tested on unseen policies.</a:t>
            </a:r>
          </a:p>
        </p:txBody>
      </p:sp>
      <p:sp>
        <p:nvSpPr>
          <p:cNvPr id="3" name="">
            <a:extLst xmlns:a="http://schemas.openxmlformats.org/drawingml/2006/main">
              <a:ext uri="{FF2B5EF4-FFF2-40B4-BE49-F238E27FC236}">
                <a16:creationId xmlns:a16="http://schemas.microsoft.com/office/drawing/2014/main" id="{2A31D275-BEB8-457A-BE5F-97D274D56563}"/>
              </a:ext>
            </a:extLst>
          </p:cNvPr>
          <p:cNvSpPr>
            <a:spLocks xmlns:a="http://schemas.openxmlformats.org/drawingml/2006/main" noGrp="1"/>
          </p:cNvSpPr>
          <p:nvPr/>
        </p:nvSpPr>
        <p:spPr>
          <a:xfrm xmlns:a="http://schemas.openxmlformats.org/drawingml/2006/main">
            <a:off x="800100" y="16573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4425" b="1" i="0">
                <a:solidFill>
                  <a:srgbClr val="1B6B57"/>
                </a:solidFill>
                <a:latin typeface="Arial"/>
                <a:ea typeface="Arial"/>
                <a:cs typeface="Arial"/>
              </a:defRPr>
            </a:defPPr>
          </a:lstStyle>
          <a:p xmlns:a="http://schemas.openxmlformats.org/drawingml/2006/main">
            <a:pPr algn="l">
              <a:defRPr sz="4425" b="1" i="0">
                <a:solidFill>
                  <a:srgbClr val="1B6B57"/>
                </a:solidFill>
                <a:latin typeface="Arial"/>
                <a:ea typeface="Arial"/>
                <a:cs typeface="Arial"/>
              </a:defRPr>
            </a:pPr>
            <a:r>
              <a:rPr sz="4425" b="1" i="0">
                <a:solidFill>
                  <a:srgbClr val="1B6B57"/>
                </a:solidFill>
                <a:latin typeface="Arial"/>
                <a:ea typeface="Arial"/>
                <a:cs typeface="Arial"/>
              </a:rPr>
              <a:t>115</a:t>
            </a:r>
          </a:p>
        </p:txBody>
      </p:sp>
      <p:sp>
        <p:nvSpPr>
          <p:cNvPr id="4" name="">
            <a:extLst xmlns:a="http://schemas.openxmlformats.org/drawingml/2006/main">
              <a:ext uri="{FF2B5EF4-FFF2-40B4-BE49-F238E27FC236}">
                <a16:creationId xmlns:a16="http://schemas.microsoft.com/office/drawing/2014/main" id="{695FD540-BF7C-4E30-8807-ACCA6319CDE0}"/>
              </a:ext>
            </a:extLst>
          </p:cNvPr>
          <p:cNvSpPr>
            <a:spLocks xmlns:a="http://schemas.openxmlformats.org/drawingml/2006/main" noGrp="1"/>
          </p:cNvSpPr>
          <p:nvPr/>
        </p:nvSpPr>
        <p:spPr>
          <a:xfrm xmlns:a="http://schemas.openxmlformats.org/drawingml/2006/main">
            <a:off x="800100" y="23717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75" b="0" i="0">
                <a:solidFill>
                  <a:srgbClr val="20262E"/>
                </a:solidFill>
                <a:latin typeface="Arial"/>
                <a:ea typeface="Arial"/>
                <a:cs typeface="Arial"/>
              </a:defRPr>
            </a:defPPr>
          </a:lstStyle>
          <a:p xmlns:a="http://schemas.openxmlformats.org/drawingml/2006/main">
            <a:pPr algn="l">
              <a:defRPr sz="1575" b="0" i="0">
                <a:solidFill>
                  <a:srgbClr val="20262E"/>
                </a:solidFill>
                <a:latin typeface="Arial"/>
                <a:ea typeface="Arial"/>
                <a:cs typeface="Arial"/>
              </a:defRPr>
            </a:pPr>
            <a:r>
              <a:rPr sz="1575" b="0" i="0">
                <a:solidFill>
                  <a:srgbClr val="20262E"/>
                </a:solidFill>
                <a:latin typeface="Arial"/>
                <a:ea typeface="Arial"/>
                <a:cs typeface="Arial"/>
              </a:rPr>
              <a:t>OPP-115 policies</a:t>
            </a:r>
          </a:p>
        </p:txBody>
      </p:sp>
      <p:sp>
        <p:nvSpPr>
          <p:cNvPr id="5" name="">
            <a:extLst xmlns:a="http://schemas.openxmlformats.org/drawingml/2006/main">
              <a:ext uri="{FF2B5EF4-FFF2-40B4-BE49-F238E27FC236}">
                <a16:creationId xmlns:a16="http://schemas.microsoft.com/office/drawing/2014/main" id="{D0C94CE0-4FAB-4221-BDE5-3D0F5A9434C8}"/>
              </a:ext>
            </a:extLst>
          </p:cNvPr>
          <p:cNvSpPr>
            <a:spLocks xmlns:a="http://schemas.openxmlformats.org/drawingml/2006/main" noGrp="1"/>
          </p:cNvSpPr>
          <p:nvPr/>
        </p:nvSpPr>
        <p:spPr>
          <a:xfrm xmlns:a="http://schemas.openxmlformats.org/drawingml/2006/main">
            <a:off x="4438650" y="16573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4425" b="1" i="0">
                <a:solidFill>
                  <a:srgbClr val="1B6B57"/>
                </a:solidFill>
                <a:latin typeface="Arial"/>
                <a:ea typeface="Arial"/>
                <a:cs typeface="Arial"/>
              </a:defRPr>
            </a:defPPr>
          </a:lstStyle>
          <a:p xmlns:a="http://schemas.openxmlformats.org/drawingml/2006/main">
            <a:pPr algn="l">
              <a:defRPr sz="4425" b="1" i="0">
                <a:solidFill>
                  <a:srgbClr val="1B6B57"/>
                </a:solidFill>
                <a:latin typeface="Arial"/>
                <a:ea typeface="Arial"/>
                <a:cs typeface="Arial"/>
              </a:defRPr>
            </a:pPr>
            <a:r>
              <a:rPr sz="4425" b="1" i="0">
                <a:solidFill>
                  <a:srgbClr val="1B6B57"/>
                </a:solidFill>
                <a:latin typeface="Arial"/>
                <a:ea typeface="Arial"/>
                <a:cs typeface="Arial"/>
              </a:rPr>
              <a:t>3,790</a:t>
            </a:r>
          </a:p>
        </p:txBody>
      </p:sp>
      <p:sp>
        <p:nvSpPr>
          <p:cNvPr id="6" name="">
            <a:extLst xmlns:a="http://schemas.openxmlformats.org/drawingml/2006/main">
              <a:ext uri="{FF2B5EF4-FFF2-40B4-BE49-F238E27FC236}">
                <a16:creationId xmlns:a16="http://schemas.microsoft.com/office/drawing/2014/main" id="{CB944DF3-CB22-4992-B2FB-E8ED879AF9FD}"/>
              </a:ext>
            </a:extLst>
          </p:cNvPr>
          <p:cNvSpPr>
            <a:spLocks xmlns:a="http://schemas.openxmlformats.org/drawingml/2006/main" noGrp="1"/>
          </p:cNvSpPr>
          <p:nvPr/>
        </p:nvSpPr>
        <p:spPr>
          <a:xfrm xmlns:a="http://schemas.openxmlformats.org/drawingml/2006/main">
            <a:off x="4438650" y="23717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75" b="0" i="0">
                <a:solidFill>
                  <a:srgbClr val="20262E"/>
                </a:solidFill>
                <a:latin typeface="Arial"/>
                <a:ea typeface="Arial"/>
                <a:cs typeface="Arial"/>
              </a:defRPr>
            </a:defPPr>
          </a:lstStyle>
          <a:p xmlns:a="http://schemas.openxmlformats.org/drawingml/2006/main">
            <a:pPr algn="l">
              <a:defRPr sz="1575" b="0" i="0">
                <a:solidFill>
                  <a:srgbClr val="20262E"/>
                </a:solidFill>
                <a:latin typeface="Arial"/>
                <a:ea typeface="Arial"/>
                <a:cs typeface="Arial"/>
              </a:defRPr>
            </a:pPr>
            <a:r>
              <a:rPr sz="1575" b="0" i="0">
                <a:solidFill>
                  <a:srgbClr val="20262E"/>
                </a:solidFill>
                <a:latin typeface="Arial"/>
                <a:ea typeface="Arial"/>
                <a:cs typeface="Arial"/>
              </a:rPr>
              <a:t>labeled text segments</a:t>
            </a:r>
          </a:p>
        </p:txBody>
      </p:sp>
      <p:sp>
        <p:nvSpPr>
          <p:cNvPr id="7" name="">
            <a:extLst xmlns:a="http://schemas.openxmlformats.org/drawingml/2006/main">
              <a:ext uri="{FF2B5EF4-FFF2-40B4-BE49-F238E27FC236}">
                <a16:creationId xmlns:a16="http://schemas.microsoft.com/office/drawing/2014/main" id="{664CF6F3-56C3-47CB-8FC2-5F4A2E908155}"/>
              </a:ext>
            </a:extLst>
          </p:cNvPr>
          <p:cNvSpPr>
            <a:spLocks xmlns:a="http://schemas.openxmlformats.org/drawingml/2006/main" noGrp="1"/>
          </p:cNvSpPr>
          <p:nvPr/>
        </p:nvSpPr>
        <p:spPr>
          <a:xfrm xmlns:a="http://schemas.openxmlformats.org/drawingml/2006/main">
            <a:off x="8096250" y="16573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4425" b="1" i="0">
                <a:solidFill>
                  <a:srgbClr val="1B6B57"/>
                </a:solidFill>
                <a:latin typeface="Arial"/>
                <a:ea typeface="Arial"/>
                <a:cs typeface="Arial"/>
              </a:defRPr>
            </a:defPPr>
          </a:lstStyle>
          <a:p xmlns:a="http://schemas.openxmlformats.org/drawingml/2006/main">
            <a:pPr algn="l">
              <a:defRPr sz="4425" b="1" i="0">
                <a:solidFill>
                  <a:srgbClr val="1B6B57"/>
                </a:solidFill>
                <a:latin typeface="Arial"/>
                <a:ea typeface="Arial"/>
                <a:cs typeface="Arial"/>
              </a:defRPr>
            </a:pPr>
            <a:r>
              <a:rPr sz="4425" b="1" i="0">
                <a:solidFill>
                  <a:srgbClr val="1B6B57"/>
                </a:solidFill>
                <a:latin typeface="Arial"/>
                <a:ea typeface="Arial"/>
                <a:cs typeface="Arial"/>
              </a:rPr>
              <a:t>92 / 23</a:t>
            </a:r>
          </a:p>
        </p:txBody>
      </p:sp>
      <p:sp>
        <p:nvSpPr>
          <p:cNvPr id="8" name="">
            <a:extLst xmlns:a="http://schemas.openxmlformats.org/drawingml/2006/main">
              <a:ext uri="{FF2B5EF4-FFF2-40B4-BE49-F238E27FC236}">
                <a16:creationId xmlns:a16="http://schemas.microsoft.com/office/drawing/2014/main" id="{E13C0069-93D1-40AB-A10D-5C146D4E0604}"/>
              </a:ext>
            </a:extLst>
          </p:cNvPr>
          <p:cNvSpPr>
            <a:spLocks xmlns:a="http://schemas.openxmlformats.org/drawingml/2006/main" noGrp="1"/>
          </p:cNvSpPr>
          <p:nvPr/>
        </p:nvSpPr>
        <p:spPr>
          <a:xfrm xmlns:a="http://schemas.openxmlformats.org/drawingml/2006/main">
            <a:off x="8096250" y="23717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75" b="0" i="0">
                <a:solidFill>
                  <a:srgbClr val="20262E"/>
                </a:solidFill>
                <a:latin typeface="Arial"/>
                <a:ea typeface="Arial"/>
                <a:cs typeface="Arial"/>
              </a:defRPr>
            </a:defPPr>
          </a:lstStyle>
          <a:p xmlns:a="http://schemas.openxmlformats.org/drawingml/2006/main">
            <a:pPr algn="l">
              <a:defRPr sz="1575" b="0" i="0">
                <a:solidFill>
                  <a:srgbClr val="20262E"/>
                </a:solidFill>
                <a:latin typeface="Arial"/>
                <a:ea typeface="Arial"/>
                <a:cs typeface="Arial"/>
              </a:defRPr>
            </a:pPr>
            <a:r>
              <a:rPr sz="1575" b="0" i="0">
                <a:solidFill>
                  <a:srgbClr val="20262E"/>
                </a:solidFill>
                <a:latin typeface="Arial"/>
                <a:ea typeface="Arial"/>
                <a:cs typeface="Arial"/>
              </a:rPr>
              <a:t>train / holdout policies</a:t>
            </a:r>
          </a:p>
        </p:txBody>
      </p:sp>
      <p:sp>
        <p:nvSpPr>
          <p:cNvPr id="9" name="">
            <a:extLst xmlns:a="http://schemas.openxmlformats.org/drawingml/2006/main">
              <a:ext uri="{FF2B5EF4-FFF2-40B4-BE49-F238E27FC236}">
                <a16:creationId xmlns:a16="http://schemas.microsoft.com/office/drawing/2014/main" id="{829232C3-A639-40CD-9F53-8E3F9E19BFE9}"/>
              </a:ext>
            </a:extLst>
          </p:cNvPr>
          <p:cNvSpPr>
            <a:spLocks xmlns:a="http://schemas.openxmlformats.org/drawingml/2006/main" noGrp="1"/>
          </p:cNvSpPr>
          <p:nvPr/>
        </p:nvSpPr>
        <p:spPr>
          <a:xfrm xmlns:a="http://schemas.openxmlformats.org/drawingml/2006/main">
            <a:off x="800100" y="2943225"/>
            <a:ext cx="10591800" cy="19050"/>
          </a:xfrm>
          <a:prstGeom xmlns:a="http://schemas.openxmlformats.org/drawingml/2006/main" prst="rect">
            <a:avLst/>
          </a:prstGeom>
          <a:solidFill xmlns:a="http://schemas.openxmlformats.org/drawingml/2006/main">
            <a:srgbClr val="C9C2AF"/>
          </a:solidFill>
          <a:ln xmlns:a="http://schemas.openxmlformats.org/drawingml/2006/main" w="0">
            <a:solidFill>
              <a:srgbClr val="C9C2AF"/>
            </a:solidFill>
            <a:prstDash val="solid"/>
          </a:ln>
        </p:spPr>
      </p:sp>
      <p:sp>
        <p:nvSpPr>
          <p:cNvPr id="10" name="">
            <a:extLst xmlns:a="http://schemas.openxmlformats.org/drawingml/2006/main">
              <a:ext uri="{FF2B5EF4-FFF2-40B4-BE49-F238E27FC236}">
                <a16:creationId xmlns:a16="http://schemas.microsoft.com/office/drawing/2014/main" id="{14D1DE4F-AD88-42A8-8202-ACD458D88037}"/>
              </a:ext>
            </a:extLst>
          </p:cNvPr>
          <p:cNvSpPr>
            <a:spLocks xmlns:a="http://schemas.openxmlformats.org/drawingml/2006/main" noGrp="1"/>
          </p:cNvSpPr>
          <p:nvPr/>
        </p:nvSpPr>
        <p:spPr>
          <a:xfrm xmlns:a="http://schemas.openxmlformats.org/drawingml/2006/main">
            <a:off x="800100"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00" b="1" i="0">
                <a:solidFill>
                  <a:srgbClr val="59636B"/>
                </a:solidFill>
                <a:latin typeface="Arial"/>
                <a:ea typeface="Arial"/>
                <a:cs typeface="Arial"/>
              </a:defRPr>
            </a:defPPr>
          </a:lstStyle>
          <a:p xmlns:a="http://schemas.openxmlformats.org/drawingml/2006/main">
            <a:pPr algn="l">
              <a:defRPr sz="1200" b="1" i="0">
                <a:solidFill>
                  <a:srgbClr val="59636B"/>
                </a:solidFill>
                <a:latin typeface="Arial"/>
                <a:ea typeface="Arial"/>
                <a:cs typeface="Arial"/>
              </a:defRPr>
            </a:pPr>
            <a:r>
              <a:rPr sz="1200" b="1" i="0">
                <a:solidFill>
                  <a:srgbClr val="59636B"/>
                </a:solidFill>
                <a:latin typeface="Arial"/>
                <a:ea typeface="Arial"/>
                <a:cs typeface="Arial"/>
              </a:rPr>
              <a:t>MODEL</a:t>
            </a:r>
          </a:p>
        </p:txBody>
      </p:sp>
      <p:sp>
        <p:nvSpPr>
          <p:cNvPr id="11" name="">
            <a:extLst xmlns:a="http://schemas.openxmlformats.org/drawingml/2006/main">
              <a:ext uri="{FF2B5EF4-FFF2-40B4-BE49-F238E27FC236}">
                <a16:creationId xmlns:a16="http://schemas.microsoft.com/office/drawing/2014/main" id="{FCC4BCF7-DCD7-4C82-9BD3-070A2D7480A2}"/>
              </a:ext>
            </a:extLst>
          </p:cNvPr>
          <p:cNvSpPr>
            <a:spLocks xmlns:a="http://schemas.openxmlformats.org/drawingml/2006/main" noGrp="1"/>
          </p:cNvSpPr>
          <p:nvPr/>
        </p:nvSpPr>
        <p:spPr>
          <a:xfrm xmlns:a="http://schemas.openxmlformats.org/drawingml/2006/main">
            <a:off x="800100" y="35433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025" b="1" i="0">
                <a:solidFill>
                  <a:srgbClr val="20262E"/>
                </a:solidFill>
                <a:latin typeface="Arial"/>
                <a:ea typeface="Arial"/>
                <a:cs typeface="Arial"/>
              </a:defRPr>
            </a:defPPr>
          </a:lstStyle>
          <a:p xmlns:a="http://schemas.openxmlformats.org/drawingml/2006/main">
            <a:pPr algn="l">
              <a:defRPr sz="2025" b="1" i="0">
                <a:solidFill>
                  <a:srgbClr val="20262E"/>
                </a:solidFill>
                <a:latin typeface="Arial"/>
                <a:ea typeface="Arial"/>
                <a:cs typeface="Arial"/>
              </a:defRPr>
            </a:pPr>
            <a:r>
              <a:rPr sz="2025" b="1" i="0">
                <a:solidFill>
                  <a:srgbClr val="20262E"/>
                </a:solidFill>
                <a:latin typeface="Arial"/>
                <a:ea typeface="Arial"/>
                <a:cs typeface="Arial"/>
              </a:rPr>
              <a:t>Multinomial Naive Bayes</a:t>
            </a:r>
          </a:p>
        </p:txBody>
      </p:sp>
      <p:sp>
        <p:nvSpPr>
          <p:cNvPr id="12" name="">
            <a:extLst xmlns:a="http://schemas.openxmlformats.org/drawingml/2006/main">
              <a:ext uri="{FF2B5EF4-FFF2-40B4-BE49-F238E27FC236}">
                <a16:creationId xmlns:a16="http://schemas.microsoft.com/office/drawing/2014/main" id="{54316999-288A-4DB5-B8B8-D0866F328663}"/>
              </a:ext>
            </a:extLst>
          </p:cNvPr>
          <p:cNvSpPr>
            <a:spLocks xmlns:a="http://schemas.openxmlformats.org/drawingml/2006/main" noGrp="1"/>
          </p:cNvSpPr>
          <p:nvPr/>
        </p:nvSpPr>
        <p:spPr>
          <a:xfrm xmlns:a="http://schemas.openxmlformats.org/drawingml/2006/main">
            <a:off x="800100" y="4010025"/>
            <a:ext cx="4762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00" b="0" i="0">
                <a:solidFill>
                  <a:srgbClr val="59636B"/>
                </a:solidFill>
                <a:latin typeface="Arial"/>
                <a:ea typeface="Arial"/>
                <a:cs typeface="Arial"/>
              </a:defRPr>
            </a:defPPr>
          </a:lstStyle>
          <a:p xmlns:a="http://schemas.openxmlformats.org/drawingml/2006/main">
            <a:pPr algn="l">
              <a:defRPr sz="1500" b="0" i="0">
                <a:solidFill>
                  <a:srgbClr val="59636B"/>
                </a:solidFill>
                <a:latin typeface="Arial"/>
                <a:ea typeface="Arial"/>
                <a:cs typeface="Arial"/>
              </a:defRPr>
            </a:pPr>
            <a:r>
              <a:rPr sz="1500" b="0" i="0">
                <a:solidFill>
                  <a:srgbClr val="59636B"/>
                </a:solidFill>
                <a:latin typeface="Arial"/>
                <a:ea typeface="Arial"/>
                <a:cs typeface="Arial"/>
              </a:rPr>
              <a:t>Binary single-word and adjacent-word-pair features. Multi-label topic suggestions, up to three per clause above a 0.5 display threshold.</a:t>
            </a:r>
          </a:p>
        </p:txBody>
      </p:sp>
      <p:sp>
        <p:nvSpPr>
          <p:cNvPr id="13" name="">
            <a:extLst xmlns:a="http://schemas.openxmlformats.org/drawingml/2006/main">
              <a:ext uri="{FF2B5EF4-FFF2-40B4-BE49-F238E27FC236}">
                <a16:creationId xmlns:a16="http://schemas.microsoft.com/office/drawing/2014/main" id="{BDFC8D5D-DC0F-44B0-AFDD-1A059DF972B6}"/>
              </a:ext>
            </a:extLst>
          </p:cNvPr>
          <p:cNvSpPr>
            <a:spLocks xmlns:a="http://schemas.openxmlformats.org/drawingml/2006/main" noGrp="1"/>
          </p:cNvSpPr>
          <p:nvPr/>
        </p:nvSpPr>
        <p:spPr>
          <a:xfrm xmlns:a="http://schemas.openxmlformats.org/drawingml/2006/main">
            <a:off x="6038850" y="3181350"/>
            <a:ext cx="19050" cy="1866900"/>
          </a:xfrm>
          <a:prstGeom xmlns:a="http://schemas.openxmlformats.org/drawingml/2006/main" prst="rect">
            <a:avLst/>
          </a:prstGeom>
          <a:solidFill xmlns:a="http://schemas.openxmlformats.org/drawingml/2006/main">
            <a:srgbClr val="C9C2AF"/>
          </a:solidFill>
          <a:ln xmlns:a="http://schemas.openxmlformats.org/drawingml/2006/main" w="0">
            <a:solidFill>
              <a:srgbClr val="C9C2AF"/>
            </a:solidFill>
            <a:prstDash val="solid"/>
          </a:ln>
        </p:spPr>
      </p:sp>
      <p:sp>
        <p:nvSpPr>
          <p:cNvPr id="14" name="">
            <a:extLst xmlns:a="http://schemas.openxmlformats.org/drawingml/2006/main">
              <a:ext uri="{FF2B5EF4-FFF2-40B4-BE49-F238E27FC236}">
                <a16:creationId xmlns:a16="http://schemas.microsoft.com/office/drawing/2014/main" id="{E1DD03B7-379B-46B2-A0D6-50577F358DFB}"/>
              </a:ext>
            </a:extLst>
          </p:cNvPr>
          <p:cNvSpPr>
            <a:spLocks xmlns:a="http://schemas.openxmlformats.org/drawingml/2006/main" noGrp="1"/>
          </p:cNvSpPr>
          <p:nvPr/>
        </p:nvSpPr>
        <p:spPr>
          <a:xfrm xmlns:a="http://schemas.openxmlformats.org/drawingml/2006/main">
            <a:off x="6457950" y="32004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00" b="1" i="0">
                <a:solidFill>
                  <a:srgbClr val="59636B"/>
                </a:solidFill>
                <a:latin typeface="Arial"/>
                <a:ea typeface="Arial"/>
                <a:cs typeface="Arial"/>
              </a:defRPr>
            </a:defPPr>
          </a:lstStyle>
          <a:p xmlns:a="http://schemas.openxmlformats.org/drawingml/2006/main">
            <a:pPr algn="l">
              <a:defRPr sz="1200" b="1" i="0">
                <a:solidFill>
                  <a:srgbClr val="59636B"/>
                </a:solidFill>
                <a:latin typeface="Arial"/>
                <a:ea typeface="Arial"/>
                <a:cs typeface="Arial"/>
              </a:defRPr>
            </a:pPr>
            <a:r>
              <a:rPr sz="1200" b="1" i="0">
                <a:solidFill>
                  <a:srgbClr val="59636B"/>
                </a:solidFill>
                <a:latin typeface="Arial"/>
                <a:ea typeface="Arial"/>
                <a:cs typeface="Arial"/>
              </a:rPr>
              <a:t>HELD-OUT VALIDATION</a:t>
            </a:r>
          </a:p>
        </p:txBody>
      </p:sp>
      <p:sp>
        <p:nvSpPr>
          <p:cNvPr id="15" name="">
            <a:extLst xmlns:a="http://schemas.openxmlformats.org/drawingml/2006/main">
              <a:ext uri="{FF2B5EF4-FFF2-40B4-BE49-F238E27FC236}">
                <a16:creationId xmlns:a16="http://schemas.microsoft.com/office/drawing/2014/main" id="{4EE4B2A1-5049-4132-B775-25E03D07F0A1}"/>
              </a:ext>
            </a:extLst>
          </p:cNvPr>
          <p:cNvSpPr>
            <a:spLocks xmlns:a="http://schemas.openxmlformats.org/drawingml/2006/main" noGrp="1"/>
          </p:cNvSpPr>
          <p:nvPr/>
        </p:nvSpPr>
        <p:spPr>
          <a:xfrm xmlns:a="http://schemas.openxmlformats.org/drawingml/2006/main">
            <a:off x="6457950" y="3524250"/>
            <a:ext cx="171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3150" b="1" i="0">
                <a:solidFill>
                  <a:srgbClr val="1B6B57"/>
                </a:solidFill>
                <a:latin typeface="Arial"/>
                <a:ea typeface="Arial"/>
                <a:cs typeface="Arial"/>
              </a:defRPr>
            </a:defPPr>
          </a:lstStyle>
          <a:p xmlns:a="http://schemas.openxmlformats.org/drawingml/2006/main">
            <a:pPr algn="l">
              <a:defRPr sz="3150" b="1" i="0">
                <a:solidFill>
                  <a:srgbClr val="1B6B57"/>
                </a:solidFill>
                <a:latin typeface="Arial"/>
                <a:ea typeface="Arial"/>
                <a:cs typeface="Arial"/>
              </a:defRPr>
            </a:pPr>
            <a:r>
              <a:rPr sz="3150" b="1" i="0">
                <a:solidFill>
                  <a:srgbClr val="1B6B57"/>
                </a:solidFill>
                <a:latin typeface="Arial"/>
                <a:ea typeface="Arial"/>
                <a:cs typeface="Arial"/>
              </a:rPr>
              <a:t>0.7119</a:t>
            </a:r>
          </a:p>
        </p:txBody>
      </p:sp>
      <p:sp>
        <p:nvSpPr>
          <p:cNvPr id="16" name="">
            <a:extLst xmlns:a="http://schemas.openxmlformats.org/drawingml/2006/main">
              <a:ext uri="{FF2B5EF4-FFF2-40B4-BE49-F238E27FC236}">
                <a16:creationId xmlns:a16="http://schemas.microsoft.com/office/drawing/2014/main" id="{52D0A22B-1E93-4230-AB60-0EB3D699EF60}"/>
              </a:ext>
            </a:extLst>
          </p:cNvPr>
          <p:cNvSpPr>
            <a:spLocks xmlns:a="http://schemas.openxmlformats.org/drawingml/2006/main" noGrp="1"/>
          </p:cNvSpPr>
          <p:nvPr/>
        </p:nvSpPr>
        <p:spPr>
          <a:xfrm xmlns:a="http://schemas.openxmlformats.org/drawingml/2006/main">
            <a:off x="6457950" y="404812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350" b="0" i="0">
                <a:solidFill>
                  <a:srgbClr val="20262E"/>
                </a:solidFill>
                <a:latin typeface="Arial"/>
                <a:ea typeface="Arial"/>
                <a:cs typeface="Arial"/>
              </a:defRPr>
            </a:defPPr>
          </a:lstStyle>
          <a:p xmlns:a="http://schemas.openxmlformats.org/drawingml/2006/main">
            <a:pPr algn="l">
              <a:defRPr sz="1350" b="0" i="0">
                <a:solidFill>
                  <a:srgbClr val="20262E"/>
                </a:solidFill>
                <a:latin typeface="Arial"/>
                <a:ea typeface="Arial"/>
                <a:cs typeface="Arial"/>
              </a:defRPr>
            </a:pPr>
            <a:r>
              <a:rPr sz="1350" b="0" i="0">
                <a:solidFill>
                  <a:srgbClr val="20262E"/>
                </a:solidFill>
                <a:latin typeface="Arial"/>
                <a:ea typeface="Arial"/>
                <a:cs typeface="Arial"/>
              </a:rPr>
              <a:t>micro F1</a:t>
            </a:r>
          </a:p>
        </p:txBody>
      </p:sp>
      <p:sp>
        <p:nvSpPr>
          <p:cNvPr id="17" name="">
            <a:extLst xmlns:a="http://schemas.openxmlformats.org/drawingml/2006/main">
              <a:ext uri="{FF2B5EF4-FFF2-40B4-BE49-F238E27FC236}">
                <a16:creationId xmlns:a16="http://schemas.microsoft.com/office/drawing/2014/main" id="{19A49E38-6356-4727-9C34-989F12A9A422}"/>
              </a:ext>
            </a:extLst>
          </p:cNvPr>
          <p:cNvSpPr>
            <a:spLocks xmlns:a="http://schemas.openxmlformats.org/drawingml/2006/main" noGrp="1"/>
          </p:cNvSpPr>
          <p:nvPr/>
        </p:nvSpPr>
        <p:spPr>
          <a:xfrm xmlns:a="http://schemas.openxmlformats.org/drawingml/2006/main">
            <a:off x="8391525" y="3524250"/>
            <a:ext cx="171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3150" b="1" i="0">
                <a:solidFill>
                  <a:srgbClr val="1B6B57"/>
                </a:solidFill>
                <a:latin typeface="Arial"/>
                <a:ea typeface="Arial"/>
                <a:cs typeface="Arial"/>
              </a:defRPr>
            </a:defPPr>
          </a:lstStyle>
          <a:p xmlns:a="http://schemas.openxmlformats.org/drawingml/2006/main">
            <a:pPr algn="l">
              <a:defRPr sz="3150" b="1" i="0">
                <a:solidFill>
                  <a:srgbClr val="1B6B57"/>
                </a:solidFill>
                <a:latin typeface="Arial"/>
                <a:ea typeface="Arial"/>
                <a:cs typeface="Arial"/>
              </a:defRPr>
            </a:pPr>
            <a:r>
              <a:rPr sz="3150" b="1" i="0">
                <a:solidFill>
                  <a:srgbClr val="1B6B57"/>
                </a:solidFill>
                <a:latin typeface="Arial"/>
                <a:ea typeface="Arial"/>
                <a:cs typeface="Arial"/>
              </a:rPr>
              <a:t>0.6150</a:t>
            </a:r>
          </a:p>
        </p:txBody>
      </p:sp>
      <p:sp>
        <p:nvSpPr>
          <p:cNvPr id="18" name="">
            <a:extLst xmlns:a="http://schemas.openxmlformats.org/drawingml/2006/main">
              <a:ext uri="{FF2B5EF4-FFF2-40B4-BE49-F238E27FC236}">
                <a16:creationId xmlns:a16="http://schemas.microsoft.com/office/drawing/2014/main" id="{663740A7-2923-465F-AF3D-EC89837BF566}"/>
              </a:ext>
            </a:extLst>
          </p:cNvPr>
          <p:cNvSpPr>
            <a:spLocks xmlns:a="http://schemas.openxmlformats.org/drawingml/2006/main" noGrp="1"/>
          </p:cNvSpPr>
          <p:nvPr/>
        </p:nvSpPr>
        <p:spPr>
          <a:xfrm xmlns:a="http://schemas.openxmlformats.org/drawingml/2006/main">
            <a:off x="8391525" y="404812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350" b="0" i="0">
                <a:solidFill>
                  <a:srgbClr val="20262E"/>
                </a:solidFill>
                <a:latin typeface="Arial"/>
                <a:ea typeface="Arial"/>
                <a:cs typeface="Arial"/>
              </a:defRPr>
            </a:defPPr>
          </a:lstStyle>
          <a:p xmlns:a="http://schemas.openxmlformats.org/drawingml/2006/main">
            <a:pPr algn="l">
              <a:defRPr sz="1350" b="0" i="0">
                <a:solidFill>
                  <a:srgbClr val="20262E"/>
                </a:solidFill>
                <a:latin typeface="Arial"/>
                <a:ea typeface="Arial"/>
                <a:cs typeface="Arial"/>
              </a:defRPr>
            </a:pPr>
            <a:r>
              <a:rPr sz="1350" b="0" i="0">
                <a:solidFill>
                  <a:srgbClr val="20262E"/>
                </a:solidFill>
                <a:latin typeface="Arial"/>
                <a:ea typeface="Arial"/>
                <a:cs typeface="Arial"/>
              </a:rPr>
              <a:t>macro F1</a:t>
            </a:r>
          </a:p>
        </p:txBody>
      </p:sp>
      <p:sp>
        <p:nvSpPr>
          <p:cNvPr id="19" name="">
            <a:extLst xmlns:a="http://schemas.openxmlformats.org/drawingml/2006/main">
              <a:ext uri="{FF2B5EF4-FFF2-40B4-BE49-F238E27FC236}">
                <a16:creationId xmlns:a16="http://schemas.microsoft.com/office/drawing/2014/main" id="{DEAC89F4-9E14-4659-A2C5-4D479D8A9485}"/>
              </a:ext>
            </a:extLst>
          </p:cNvPr>
          <p:cNvSpPr>
            <a:spLocks xmlns:a="http://schemas.openxmlformats.org/drawingml/2006/main" noGrp="1"/>
          </p:cNvSpPr>
          <p:nvPr/>
        </p:nvSpPr>
        <p:spPr>
          <a:xfrm xmlns:a="http://schemas.openxmlformats.org/drawingml/2006/main">
            <a:off x="6457950" y="44481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350" b="1" i="0">
                <a:solidFill>
                  <a:srgbClr val="20262E"/>
                </a:solidFill>
                <a:latin typeface="Arial"/>
                <a:ea typeface="Arial"/>
                <a:cs typeface="Arial"/>
              </a:defRPr>
            </a:defPPr>
          </a:lstStyle>
          <a:p xmlns:a="http://schemas.openxmlformats.org/drawingml/2006/main">
            <a:pPr algn="l">
              <a:defRPr sz="1350" b="1" i="0">
                <a:solidFill>
                  <a:srgbClr val="20262E"/>
                </a:solidFill>
                <a:latin typeface="Arial"/>
                <a:ea typeface="Arial"/>
                <a:cs typeface="Arial"/>
              </a:defRPr>
            </a:pPr>
            <a:r>
              <a:rPr sz="1350" b="1" i="0">
                <a:solidFill>
                  <a:srgbClr val="20262E"/>
                </a:solidFill>
                <a:latin typeface="Arial"/>
                <a:ea typeface="Arial"/>
                <a:cs typeface="Arial"/>
              </a:rPr>
              <a:t>0.3805 exact set match</a:t>
            </a:r>
          </a:p>
        </p:txBody>
      </p:sp>
      <p:sp>
        <p:nvSpPr>
          <p:cNvPr id="20" name="">
            <a:extLst xmlns:a="http://schemas.openxmlformats.org/drawingml/2006/main">
              <a:ext uri="{FF2B5EF4-FFF2-40B4-BE49-F238E27FC236}">
                <a16:creationId xmlns:a16="http://schemas.microsoft.com/office/drawing/2014/main" id="{9217DE6E-DD79-4682-8748-79D98F882130}"/>
              </a:ext>
            </a:extLst>
          </p:cNvPr>
          <p:cNvSpPr>
            <a:spLocks xmlns:a="http://schemas.openxmlformats.org/drawingml/2006/main" noGrp="1"/>
          </p:cNvSpPr>
          <p:nvPr/>
        </p:nvSpPr>
        <p:spPr>
          <a:xfrm xmlns:a="http://schemas.openxmlformats.org/drawingml/2006/main">
            <a:off x="800100" y="5257800"/>
            <a:ext cx="10591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59636B"/>
                </a:solidFill>
                <a:latin typeface="Arial"/>
                <a:ea typeface="Arial"/>
                <a:cs typeface="Arial"/>
              </a:defRPr>
            </a:defPPr>
          </a:lstStyle>
          <a:p xmlns:a="http://schemas.openxmlformats.org/drawingml/2006/main">
            <a:pPr algn="l">
              <a:defRPr sz="1275" b="0" i="0">
                <a:solidFill>
                  <a:srgbClr val="59636B"/>
                </a:solidFill>
                <a:latin typeface="Arial"/>
                <a:ea typeface="Arial"/>
                <a:cs typeface="Arial"/>
              </a:defRPr>
            </a:pPr>
            <a:r>
              <a:rPr sz="1275" b="0" i="0">
                <a:solidFill>
                  <a:srgbClr val="59636B"/>
                </a:solidFill>
                <a:latin typeface="Arial"/>
                <a:ea typeface="Arial"/>
                <a:cs typeface="Arial"/>
              </a:rPr>
              <a:t>The validation used 862 segments from 23 unseen policies. The released v1 model was then fit on all 115 policies. Scores vary by topic; OPP-115 is a small English-language corpus from 2016.</a:t>
            </a:r>
          </a:p>
        </p:txBody>
      </p:sp>
    </p:spTree>
    <p:extLst>
      <p:ext uri="{BB962C8B-B14F-4D97-AF65-F5344CB8AC3E}">
        <p14:creationId xmlns:p14="http://schemas.microsoft.com/office/powerpoint/2010/main" val="716385805"/>
      </p:ext>
    </p:extLst>
  </p:cSld>
</p:sld>
</file>

<file path=ppt/slides/slide4.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C68C642-3E4D-4112-AEB3-EC660FA9F8B3}"/>
              </a:ext>
            </a:extLst>
          </p:cNvPr>
          <p:cNvSpPr>
            <a:spLocks xmlns:a="http://schemas.openxmlformats.org/drawingml/2006/main" noGrp="1"/>
          </p:cNvSpPr>
          <p:nvPr/>
        </p:nvSpPr>
        <p:spPr>
          <a:xfrm xmlns:a="http://schemas.openxmlformats.org/drawingml/2006/main">
            <a:off x="800100" y="45720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00" b="1" i="0">
                <a:solidFill>
                  <a:srgbClr val="1B6B57"/>
                </a:solidFill>
                <a:latin typeface="Arial"/>
                <a:ea typeface="Arial"/>
                <a:cs typeface="Arial"/>
              </a:defRPr>
            </a:defPPr>
          </a:lstStyle>
          <a:p xmlns:a="http://schemas.openxmlformats.org/drawingml/2006/main">
            <a:pPr algn="l">
              <a:defRPr sz="1200" b="1" i="0">
                <a:solidFill>
                  <a:srgbClr val="1B6B57"/>
                </a:solidFill>
                <a:latin typeface="Arial"/>
                <a:ea typeface="Arial"/>
                <a:cs typeface="Arial"/>
              </a:defRPr>
            </a:pPr>
            <a:r>
              <a:rPr sz="1200" b="1" i="0">
                <a:solidFill>
                  <a:srgbClr val="1B6B57"/>
                </a:solidFill>
                <a:latin typeface="Arial"/>
                <a:ea typeface="Arial"/>
                <a:cs typeface="Arial"/>
              </a:rPr>
              <a:t>READING THE OUTPUT</a:t>
            </a:r>
          </a:p>
        </p:txBody>
      </p:sp>
      <p:sp>
        <p:nvSpPr>
          <p:cNvPr id="2" name="">
            <a:extLst xmlns:a="http://schemas.openxmlformats.org/drawingml/2006/main">
              <a:ext uri="{FF2B5EF4-FFF2-40B4-BE49-F238E27FC236}">
                <a16:creationId xmlns:a16="http://schemas.microsoft.com/office/drawing/2014/main" id="{568049BB-2C74-49EA-8B95-0463E5988F07}"/>
              </a:ext>
            </a:extLst>
          </p:cNvPr>
          <p:cNvSpPr>
            <a:spLocks xmlns:a="http://schemas.openxmlformats.org/drawingml/2006/main" noGrp="1"/>
          </p:cNvSpPr>
          <p:nvPr/>
        </p:nvSpPr>
        <p:spPr>
          <a:xfrm xmlns:a="http://schemas.openxmlformats.org/drawingml/2006/main">
            <a:off x="800100" y="79057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3375" b="1" i="0">
                <a:solidFill>
                  <a:srgbClr val="20262E"/>
                </a:solidFill>
                <a:latin typeface="Arial"/>
                <a:ea typeface="Arial"/>
                <a:cs typeface="Arial"/>
              </a:defRPr>
            </a:defPPr>
          </a:lstStyle>
          <a:p xmlns:a="http://schemas.openxmlformats.org/drawingml/2006/main">
            <a:pPr algn="l">
              <a:defRPr sz="3375" b="1" i="0">
                <a:solidFill>
                  <a:srgbClr val="20262E"/>
                </a:solidFill>
                <a:latin typeface="Arial"/>
                <a:ea typeface="Arial"/>
                <a:cs typeface="Arial"/>
              </a:defRPr>
            </a:pPr>
            <a:r>
              <a:rPr sz="3375" b="1" i="0">
                <a:solidFill>
                  <a:srgbClr val="20262E"/>
                </a:solidFill>
                <a:latin typeface="Arial"/>
                <a:ea typeface="Arial"/>
                <a:cs typeface="Arial"/>
              </a:rPr>
              <a:t>Three outputs with different jobs.</a:t>
            </a:r>
          </a:p>
        </p:txBody>
      </p:sp>
      <p:sp>
        <p:nvSpPr>
          <p:cNvPr id="3" name="">
            <a:extLst xmlns:a="http://schemas.openxmlformats.org/drawingml/2006/main">
              <a:ext uri="{FF2B5EF4-FFF2-40B4-BE49-F238E27FC236}">
                <a16:creationId xmlns:a16="http://schemas.microsoft.com/office/drawing/2014/main" id="{6590A012-79E2-4B37-B770-64E7769D1405}"/>
              </a:ext>
            </a:extLst>
          </p:cNvPr>
          <p:cNvSpPr>
            <a:spLocks xmlns:a="http://schemas.openxmlformats.org/drawingml/2006/main" noGrp="1"/>
          </p:cNvSpPr>
          <p:nvPr/>
        </p:nvSpPr>
        <p:spPr>
          <a:xfrm xmlns:a="http://schemas.openxmlformats.org/drawingml/2006/main">
            <a:off x="800100" y="2114550"/>
            <a:ext cx="85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425" b="1" i="0">
                <a:solidFill>
                  <a:srgbClr val="1B6B57"/>
                </a:solidFill>
                <a:latin typeface="Arial"/>
                <a:ea typeface="Arial"/>
                <a:cs typeface="Arial"/>
              </a:defRPr>
            </a:defPPr>
          </a:lstStyle>
          <a:p xmlns:a="http://schemas.openxmlformats.org/drawingml/2006/main">
            <a:pPr algn="l">
              <a:defRPr sz="1425" b="1" i="0">
                <a:solidFill>
                  <a:srgbClr val="1B6B57"/>
                </a:solidFill>
                <a:latin typeface="Arial"/>
                <a:ea typeface="Arial"/>
                <a:cs typeface="Arial"/>
              </a:defRPr>
            </a:pPr>
            <a:r>
              <a:rPr sz="1425" b="1" i="0">
                <a:solidFill>
                  <a:srgbClr val="1B6B57"/>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AB42DABE-4F10-4FEC-A4DD-E14D811040D2}"/>
              </a:ext>
            </a:extLst>
          </p:cNvPr>
          <p:cNvSpPr>
            <a:spLocks xmlns:a="http://schemas.openxmlformats.org/drawingml/2006/main" noGrp="1"/>
          </p:cNvSpPr>
          <p:nvPr/>
        </p:nvSpPr>
        <p:spPr>
          <a:xfrm xmlns:a="http://schemas.openxmlformats.org/drawingml/2006/main">
            <a:off x="800100" y="2571750"/>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100" b="1" i="0">
                <a:solidFill>
                  <a:srgbClr val="20262E"/>
                </a:solidFill>
                <a:latin typeface="Arial"/>
                <a:ea typeface="Arial"/>
                <a:cs typeface="Arial"/>
              </a:defRPr>
            </a:defPPr>
          </a:lstStyle>
          <a:p xmlns:a="http://schemas.openxmlformats.org/drawingml/2006/main">
            <a:pPr algn="l">
              <a:defRPr sz="2100" b="1" i="0">
                <a:solidFill>
                  <a:srgbClr val="20262E"/>
                </a:solidFill>
                <a:latin typeface="Arial"/>
                <a:ea typeface="Arial"/>
                <a:cs typeface="Arial"/>
              </a:defRPr>
            </a:pPr>
            <a:r>
              <a:rPr sz="2100" b="1" i="0">
                <a:solidFill>
                  <a:srgbClr val="20262E"/>
                </a:solidFill>
                <a:latin typeface="Arial"/>
                <a:ea typeface="Arial"/>
                <a:cs typeface="Arial"/>
              </a:rPr>
              <a:t>Trust Score</a:t>
            </a:r>
          </a:p>
        </p:txBody>
      </p:sp>
      <p:sp>
        <p:nvSpPr>
          <p:cNvPr id="5" name="">
            <a:extLst xmlns:a="http://schemas.openxmlformats.org/drawingml/2006/main">
              <a:ext uri="{FF2B5EF4-FFF2-40B4-BE49-F238E27FC236}">
                <a16:creationId xmlns:a16="http://schemas.microsoft.com/office/drawing/2014/main" id="{D20961B5-EF4D-4390-8139-37F923D0303B}"/>
              </a:ext>
            </a:extLst>
          </p:cNvPr>
          <p:cNvSpPr>
            <a:spLocks xmlns:a="http://schemas.openxmlformats.org/drawingml/2006/main" noGrp="1"/>
          </p:cNvSpPr>
          <p:nvPr/>
        </p:nvSpPr>
        <p:spPr>
          <a:xfrm xmlns:a="http://schemas.openxmlformats.org/drawingml/2006/main">
            <a:off x="800100" y="3152775"/>
            <a:ext cx="30099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75" b="0" i="0">
                <a:solidFill>
                  <a:srgbClr val="59636B"/>
                </a:solidFill>
                <a:latin typeface="Arial"/>
                <a:ea typeface="Arial"/>
                <a:cs typeface="Arial"/>
              </a:defRPr>
            </a:defPPr>
          </a:lstStyle>
          <a:p xmlns:a="http://schemas.openxmlformats.org/drawingml/2006/main">
            <a:pPr algn="l">
              <a:defRPr sz="1575" b="0" i="0">
                <a:solidFill>
                  <a:srgbClr val="59636B"/>
                </a:solidFill>
                <a:latin typeface="Arial"/>
                <a:ea typeface="Arial"/>
                <a:cs typeface="Arial"/>
              </a:defRPr>
            </a:pPr>
            <a:r>
              <a:rPr sz="1575" b="0" i="0">
                <a:solidFill>
                  <a:srgbClr val="59636B"/>
                </a:solidFill>
                <a:latin typeface="Arial"/>
                <a:ea typeface="Arial"/>
                <a:cs typeface="Arial"/>
              </a:rPr>
              <a:t>Summarizes weighted rule signals across assessed categories. Coverage shows where text was insufficient.</a:t>
            </a:r>
          </a:p>
        </p:txBody>
      </p:sp>
      <p:sp>
        <p:nvSpPr>
          <p:cNvPr id="6" name="">
            <a:extLst xmlns:a="http://schemas.openxmlformats.org/drawingml/2006/main">
              <a:ext uri="{FF2B5EF4-FFF2-40B4-BE49-F238E27FC236}">
                <a16:creationId xmlns:a16="http://schemas.microsoft.com/office/drawing/2014/main" id="{6AE2018D-8554-44BB-821A-64950AB4B0AB}"/>
              </a:ext>
            </a:extLst>
          </p:cNvPr>
          <p:cNvSpPr>
            <a:spLocks xmlns:a="http://schemas.openxmlformats.org/drawingml/2006/main" noGrp="1"/>
          </p:cNvSpPr>
          <p:nvPr/>
        </p:nvSpPr>
        <p:spPr>
          <a:xfrm xmlns:a="http://schemas.openxmlformats.org/drawingml/2006/main">
            <a:off x="4438650" y="2114550"/>
            <a:ext cx="85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425" b="1" i="0">
                <a:solidFill>
                  <a:srgbClr val="1B6B57"/>
                </a:solidFill>
                <a:latin typeface="Arial"/>
                <a:ea typeface="Arial"/>
                <a:cs typeface="Arial"/>
              </a:defRPr>
            </a:defPPr>
          </a:lstStyle>
          <a:p xmlns:a="http://schemas.openxmlformats.org/drawingml/2006/main">
            <a:pPr algn="l">
              <a:defRPr sz="1425" b="1" i="0">
                <a:solidFill>
                  <a:srgbClr val="1B6B57"/>
                </a:solidFill>
                <a:latin typeface="Arial"/>
                <a:ea typeface="Arial"/>
                <a:cs typeface="Arial"/>
              </a:defRPr>
            </a:pPr>
            <a:r>
              <a:rPr sz="1425" b="1" i="0">
                <a:solidFill>
                  <a:srgbClr val="1B6B57"/>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C6324444-9D38-4F5A-B333-117E2C9D2CB8}"/>
              </a:ext>
            </a:extLst>
          </p:cNvPr>
          <p:cNvSpPr>
            <a:spLocks xmlns:a="http://schemas.openxmlformats.org/drawingml/2006/main" noGrp="1"/>
          </p:cNvSpPr>
          <p:nvPr/>
        </p:nvSpPr>
        <p:spPr>
          <a:xfrm xmlns:a="http://schemas.openxmlformats.org/drawingml/2006/main">
            <a:off x="4438650" y="2571750"/>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100" b="1" i="0">
                <a:solidFill>
                  <a:srgbClr val="20262E"/>
                </a:solidFill>
                <a:latin typeface="Arial"/>
                <a:ea typeface="Arial"/>
                <a:cs typeface="Arial"/>
              </a:defRPr>
            </a:defPPr>
          </a:lstStyle>
          <a:p xmlns:a="http://schemas.openxmlformats.org/drawingml/2006/main">
            <a:pPr algn="l">
              <a:defRPr sz="2100" b="1" i="0">
                <a:solidFill>
                  <a:srgbClr val="20262E"/>
                </a:solidFill>
                <a:latin typeface="Arial"/>
                <a:ea typeface="Arial"/>
                <a:cs typeface="Arial"/>
              </a:defRPr>
            </a:pPr>
            <a:r>
              <a:rPr sz="2100" b="1" i="0">
                <a:solidFill>
                  <a:srgbClr val="20262E"/>
                </a:solidFill>
                <a:latin typeface="Arial"/>
                <a:ea typeface="Arial"/>
                <a:cs typeface="Arial"/>
              </a:rPr>
              <a:t>Rule findings</a:t>
            </a:r>
          </a:p>
        </p:txBody>
      </p:sp>
      <p:sp>
        <p:nvSpPr>
          <p:cNvPr id="8" name="">
            <a:extLst xmlns:a="http://schemas.openxmlformats.org/drawingml/2006/main">
              <a:ext uri="{FF2B5EF4-FFF2-40B4-BE49-F238E27FC236}">
                <a16:creationId xmlns:a16="http://schemas.microsoft.com/office/drawing/2014/main" id="{D3E2C690-685C-4BC0-BD0B-5A436822E38B}"/>
              </a:ext>
            </a:extLst>
          </p:cNvPr>
          <p:cNvSpPr>
            <a:spLocks xmlns:a="http://schemas.openxmlformats.org/drawingml/2006/main" noGrp="1"/>
          </p:cNvSpPr>
          <p:nvPr/>
        </p:nvSpPr>
        <p:spPr>
          <a:xfrm xmlns:a="http://schemas.openxmlformats.org/drawingml/2006/main">
            <a:off x="4438650" y="3152775"/>
            <a:ext cx="30099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75" b="0" i="0">
                <a:solidFill>
                  <a:srgbClr val="59636B"/>
                </a:solidFill>
                <a:latin typeface="Arial"/>
                <a:ea typeface="Arial"/>
                <a:cs typeface="Arial"/>
              </a:defRPr>
            </a:defPPr>
          </a:lstStyle>
          <a:p xmlns:a="http://schemas.openxmlformats.org/drawingml/2006/main">
            <a:pPr algn="l">
              <a:defRPr sz="1575" b="0" i="0">
                <a:solidFill>
                  <a:srgbClr val="59636B"/>
                </a:solidFill>
                <a:latin typeface="Arial"/>
                <a:ea typeface="Arial"/>
                <a:cs typeface="Arial"/>
              </a:defRPr>
            </a:pPr>
            <a:r>
              <a:rPr sz="1575" b="0" i="0">
                <a:solidFill>
                  <a:srgbClr val="59636B"/>
                </a:solidFill>
                <a:latin typeface="Arial"/>
                <a:ea typeface="Arial"/>
                <a:cs typeface="Arial"/>
              </a:rPr>
              <a:t>Point to a matched phrase with a short explanation and a suggested next step.</a:t>
            </a:r>
          </a:p>
        </p:txBody>
      </p:sp>
      <p:sp>
        <p:nvSpPr>
          <p:cNvPr id="9" name="">
            <a:extLst xmlns:a="http://schemas.openxmlformats.org/drawingml/2006/main">
              <a:ext uri="{FF2B5EF4-FFF2-40B4-BE49-F238E27FC236}">
                <a16:creationId xmlns:a16="http://schemas.microsoft.com/office/drawing/2014/main" id="{0E9C7E99-F7FE-4147-A480-DCA99007637D}"/>
              </a:ext>
            </a:extLst>
          </p:cNvPr>
          <p:cNvSpPr>
            <a:spLocks xmlns:a="http://schemas.openxmlformats.org/drawingml/2006/main" noGrp="1"/>
          </p:cNvSpPr>
          <p:nvPr/>
        </p:nvSpPr>
        <p:spPr>
          <a:xfrm xmlns:a="http://schemas.openxmlformats.org/drawingml/2006/main">
            <a:off x="8077200" y="2114550"/>
            <a:ext cx="85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425" b="1" i="0">
                <a:solidFill>
                  <a:srgbClr val="1B6B57"/>
                </a:solidFill>
                <a:latin typeface="Arial"/>
                <a:ea typeface="Arial"/>
                <a:cs typeface="Arial"/>
              </a:defRPr>
            </a:defPPr>
          </a:lstStyle>
          <a:p xmlns:a="http://schemas.openxmlformats.org/drawingml/2006/main">
            <a:pPr algn="l">
              <a:defRPr sz="1425" b="1" i="0">
                <a:solidFill>
                  <a:srgbClr val="1B6B57"/>
                </a:solidFill>
                <a:latin typeface="Arial"/>
                <a:ea typeface="Arial"/>
                <a:cs typeface="Arial"/>
              </a:defRPr>
            </a:pPr>
            <a:r>
              <a:rPr sz="1425" b="1" i="0">
                <a:solidFill>
                  <a:srgbClr val="1B6B57"/>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F484C629-2F1C-4842-A2EC-0A4D8682F7A7}"/>
              </a:ext>
            </a:extLst>
          </p:cNvPr>
          <p:cNvSpPr>
            <a:spLocks xmlns:a="http://schemas.openxmlformats.org/drawingml/2006/main" noGrp="1"/>
          </p:cNvSpPr>
          <p:nvPr/>
        </p:nvSpPr>
        <p:spPr>
          <a:xfrm xmlns:a="http://schemas.openxmlformats.org/drawingml/2006/main">
            <a:off x="8077200" y="2571750"/>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100" b="1" i="0">
                <a:solidFill>
                  <a:srgbClr val="20262E"/>
                </a:solidFill>
                <a:latin typeface="Arial"/>
                <a:ea typeface="Arial"/>
                <a:cs typeface="Arial"/>
              </a:defRPr>
            </a:defPPr>
          </a:lstStyle>
          <a:p xmlns:a="http://schemas.openxmlformats.org/drawingml/2006/main">
            <a:pPr algn="l">
              <a:defRPr sz="2100" b="1" i="0">
                <a:solidFill>
                  <a:srgbClr val="20262E"/>
                </a:solidFill>
                <a:latin typeface="Arial"/>
                <a:ea typeface="Arial"/>
                <a:cs typeface="Arial"/>
              </a:defRPr>
            </a:pPr>
            <a:r>
              <a:rPr sz="2100" b="1" i="0">
                <a:solidFill>
                  <a:srgbClr val="20262E"/>
                </a:solidFill>
                <a:latin typeface="Arial"/>
                <a:ea typeface="Arial"/>
                <a:cs typeface="Arial"/>
              </a:rPr>
              <a:t>Clause tags</a:t>
            </a:r>
          </a:p>
        </p:txBody>
      </p:sp>
      <p:sp>
        <p:nvSpPr>
          <p:cNvPr id="11" name="">
            <a:extLst xmlns:a="http://schemas.openxmlformats.org/drawingml/2006/main">
              <a:ext uri="{FF2B5EF4-FFF2-40B4-BE49-F238E27FC236}">
                <a16:creationId xmlns:a16="http://schemas.microsoft.com/office/drawing/2014/main" id="{AC43C9EF-5D6A-48AF-BBFA-BD0CD283BB35}"/>
              </a:ext>
            </a:extLst>
          </p:cNvPr>
          <p:cNvSpPr>
            <a:spLocks xmlns:a="http://schemas.openxmlformats.org/drawingml/2006/main" noGrp="1"/>
          </p:cNvSpPr>
          <p:nvPr/>
        </p:nvSpPr>
        <p:spPr>
          <a:xfrm xmlns:a="http://schemas.openxmlformats.org/drawingml/2006/main">
            <a:off x="8077200" y="3152775"/>
            <a:ext cx="30099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75" b="0" i="0">
                <a:solidFill>
                  <a:srgbClr val="59636B"/>
                </a:solidFill>
                <a:latin typeface="Arial"/>
                <a:ea typeface="Arial"/>
                <a:cs typeface="Arial"/>
              </a:defRPr>
            </a:defPPr>
          </a:lstStyle>
          <a:p xmlns:a="http://schemas.openxmlformats.org/drawingml/2006/main">
            <a:pPr algn="l">
              <a:defRPr sz="1575" b="0" i="0">
                <a:solidFill>
                  <a:srgbClr val="59636B"/>
                </a:solidFill>
                <a:latin typeface="Arial"/>
                <a:ea typeface="Arial"/>
                <a:cs typeface="Arial"/>
              </a:defRPr>
            </a:pPr>
            <a:r>
              <a:rPr sz="1575" b="0" i="0">
                <a:solidFill>
                  <a:srgbClr val="59636B"/>
                </a:solidFill>
                <a:latin typeface="Arial"/>
                <a:ea typeface="Arial"/>
                <a:cs typeface="Arial"/>
              </a:rPr>
              <a:t>Suggest a topic to help locate relevant language. Model scores are not calibrated probabilities.</a:t>
            </a:r>
          </a:p>
        </p:txBody>
      </p:sp>
      <p:sp>
        <p:nvSpPr>
          <p:cNvPr id="12" name="">
            <a:extLst xmlns:a="http://schemas.openxmlformats.org/drawingml/2006/main">
              <a:ext uri="{FF2B5EF4-FFF2-40B4-BE49-F238E27FC236}">
                <a16:creationId xmlns:a16="http://schemas.microsoft.com/office/drawing/2014/main" id="{E9FA34E8-2E2E-47A5-8EDE-C7498E49E4D7}"/>
              </a:ext>
            </a:extLst>
          </p:cNvPr>
          <p:cNvSpPr>
            <a:spLocks xmlns:a="http://schemas.openxmlformats.org/drawingml/2006/main" noGrp="1"/>
          </p:cNvSpPr>
          <p:nvPr/>
        </p:nvSpPr>
        <p:spPr>
          <a:xfrm xmlns:a="http://schemas.openxmlformats.org/drawingml/2006/main">
            <a:off x="4095750" y="2085975"/>
            <a:ext cx="19050" cy="2495550"/>
          </a:xfrm>
          <a:prstGeom xmlns:a="http://schemas.openxmlformats.org/drawingml/2006/main" prst="rect">
            <a:avLst/>
          </a:prstGeom>
          <a:solidFill xmlns:a="http://schemas.openxmlformats.org/drawingml/2006/main">
            <a:srgbClr val="C8D0CC"/>
          </a:solidFill>
          <a:ln xmlns:a="http://schemas.openxmlformats.org/drawingml/2006/main" w="0">
            <a:solidFill>
              <a:srgbClr val="C8D0CC"/>
            </a:solidFill>
            <a:prstDash val="solid"/>
          </a:ln>
        </p:spPr>
      </p:sp>
      <p:sp>
        <p:nvSpPr>
          <p:cNvPr id="13" name="">
            <a:extLst xmlns:a="http://schemas.openxmlformats.org/drawingml/2006/main">
              <a:ext uri="{FF2B5EF4-FFF2-40B4-BE49-F238E27FC236}">
                <a16:creationId xmlns:a16="http://schemas.microsoft.com/office/drawing/2014/main" id="{5B7BF4AB-8DE2-4AA9-91E6-424088BA2E68}"/>
              </a:ext>
            </a:extLst>
          </p:cNvPr>
          <p:cNvSpPr>
            <a:spLocks xmlns:a="http://schemas.openxmlformats.org/drawingml/2006/main" noGrp="1"/>
          </p:cNvSpPr>
          <p:nvPr/>
        </p:nvSpPr>
        <p:spPr>
          <a:xfrm xmlns:a="http://schemas.openxmlformats.org/drawingml/2006/main">
            <a:off x="7734300" y="2085975"/>
            <a:ext cx="19050" cy="2495550"/>
          </a:xfrm>
          <a:prstGeom xmlns:a="http://schemas.openxmlformats.org/drawingml/2006/main" prst="rect">
            <a:avLst/>
          </a:prstGeom>
          <a:solidFill xmlns:a="http://schemas.openxmlformats.org/drawingml/2006/main">
            <a:srgbClr val="C8D0CC"/>
          </a:solidFill>
          <a:ln xmlns:a="http://schemas.openxmlformats.org/drawingml/2006/main" w="0">
            <a:solidFill>
              <a:srgbClr val="C8D0CC"/>
            </a:solidFill>
            <a:prstDash val="solid"/>
          </a:ln>
        </p:spPr>
      </p:sp>
      <p:sp>
        <p:nvSpPr>
          <p:cNvPr id="14" name="">
            <a:extLst xmlns:a="http://schemas.openxmlformats.org/drawingml/2006/main">
              <a:ext uri="{FF2B5EF4-FFF2-40B4-BE49-F238E27FC236}">
                <a16:creationId xmlns:a16="http://schemas.microsoft.com/office/drawing/2014/main" id="{736195FA-BEFB-45B2-9209-D37B305B7494}"/>
              </a:ext>
            </a:extLst>
          </p:cNvPr>
          <p:cNvSpPr>
            <a:spLocks xmlns:a="http://schemas.openxmlformats.org/drawingml/2006/main" noGrp="1"/>
          </p:cNvSpPr>
          <p:nvPr/>
        </p:nvSpPr>
        <p:spPr>
          <a:xfrm xmlns:a="http://schemas.openxmlformats.org/drawingml/2006/main">
            <a:off x="800100" y="4972050"/>
            <a:ext cx="10591800" cy="19050"/>
          </a:xfrm>
          <a:prstGeom xmlns:a="http://schemas.openxmlformats.org/drawingml/2006/main" prst="rect">
            <a:avLst/>
          </a:prstGeom>
          <a:solidFill xmlns:a="http://schemas.openxmlformats.org/drawingml/2006/main">
            <a:srgbClr val="1B6B57"/>
          </a:solidFill>
          <a:ln xmlns:a="http://schemas.openxmlformats.org/drawingml/2006/main" w="0">
            <a:solidFill>
              <a:srgbClr val="1B6B57"/>
            </a:solidFill>
            <a:prstDash val="solid"/>
          </a:ln>
        </p:spPr>
      </p:sp>
      <p:sp>
        <p:nvSpPr>
          <p:cNvPr id="15" name="">
            <a:extLst xmlns:a="http://schemas.openxmlformats.org/drawingml/2006/main">
              <a:ext uri="{FF2B5EF4-FFF2-40B4-BE49-F238E27FC236}">
                <a16:creationId xmlns:a16="http://schemas.microsoft.com/office/drawing/2014/main" id="{0BCD8B53-0901-44F1-9C86-9CDC9816ACB4}"/>
              </a:ext>
            </a:extLst>
          </p:cNvPr>
          <p:cNvSpPr>
            <a:spLocks xmlns:a="http://schemas.openxmlformats.org/drawingml/2006/main" noGrp="1"/>
          </p:cNvSpPr>
          <p:nvPr/>
        </p:nvSpPr>
        <p:spPr>
          <a:xfrm xmlns:a="http://schemas.openxmlformats.org/drawingml/2006/main">
            <a:off x="800100" y="5248275"/>
            <a:ext cx="10591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75" b="1" i="0">
                <a:solidFill>
                  <a:srgbClr val="20262E"/>
                </a:solidFill>
                <a:latin typeface="Arial"/>
                <a:ea typeface="Arial"/>
                <a:cs typeface="Arial"/>
              </a:defRPr>
            </a:defPPr>
          </a:lstStyle>
          <a:p xmlns:a="http://schemas.openxmlformats.org/drawingml/2006/main">
            <a:pPr algn="l">
              <a:defRPr sz="1575" b="1" i="0">
                <a:solidFill>
                  <a:srgbClr val="20262E"/>
                </a:solidFill>
                <a:latin typeface="Arial"/>
                <a:ea typeface="Arial"/>
                <a:cs typeface="Arial"/>
              </a:defRPr>
            </a:pPr>
            <a:r>
              <a:rPr sz="1575" b="1" i="0">
                <a:solidFill>
                  <a:srgbClr val="20262E"/>
                </a:solidFill>
                <a:latin typeface="Arial"/>
                <a:ea typeface="Arial"/>
                <a:cs typeface="Arial"/>
              </a:rPr>
              <a:t>Read the source policy before acting on any signal. The analyzer does not determine legal compliance.</a:t>
            </a:r>
          </a:p>
        </p:txBody>
      </p:sp>
    </p:spTree>
    <p:extLst>
      <p:ext uri="{BB962C8B-B14F-4D97-AF65-F5344CB8AC3E}">
        <p14:creationId xmlns:p14="http://schemas.microsoft.com/office/powerpoint/2010/main" val="608273368"/>
      </p:ext>
    </p:extLst>
  </p:cSld>
</p:sld>
</file>

<file path=ppt/slides/slide5.xml><?xml version="1.0" encoding="utf-8"?>
<p:sld xmlns:p="http://schemas.openxmlformats.org/presentationml/2006/main">
  <p:cSld>
    <p:bg>
      <p:bgPr>
        <a:solidFill xmlns:a="http://schemas.openxmlformats.org/drawingml/2006/main">
          <a:srgbClr val="1B6B5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1D69A08-3F02-4725-B262-0F97D72B05AA}"/>
              </a:ext>
            </a:extLst>
          </p:cNvPr>
          <p:cNvSpPr>
            <a:spLocks xmlns:a="http://schemas.openxmlformats.org/drawingml/2006/main" noGrp="1"/>
          </p:cNvSpPr>
          <p:nvPr/>
        </p:nvSpPr>
        <p:spPr>
          <a:xfrm xmlns:a="http://schemas.openxmlformats.org/drawingml/2006/main">
            <a:off x="800100" y="45720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00" b="1" i="0">
                <a:solidFill>
                  <a:srgbClr val="E2B34B"/>
                </a:solidFill>
                <a:latin typeface="Arial"/>
                <a:ea typeface="Arial"/>
                <a:cs typeface="Arial"/>
              </a:defRPr>
            </a:defPPr>
          </a:lstStyle>
          <a:p xmlns:a="http://schemas.openxmlformats.org/drawingml/2006/main">
            <a:pPr algn="l">
              <a:defRPr sz="1200" b="1" i="0">
                <a:solidFill>
                  <a:srgbClr val="E2B34B"/>
                </a:solidFill>
                <a:latin typeface="Arial"/>
                <a:ea typeface="Arial"/>
                <a:cs typeface="Arial"/>
              </a:defRPr>
            </a:pPr>
            <a:r>
              <a:rPr sz="1200" b="1" i="0">
                <a:solidFill>
                  <a:srgbClr val="E2B34B"/>
                </a:solidFill>
                <a:latin typeface="Arial"/>
                <a:ea typeface="Arial"/>
                <a:cs typeface="Arial"/>
              </a:rPr>
              <a:t>LIVE DEMO · TJ</a:t>
            </a:r>
          </a:p>
        </p:txBody>
      </p:sp>
      <p:sp>
        <p:nvSpPr>
          <p:cNvPr id="2" name="">
            <a:extLst xmlns:a="http://schemas.openxmlformats.org/drawingml/2006/main">
              <a:ext uri="{FF2B5EF4-FFF2-40B4-BE49-F238E27FC236}">
                <a16:creationId xmlns:a16="http://schemas.microsoft.com/office/drawing/2014/main" id="{FB631C4C-7F96-44C4-82D6-D9F330AAD32E}"/>
              </a:ext>
            </a:extLst>
          </p:cNvPr>
          <p:cNvSpPr>
            <a:spLocks xmlns:a="http://schemas.openxmlformats.org/drawingml/2006/main" noGrp="1"/>
          </p:cNvSpPr>
          <p:nvPr/>
        </p:nvSpPr>
        <p:spPr>
          <a:xfrm xmlns:a="http://schemas.openxmlformats.org/drawingml/2006/main">
            <a:off x="800100" y="79057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3375" b="1" i="0">
                <a:solidFill>
                  <a:srgbClr val="FFFFFF"/>
                </a:solidFill>
                <a:latin typeface="Arial"/>
                <a:ea typeface="Arial"/>
                <a:cs typeface="Arial"/>
              </a:defRPr>
            </a:defPPr>
          </a:lstStyle>
          <a:p xmlns:a="http://schemas.openxmlformats.org/drawingml/2006/main">
            <a:pPr algn="l">
              <a:defRPr sz="3375" b="1" i="0">
                <a:solidFill>
                  <a:srgbClr val="FFFFFF"/>
                </a:solidFill>
                <a:latin typeface="Arial"/>
                <a:ea typeface="Arial"/>
                <a:cs typeface="Arial"/>
              </a:defRPr>
            </a:pPr>
            <a:r>
              <a:rPr sz="3375" b="1" i="0">
                <a:solidFill>
                  <a:srgbClr val="FFFFFF"/>
                </a:solidFill>
                <a:latin typeface="Arial"/>
                <a:ea typeface="Arial"/>
                <a:cs typeface="Arial"/>
              </a:rPr>
              <a:t>One fictional policy, from input to results.</a:t>
            </a:r>
          </a:p>
        </p:txBody>
      </p:sp>
      <p:sp>
        <p:nvSpPr>
          <p:cNvPr id="3" name="">
            <a:extLst xmlns:a="http://schemas.openxmlformats.org/drawingml/2006/main">
              <a:ext uri="{FF2B5EF4-FFF2-40B4-BE49-F238E27FC236}">
                <a16:creationId xmlns:a16="http://schemas.microsoft.com/office/drawing/2014/main" id="{9D1B633A-5D79-46AF-82E7-CE8A740D67DE}"/>
              </a:ext>
            </a:extLst>
          </p:cNvPr>
          <p:cNvSpPr>
            <a:spLocks xmlns:a="http://schemas.openxmlformats.org/drawingml/2006/main" noGrp="1"/>
          </p:cNvSpPr>
          <p:nvPr/>
        </p:nvSpPr>
        <p:spPr>
          <a:xfrm xmlns:a="http://schemas.openxmlformats.org/drawingml/2006/main">
            <a:off x="800100" y="2105025"/>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75" b="1" i="0">
                <a:solidFill>
                  <a:srgbClr val="E2B34B"/>
                </a:solidFill>
                <a:latin typeface="Arial"/>
                <a:ea typeface="Arial"/>
                <a:cs typeface="Arial"/>
              </a:defRPr>
            </a:defPPr>
          </a:lstStyle>
          <a:p xmlns:a="http://schemas.openxmlformats.org/drawingml/2006/main">
            <a:pPr algn="l">
              <a:defRPr sz="1575" b="1" i="0">
                <a:solidFill>
                  <a:srgbClr val="E2B34B"/>
                </a:solidFill>
                <a:latin typeface="Arial"/>
                <a:ea typeface="Arial"/>
                <a:cs typeface="Arial"/>
              </a:defRPr>
            </a:pPr>
            <a:r>
              <a:rPr sz="1575" b="1" i="0">
                <a:solidFill>
                  <a:srgbClr val="E2B34B"/>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6565C60B-C0B6-4A4E-80BD-9A20E6E6B834}"/>
              </a:ext>
            </a:extLst>
          </p:cNvPr>
          <p:cNvSpPr>
            <a:spLocks xmlns:a="http://schemas.openxmlformats.org/drawingml/2006/main" noGrp="1"/>
          </p:cNvSpPr>
          <p:nvPr/>
        </p:nvSpPr>
        <p:spPr>
          <a:xfrm xmlns:a="http://schemas.openxmlformats.org/drawingml/2006/main">
            <a:off x="800100" y="2609850"/>
            <a:ext cx="3095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175" b="1" i="0">
                <a:solidFill>
                  <a:srgbClr val="FFFFFF"/>
                </a:solidFill>
                <a:latin typeface="Arial"/>
                <a:ea typeface="Arial"/>
                <a:cs typeface="Arial"/>
              </a:defRPr>
            </a:defPPr>
          </a:lstStyle>
          <a:p xmlns:a="http://schemas.openxmlformats.org/drawingml/2006/main">
            <a:pPr algn="l">
              <a:defRPr sz="2175" b="1" i="0">
                <a:solidFill>
                  <a:srgbClr val="FFFFFF"/>
                </a:solidFill>
                <a:latin typeface="Arial"/>
                <a:ea typeface="Arial"/>
                <a:cs typeface="Arial"/>
              </a:defRPr>
            </a:pPr>
            <a:r>
              <a:rPr sz="2175" b="1" i="0">
                <a:solidFill>
                  <a:srgbClr val="FFFFFF"/>
                </a:solidFill>
                <a:latin typeface="Arial"/>
                <a:ea typeface="Arial"/>
                <a:cs typeface="Arial"/>
              </a:rPr>
              <a:t>Load the sample</a:t>
            </a:r>
          </a:p>
        </p:txBody>
      </p:sp>
      <p:sp>
        <p:nvSpPr>
          <p:cNvPr id="5" name="">
            <a:extLst xmlns:a="http://schemas.openxmlformats.org/drawingml/2006/main">
              <a:ext uri="{FF2B5EF4-FFF2-40B4-BE49-F238E27FC236}">
                <a16:creationId xmlns:a16="http://schemas.microsoft.com/office/drawing/2014/main" id="{F046D153-DF7D-49DF-B91F-10B48E6E225F}"/>
              </a:ext>
            </a:extLst>
          </p:cNvPr>
          <p:cNvSpPr>
            <a:spLocks xmlns:a="http://schemas.openxmlformats.org/drawingml/2006/main" noGrp="1"/>
          </p:cNvSpPr>
          <p:nvPr/>
        </p:nvSpPr>
        <p:spPr>
          <a:xfrm xmlns:a="http://schemas.openxmlformats.org/drawingml/2006/main">
            <a:off x="800100" y="3171825"/>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75" b="0" i="0">
                <a:solidFill>
                  <a:srgbClr val="DCEBE4"/>
                </a:solidFill>
                <a:latin typeface="Arial"/>
                <a:ea typeface="Arial"/>
                <a:cs typeface="Arial"/>
              </a:defRPr>
            </a:defPPr>
          </a:lstStyle>
          <a:p xmlns:a="http://schemas.openxmlformats.org/drawingml/2006/main">
            <a:pPr algn="l">
              <a:defRPr sz="1575" b="0" i="0">
                <a:solidFill>
                  <a:srgbClr val="DCEBE4"/>
                </a:solidFill>
                <a:latin typeface="Arial"/>
                <a:ea typeface="Arial"/>
                <a:cs typeface="Arial"/>
              </a:defRPr>
            </a:pPr>
            <a:r>
              <a:rPr sz="1575" b="0" i="0">
                <a:solidFill>
                  <a:srgbClr val="DCEBE4"/>
                </a:solidFill>
                <a:latin typeface="Arial"/>
                <a:ea typeface="Arial"/>
                <a:cs typeface="Arial"/>
              </a:rPr>
              <a:t>Select “Try sample policy.” It is written for this classroom demo.</a:t>
            </a:r>
          </a:p>
        </p:txBody>
      </p:sp>
      <p:sp>
        <p:nvSpPr>
          <p:cNvPr id="6" name="">
            <a:extLst xmlns:a="http://schemas.openxmlformats.org/drawingml/2006/main">
              <a:ext uri="{FF2B5EF4-FFF2-40B4-BE49-F238E27FC236}">
                <a16:creationId xmlns:a16="http://schemas.microsoft.com/office/drawing/2014/main" id="{0F317123-A450-4072-91A8-5416E01C9822}"/>
              </a:ext>
            </a:extLst>
          </p:cNvPr>
          <p:cNvSpPr>
            <a:spLocks xmlns:a="http://schemas.openxmlformats.org/drawingml/2006/main" noGrp="1"/>
          </p:cNvSpPr>
          <p:nvPr/>
        </p:nvSpPr>
        <p:spPr>
          <a:xfrm xmlns:a="http://schemas.openxmlformats.org/drawingml/2006/main">
            <a:off x="4095750" y="2085975"/>
            <a:ext cx="19050" cy="2514600"/>
          </a:xfrm>
          <a:prstGeom xmlns:a="http://schemas.openxmlformats.org/drawingml/2006/main" prst="rect">
            <a:avLst/>
          </a:prstGeom>
          <a:solidFill xmlns:a="http://schemas.openxmlformats.org/drawingml/2006/main">
            <a:srgbClr val="6C8D82"/>
          </a:solidFill>
          <a:ln xmlns:a="http://schemas.openxmlformats.org/drawingml/2006/main" w="0">
            <a:solidFill>
              <a:srgbClr val="6C8D82"/>
            </a:solidFill>
            <a:prstDash val="solid"/>
          </a:ln>
        </p:spPr>
      </p:sp>
      <p:sp>
        <p:nvSpPr>
          <p:cNvPr id="7" name="">
            <a:extLst xmlns:a="http://schemas.openxmlformats.org/drawingml/2006/main">
              <a:ext uri="{FF2B5EF4-FFF2-40B4-BE49-F238E27FC236}">
                <a16:creationId xmlns:a16="http://schemas.microsoft.com/office/drawing/2014/main" id="{0514A3F5-F912-4E90-BAEA-707B78D89CA9}"/>
              </a:ext>
            </a:extLst>
          </p:cNvPr>
          <p:cNvSpPr>
            <a:spLocks xmlns:a="http://schemas.openxmlformats.org/drawingml/2006/main" noGrp="1"/>
          </p:cNvSpPr>
          <p:nvPr/>
        </p:nvSpPr>
        <p:spPr>
          <a:xfrm xmlns:a="http://schemas.openxmlformats.org/drawingml/2006/main">
            <a:off x="4438650" y="2105025"/>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75" b="1" i="0">
                <a:solidFill>
                  <a:srgbClr val="E2B34B"/>
                </a:solidFill>
                <a:latin typeface="Arial"/>
                <a:ea typeface="Arial"/>
                <a:cs typeface="Arial"/>
              </a:defRPr>
            </a:defPPr>
          </a:lstStyle>
          <a:p xmlns:a="http://schemas.openxmlformats.org/drawingml/2006/main">
            <a:pPr algn="l">
              <a:defRPr sz="1575" b="1" i="0">
                <a:solidFill>
                  <a:srgbClr val="E2B34B"/>
                </a:solidFill>
                <a:latin typeface="Arial"/>
                <a:ea typeface="Arial"/>
                <a:cs typeface="Arial"/>
              </a:defRPr>
            </a:pPr>
            <a:r>
              <a:rPr sz="1575" b="1" i="0">
                <a:solidFill>
                  <a:srgbClr val="E2B34B"/>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28BE1600-E10E-44CB-AAAA-53B3BA26EC74}"/>
              </a:ext>
            </a:extLst>
          </p:cNvPr>
          <p:cNvSpPr>
            <a:spLocks xmlns:a="http://schemas.openxmlformats.org/drawingml/2006/main" noGrp="1"/>
          </p:cNvSpPr>
          <p:nvPr/>
        </p:nvSpPr>
        <p:spPr>
          <a:xfrm xmlns:a="http://schemas.openxmlformats.org/drawingml/2006/main">
            <a:off x="4438650" y="2609850"/>
            <a:ext cx="3095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175" b="1" i="0">
                <a:solidFill>
                  <a:srgbClr val="FFFFFF"/>
                </a:solidFill>
                <a:latin typeface="Arial"/>
                <a:ea typeface="Arial"/>
                <a:cs typeface="Arial"/>
              </a:defRPr>
            </a:defPPr>
          </a:lstStyle>
          <a:p xmlns:a="http://schemas.openxmlformats.org/drawingml/2006/main">
            <a:pPr algn="l">
              <a:defRPr sz="2175" b="1" i="0">
                <a:solidFill>
                  <a:srgbClr val="FFFFFF"/>
                </a:solidFill>
                <a:latin typeface="Arial"/>
                <a:ea typeface="Arial"/>
                <a:cs typeface="Arial"/>
              </a:defRPr>
            </a:pPr>
            <a:r>
              <a:rPr sz="2175" b="1" i="0">
                <a:solidFill>
                  <a:srgbClr val="FFFFFF"/>
                </a:solidFill>
                <a:latin typeface="Arial"/>
                <a:ea typeface="Arial"/>
                <a:cs typeface="Arial"/>
              </a:rPr>
              <a:t>Run analysis</a:t>
            </a:r>
          </a:p>
        </p:txBody>
      </p:sp>
      <p:sp>
        <p:nvSpPr>
          <p:cNvPr id="9" name="">
            <a:extLst xmlns:a="http://schemas.openxmlformats.org/drawingml/2006/main">
              <a:ext uri="{FF2B5EF4-FFF2-40B4-BE49-F238E27FC236}">
                <a16:creationId xmlns:a16="http://schemas.microsoft.com/office/drawing/2014/main" id="{5A62F42A-6A7A-48B1-86D3-33760C81B7E1}"/>
              </a:ext>
            </a:extLst>
          </p:cNvPr>
          <p:cNvSpPr>
            <a:spLocks xmlns:a="http://schemas.openxmlformats.org/drawingml/2006/main" noGrp="1"/>
          </p:cNvSpPr>
          <p:nvPr/>
        </p:nvSpPr>
        <p:spPr>
          <a:xfrm xmlns:a="http://schemas.openxmlformats.org/drawingml/2006/main">
            <a:off x="4438650" y="3171825"/>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75" b="0" i="0">
                <a:solidFill>
                  <a:srgbClr val="DCEBE4"/>
                </a:solidFill>
                <a:latin typeface="Arial"/>
                <a:ea typeface="Arial"/>
                <a:cs typeface="Arial"/>
              </a:defRPr>
            </a:defPPr>
          </a:lstStyle>
          <a:p xmlns:a="http://schemas.openxmlformats.org/drawingml/2006/main">
            <a:pPr algn="l">
              <a:defRPr sz="1575" b="0" i="0">
                <a:solidFill>
                  <a:srgbClr val="DCEBE4"/>
                </a:solidFill>
                <a:latin typeface="Arial"/>
                <a:ea typeface="Arial"/>
                <a:cs typeface="Arial"/>
              </a:defRPr>
            </a:pPr>
            <a:r>
              <a:rPr sz="1575" b="0" i="0">
                <a:solidFill>
                  <a:srgbClr val="DCEBE4"/>
                </a:solidFill>
                <a:latin typeface="Arial"/>
                <a:ea typeface="Arial"/>
                <a:cs typeface="Arial"/>
              </a:rPr>
              <a:t>Select “Analyze policy” and let the result appear.</a:t>
            </a:r>
          </a:p>
        </p:txBody>
      </p:sp>
      <p:sp>
        <p:nvSpPr>
          <p:cNvPr id="10" name="">
            <a:extLst xmlns:a="http://schemas.openxmlformats.org/drawingml/2006/main">
              <a:ext uri="{FF2B5EF4-FFF2-40B4-BE49-F238E27FC236}">
                <a16:creationId xmlns:a16="http://schemas.microsoft.com/office/drawing/2014/main" id="{84DAC395-0A7D-47E8-AA92-B5BC3BD88A77}"/>
              </a:ext>
            </a:extLst>
          </p:cNvPr>
          <p:cNvSpPr>
            <a:spLocks xmlns:a="http://schemas.openxmlformats.org/drawingml/2006/main" noGrp="1"/>
          </p:cNvSpPr>
          <p:nvPr/>
        </p:nvSpPr>
        <p:spPr>
          <a:xfrm xmlns:a="http://schemas.openxmlformats.org/drawingml/2006/main">
            <a:off x="7734300" y="2085975"/>
            <a:ext cx="19050" cy="2514600"/>
          </a:xfrm>
          <a:prstGeom xmlns:a="http://schemas.openxmlformats.org/drawingml/2006/main" prst="rect">
            <a:avLst/>
          </a:prstGeom>
          <a:solidFill xmlns:a="http://schemas.openxmlformats.org/drawingml/2006/main">
            <a:srgbClr val="6C8D82"/>
          </a:solidFill>
          <a:ln xmlns:a="http://schemas.openxmlformats.org/drawingml/2006/main" w="0">
            <a:solidFill>
              <a:srgbClr val="6C8D82"/>
            </a:solidFill>
            <a:prstDash val="solid"/>
          </a:ln>
        </p:spPr>
      </p:sp>
      <p:sp>
        <p:nvSpPr>
          <p:cNvPr id="11" name="">
            <a:extLst xmlns:a="http://schemas.openxmlformats.org/drawingml/2006/main">
              <a:ext uri="{FF2B5EF4-FFF2-40B4-BE49-F238E27FC236}">
                <a16:creationId xmlns:a16="http://schemas.microsoft.com/office/drawing/2014/main" id="{ADB8A8C8-2A36-40C0-BC10-53898CA5FF04}"/>
              </a:ext>
            </a:extLst>
          </p:cNvPr>
          <p:cNvSpPr>
            <a:spLocks xmlns:a="http://schemas.openxmlformats.org/drawingml/2006/main" noGrp="1"/>
          </p:cNvSpPr>
          <p:nvPr/>
        </p:nvSpPr>
        <p:spPr>
          <a:xfrm xmlns:a="http://schemas.openxmlformats.org/drawingml/2006/main">
            <a:off x="8077200" y="2105025"/>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75" b="1" i="0">
                <a:solidFill>
                  <a:srgbClr val="E2B34B"/>
                </a:solidFill>
                <a:latin typeface="Arial"/>
                <a:ea typeface="Arial"/>
                <a:cs typeface="Arial"/>
              </a:defRPr>
            </a:defPPr>
          </a:lstStyle>
          <a:p xmlns:a="http://schemas.openxmlformats.org/drawingml/2006/main">
            <a:pPr algn="l">
              <a:defRPr sz="1575" b="1" i="0">
                <a:solidFill>
                  <a:srgbClr val="E2B34B"/>
                </a:solidFill>
                <a:latin typeface="Arial"/>
                <a:ea typeface="Arial"/>
                <a:cs typeface="Arial"/>
              </a:defRPr>
            </a:pPr>
            <a:r>
              <a:rPr sz="1575" b="1" i="0">
                <a:solidFill>
                  <a:srgbClr val="E2B34B"/>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7DB10147-069F-45C6-949B-48C70DDC5CA6}"/>
              </a:ext>
            </a:extLst>
          </p:cNvPr>
          <p:cNvSpPr>
            <a:spLocks xmlns:a="http://schemas.openxmlformats.org/drawingml/2006/main" noGrp="1"/>
          </p:cNvSpPr>
          <p:nvPr/>
        </p:nvSpPr>
        <p:spPr>
          <a:xfrm xmlns:a="http://schemas.openxmlformats.org/drawingml/2006/main">
            <a:off x="8077200" y="26098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175" b="1" i="0">
                <a:solidFill>
                  <a:srgbClr val="FFFFFF"/>
                </a:solidFill>
                <a:latin typeface="Arial"/>
                <a:ea typeface="Arial"/>
                <a:cs typeface="Arial"/>
              </a:defRPr>
            </a:defPPr>
          </a:lstStyle>
          <a:p xmlns:a="http://schemas.openxmlformats.org/drawingml/2006/main">
            <a:pPr algn="l">
              <a:defRPr sz="2175" b="1" i="0">
                <a:solidFill>
                  <a:srgbClr val="FFFFFF"/>
                </a:solidFill>
                <a:latin typeface="Arial"/>
                <a:ea typeface="Arial"/>
                <a:cs typeface="Arial"/>
              </a:defRPr>
            </a:pPr>
            <a:r>
              <a:rPr sz="2175" b="1" i="0">
                <a:solidFill>
                  <a:srgbClr val="FFFFFF"/>
                </a:solidFill>
                <a:latin typeface="Arial"/>
                <a:ea typeface="Arial"/>
                <a:cs typeface="Arial"/>
              </a:rPr>
              <a:t>Trace each signal</a:t>
            </a:r>
          </a:p>
        </p:txBody>
      </p:sp>
      <p:sp>
        <p:nvSpPr>
          <p:cNvPr id="13" name="">
            <a:extLst xmlns:a="http://schemas.openxmlformats.org/drawingml/2006/main">
              <a:ext uri="{FF2B5EF4-FFF2-40B4-BE49-F238E27FC236}">
                <a16:creationId xmlns:a16="http://schemas.microsoft.com/office/drawing/2014/main" id="{60EC658D-C87C-4AD3-95D7-6F96BC7D5CA1}"/>
              </a:ext>
            </a:extLst>
          </p:cNvPr>
          <p:cNvSpPr>
            <a:spLocks xmlns:a="http://schemas.openxmlformats.org/drawingml/2006/main" noGrp="1"/>
          </p:cNvSpPr>
          <p:nvPr/>
        </p:nvSpPr>
        <p:spPr>
          <a:xfrm xmlns:a="http://schemas.openxmlformats.org/drawingml/2006/main">
            <a:off x="8077200" y="3171825"/>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75" b="0" i="0">
                <a:solidFill>
                  <a:srgbClr val="DCEBE4"/>
                </a:solidFill>
                <a:latin typeface="Arial"/>
                <a:ea typeface="Arial"/>
                <a:cs typeface="Arial"/>
              </a:defRPr>
            </a:defPPr>
          </a:lstStyle>
          <a:p xmlns:a="http://schemas.openxmlformats.org/drawingml/2006/main">
            <a:pPr algn="l">
              <a:defRPr sz="1575" b="0" i="0">
                <a:solidFill>
                  <a:srgbClr val="DCEBE4"/>
                </a:solidFill>
                <a:latin typeface="Arial"/>
                <a:ea typeface="Arial"/>
                <a:cs typeface="Arial"/>
              </a:defRPr>
            </a:pPr>
            <a:r>
              <a:rPr sz="1575" b="0" i="0">
                <a:solidFill>
                  <a:srgbClr val="DCEBE4"/>
                </a:solidFill>
                <a:latin typeface="Arial"/>
                <a:ea typeface="Arial"/>
                <a:cs typeface="Arial"/>
              </a:rPr>
              <a:t>Show category coverage, rule evidence, and any clause tags beside the source.</a:t>
            </a:r>
          </a:p>
        </p:txBody>
      </p:sp>
      <p:sp>
        <p:nvSpPr>
          <p:cNvPr id="14" name="">
            <a:extLst xmlns:a="http://schemas.openxmlformats.org/drawingml/2006/main">
              <a:ext uri="{FF2B5EF4-FFF2-40B4-BE49-F238E27FC236}">
                <a16:creationId xmlns:a16="http://schemas.microsoft.com/office/drawing/2014/main" id="{321416C1-18EF-43BF-B724-2AD9FD5DD4CA}"/>
              </a:ext>
            </a:extLst>
          </p:cNvPr>
          <p:cNvSpPr>
            <a:spLocks xmlns:a="http://schemas.openxmlformats.org/drawingml/2006/main" noGrp="1"/>
          </p:cNvSpPr>
          <p:nvPr/>
        </p:nvSpPr>
        <p:spPr>
          <a:xfrm xmlns:a="http://schemas.openxmlformats.org/drawingml/2006/main">
            <a:off x="800100" y="4972050"/>
            <a:ext cx="10591800" cy="19050"/>
          </a:xfrm>
          <a:prstGeom xmlns:a="http://schemas.openxmlformats.org/drawingml/2006/main" prst="rect">
            <a:avLst/>
          </a:prstGeom>
          <a:solidFill xmlns:a="http://schemas.openxmlformats.org/drawingml/2006/main">
            <a:srgbClr val="6C8D82"/>
          </a:solidFill>
          <a:ln xmlns:a="http://schemas.openxmlformats.org/drawingml/2006/main" w="0">
            <a:solidFill>
              <a:srgbClr val="6C8D82"/>
            </a:solidFill>
            <a:prstDash val="solid"/>
          </a:ln>
        </p:spPr>
      </p:sp>
      <p:sp>
        <p:nvSpPr>
          <p:cNvPr id="15" name="">
            <a:extLst xmlns:a="http://schemas.openxmlformats.org/drawingml/2006/main">
              <a:ext uri="{FF2B5EF4-FFF2-40B4-BE49-F238E27FC236}">
                <a16:creationId xmlns:a16="http://schemas.microsoft.com/office/drawing/2014/main" id="{B0EC98C1-7CB8-4E0A-9108-242AB188BCFC}"/>
              </a:ext>
            </a:extLst>
          </p:cNvPr>
          <p:cNvSpPr>
            <a:spLocks xmlns:a="http://schemas.openxmlformats.org/drawingml/2006/main" noGrp="1"/>
          </p:cNvSpPr>
          <p:nvPr/>
        </p:nvSpPr>
        <p:spPr>
          <a:xfrm xmlns:a="http://schemas.openxmlformats.org/drawingml/2006/main">
            <a:off x="800100" y="5276850"/>
            <a:ext cx="105918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650" b="1" i="0">
                <a:solidFill>
                  <a:srgbClr val="FFFFFF"/>
                </a:solidFill>
                <a:latin typeface="Arial"/>
                <a:ea typeface="Arial"/>
                <a:cs typeface="Arial"/>
              </a:defRPr>
            </a:defPPr>
          </a:lstStyle>
          <a:p xmlns:a="http://schemas.openxmlformats.org/drawingml/2006/main">
            <a:pPr algn="l">
              <a:defRPr sz="1650" b="1" i="0">
                <a:solidFill>
                  <a:srgbClr val="FFFFFF"/>
                </a:solidFill>
                <a:latin typeface="Arial"/>
                <a:ea typeface="Arial"/>
                <a:cs typeface="Arial"/>
              </a:defRPr>
            </a:pPr>
            <a:r>
              <a:rPr sz="1650" b="1" i="0">
                <a:solidFill>
                  <a:srgbClr val="FFFFFF"/>
                </a:solidFill>
                <a:latin typeface="Arial"/>
                <a:ea typeface="Arial"/>
                <a:cs typeface="Arial"/>
              </a:rPr>
              <a:t>TJ operates the app and narrates the result.</a:t>
            </a:r>
          </a:p>
        </p:txBody>
      </p:sp>
    </p:spTree>
    <p:extLst>
      <p:ext uri="{BB962C8B-B14F-4D97-AF65-F5344CB8AC3E}">
        <p14:creationId xmlns:p14="http://schemas.microsoft.com/office/powerpoint/2010/main" val="505922081"/>
      </p:ext>
    </p:extLst>
  </p:cSld>
</p:sld>
</file>

<file path=ppt/slides/slide6.xml><?xml version="1.0" encoding="utf-8"?>
<p:sld xmlns:p="http://schemas.openxmlformats.org/presentationml/2006/main">
  <p:cSld>
    <p:bg>
      <p:bgPr>
        <a:solidFill xmlns:a="http://schemas.openxmlformats.org/drawingml/2006/main">
          <a:srgbClr val="20262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3EE7EFB-3D23-470C-8D2A-1ABEE41BCC0E}"/>
              </a:ext>
            </a:extLst>
          </p:cNvPr>
          <p:cNvSpPr>
            <a:spLocks xmlns:a="http://schemas.openxmlformats.org/drawingml/2006/main" noGrp="1"/>
          </p:cNvSpPr>
          <p:nvPr/>
        </p:nvSpPr>
        <p:spPr>
          <a:xfrm xmlns:a="http://schemas.openxmlformats.org/drawingml/2006/main">
            <a:off x="800100" y="704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1" i="0">
                <a:solidFill>
                  <a:srgbClr val="E2B34B"/>
                </a:solidFill>
                <a:latin typeface="Arial"/>
                <a:ea typeface="Arial"/>
                <a:cs typeface="Arial"/>
              </a:defRPr>
            </a:defPPr>
          </a:lstStyle>
          <a:p xmlns:a="http://schemas.openxmlformats.org/drawingml/2006/main">
            <a:pPr algn="l">
              <a:defRPr sz="1275" b="1" i="0">
                <a:solidFill>
                  <a:srgbClr val="E2B34B"/>
                </a:solidFill>
                <a:latin typeface="Arial"/>
                <a:ea typeface="Arial"/>
                <a:cs typeface="Arial"/>
              </a:defRPr>
            </a:pPr>
            <a:r>
              <a:rPr sz="1275" b="1" i="0">
                <a:solidFill>
                  <a:srgbClr val="E2B34B"/>
                </a:solidFill>
                <a:latin typeface="Arial"/>
                <a:ea typeface="Arial"/>
                <a:cs typeface="Arial"/>
              </a:rPr>
              <a:t>TAKEAWAY</a:t>
            </a:r>
          </a:p>
        </p:txBody>
      </p:sp>
      <p:sp>
        <p:nvSpPr>
          <p:cNvPr id="2" name="">
            <a:extLst xmlns:a="http://schemas.openxmlformats.org/drawingml/2006/main">
              <a:ext uri="{FF2B5EF4-FFF2-40B4-BE49-F238E27FC236}">
                <a16:creationId xmlns:a16="http://schemas.microsoft.com/office/drawing/2014/main" id="{19C4106F-731B-41F2-844F-5C480C28BD8B}"/>
              </a:ext>
            </a:extLst>
          </p:cNvPr>
          <p:cNvSpPr>
            <a:spLocks xmlns:a="http://schemas.openxmlformats.org/drawingml/2006/main" noGrp="1"/>
          </p:cNvSpPr>
          <p:nvPr/>
        </p:nvSpPr>
        <p:spPr>
          <a:xfrm xmlns:a="http://schemas.openxmlformats.org/drawingml/2006/main">
            <a:off x="800100" y="1476375"/>
            <a:ext cx="100012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4350" b="1" i="0">
                <a:solidFill>
                  <a:srgbClr val="FFFFFF"/>
                </a:solidFill>
                <a:latin typeface="Arial"/>
                <a:ea typeface="Arial"/>
                <a:cs typeface="Arial"/>
              </a:defRPr>
            </a:defPPr>
          </a:lstStyle>
          <a:p xmlns:a="http://schemas.openxmlformats.org/drawingml/2006/main">
            <a:pPr algn="l">
              <a:defRPr sz="4350" b="1" i="0">
                <a:solidFill>
                  <a:srgbClr val="FFFFFF"/>
                </a:solidFill>
                <a:latin typeface="Arial"/>
                <a:ea typeface="Arial"/>
                <a:cs typeface="Arial"/>
              </a:defRPr>
            </a:pPr>
            <a:r>
              <a:rPr sz="4350" b="1" i="0">
                <a:solidFill>
                  <a:srgbClr val="FFFFFF"/>
                </a:solidFill>
                <a:latin typeface="Arial"/>
                <a:ea typeface="Arial"/>
                <a:cs typeface="Arial"/>
              </a:rPr>
              <a:t>Use each signal as a lead</a:t>
            </a:r>
          </a:p>
          <a:p xmlns:a="http://schemas.openxmlformats.org/drawingml/2006/main">
            <a:pPr algn="l">
              <a:defRPr sz="4350" b="1" i="0">
                <a:solidFill>
                  <a:srgbClr val="FFFFFF"/>
                </a:solidFill>
                <a:latin typeface="Arial"/>
                <a:ea typeface="Arial"/>
                <a:cs typeface="Arial"/>
              </a:defRPr>
            </a:pPr>
            <a:r>
              <a:rPr sz="4350" b="1" i="0">
                <a:solidFill>
                  <a:srgbClr val="FFFFFF"/>
                </a:solidFill>
                <a:latin typeface="Arial"/>
                <a:ea typeface="Arial"/>
                <a:cs typeface="Arial"/>
              </a:rPr>
              <a:t>back to the original policy.</a:t>
            </a:r>
          </a:p>
        </p:txBody>
      </p:sp>
      <p:sp>
        <p:nvSpPr>
          <p:cNvPr id="3" name="">
            <a:extLst xmlns:a="http://schemas.openxmlformats.org/drawingml/2006/main">
              <a:ext uri="{FF2B5EF4-FFF2-40B4-BE49-F238E27FC236}">
                <a16:creationId xmlns:a16="http://schemas.microsoft.com/office/drawing/2014/main" id="{47216880-BB83-4A8F-A531-BEB14E524294}"/>
              </a:ext>
            </a:extLst>
          </p:cNvPr>
          <p:cNvSpPr>
            <a:spLocks xmlns:a="http://schemas.openxmlformats.org/drawingml/2006/main" noGrp="1"/>
          </p:cNvSpPr>
          <p:nvPr/>
        </p:nvSpPr>
        <p:spPr>
          <a:xfrm xmlns:a="http://schemas.openxmlformats.org/drawingml/2006/main">
            <a:off x="800100" y="3667125"/>
            <a:ext cx="10591800" cy="19050"/>
          </a:xfrm>
          <a:prstGeom xmlns:a="http://schemas.openxmlformats.org/drawingml/2006/main" prst="rect">
            <a:avLst/>
          </a:prstGeom>
          <a:solidFill xmlns:a="http://schemas.openxmlformats.org/drawingml/2006/main">
            <a:srgbClr val="52605D"/>
          </a:solidFill>
          <a:ln xmlns:a="http://schemas.openxmlformats.org/drawingml/2006/main" w="0">
            <a:solidFill>
              <a:srgbClr val="52605D"/>
            </a:solidFill>
            <a:prstDash val="solid"/>
          </a:ln>
        </p:spPr>
      </p:sp>
      <p:sp>
        <p:nvSpPr>
          <p:cNvPr id="4" name="">
            <a:extLst xmlns:a="http://schemas.openxmlformats.org/drawingml/2006/main">
              <a:ext uri="{FF2B5EF4-FFF2-40B4-BE49-F238E27FC236}">
                <a16:creationId xmlns:a16="http://schemas.microsoft.com/office/drawing/2014/main" id="{03C529A2-22CD-4E7F-A73C-C2CFD21238C2}"/>
              </a:ext>
            </a:extLst>
          </p:cNvPr>
          <p:cNvSpPr>
            <a:spLocks xmlns:a="http://schemas.openxmlformats.org/drawingml/2006/main" noGrp="1"/>
          </p:cNvSpPr>
          <p:nvPr/>
        </p:nvSpPr>
        <p:spPr>
          <a:xfrm xmlns:a="http://schemas.openxmlformats.org/drawingml/2006/main">
            <a:off x="800100" y="4010025"/>
            <a:ext cx="628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875" b="0" i="0">
                <a:solidFill>
                  <a:srgbClr val="DCEBE4"/>
                </a:solidFill>
                <a:latin typeface="Arial"/>
                <a:ea typeface="Arial"/>
                <a:cs typeface="Arial"/>
              </a:defRPr>
            </a:defPPr>
          </a:lstStyle>
          <a:p xmlns:a="http://schemas.openxmlformats.org/drawingml/2006/main">
            <a:pPr algn="l">
              <a:defRPr sz="1875" b="0" i="0">
                <a:solidFill>
                  <a:srgbClr val="DCEBE4"/>
                </a:solidFill>
                <a:latin typeface="Arial"/>
                <a:ea typeface="Arial"/>
                <a:cs typeface="Arial"/>
              </a:defRPr>
            </a:pPr>
            <a:r>
              <a:rPr sz="1875" b="0" i="0">
                <a:solidFill>
                  <a:srgbClr val="DCEBE4"/>
                </a:solidFill>
                <a:latin typeface="Arial"/>
                <a:ea typeface="Arial"/>
                <a:cs typeface="Arial"/>
              </a:rPr>
              <a:t>A class prototype for policy review</a:t>
            </a:r>
          </a:p>
        </p:txBody>
      </p:sp>
      <p:sp>
        <p:nvSpPr>
          <p:cNvPr id="5" name="">
            <a:extLst xmlns:a="http://schemas.openxmlformats.org/drawingml/2006/main">
              <a:ext uri="{FF2B5EF4-FFF2-40B4-BE49-F238E27FC236}">
                <a16:creationId xmlns:a16="http://schemas.microsoft.com/office/drawing/2014/main" id="{E8DB6033-C90E-47C0-8020-0530736C6D7A}"/>
              </a:ext>
            </a:extLst>
          </p:cNvPr>
          <p:cNvSpPr>
            <a:spLocks xmlns:a="http://schemas.openxmlformats.org/drawingml/2006/main" noGrp="1"/>
          </p:cNvSpPr>
          <p:nvPr/>
        </p:nvSpPr>
        <p:spPr>
          <a:xfrm xmlns:a="http://schemas.openxmlformats.org/drawingml/2006/main">
            <a:off x="800100" y="4591050"/>
            <a:ext cx="895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00" b="0" i="0">
                <a:solidFill>
                  <a:srgbClr val="BAC5C1"/>
                </a:solidFill>
                <a:latin typeface="Arial"/>
                <a:ea typeface="Arial"/>
                <a:cs typeface="Arial"/>
              </a:defRPr>
            </a:defPPr>
          </a:lstStyle>
          <a:p xmlns:a="http://schemas.openxmlformats.org/drawingml/2006/main">
            <a:pPr algn="l">
              <a:defRPr sz="1500" b="0" i="0">
                <a:solidFill>
                  <a:srgbClr val="BAC5C1"/>
                </a:solidFill>
                <a:latin typeface="Arial"/>
                <a:ea typeface="Arial"/>
                <a:cs typeface="Arial"/>
              </a:defRPr>
            </a:pPr>
            <a:r>
              <a:rPr sz="1500" b="0" i="0">
                <a:solidFill>
                  <a:srgbClr val="BAC5C1"/>
                </a:solidFill>
                <a:latin typeface="Arial"/>
                <a:ea typeface="Arial"/>
                <a:cs typeface="Arial"/>
              </a:rPr>
              <a:t>Educational signals only. No legal advice or compliance determination.</a:t>
            </a:r>
          </a:p>
        </p:txBody>
      </p:sp>
      <p:sp>
        <p:nvSpPr>
          <p:cNvPr id="6" name="">
            <a:extLst xmlns:a="http://schemas.openxmlformats.org/drawingml/2006/main">
              <a:ext uri="{FF2B5EF4-FFF2-40B4-BE49-F238E27FC236}">
                <a16:creationId xmlns:a16="http://schemas.microsoft.com/office/drawing/2014/main" id="{448FCA94-0C2E-4A35-8CEA-3C5AB25A10DB}"/>
              </a:ext>
            </a:extLst>
          </p:cNvPr>
          <p:cNvSpPr>
            <a:spLocks xmlns:a="http://schemas.openxmlformats.org/drawingml/2006/main" noGrp="1"/>
          </p:cNvSpPr>
          <p:nvPr/>
        </p:nvSpPr>
        <p:spPr>
          <a:xfrm xmlns:a="http://schemas.openxmlformats.org/drawingml/2006/main">
            <a:off x="800100" y="5648325"/>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425" b="0" i="0">
                <a:solidFill>
                  <a:srgbClr val="FFFFFF"/>
                </a:solidFill>
                <a:latin typeface="Arial"/>
                <a:ea typeface="Arial"/>
                <a:cs typeface="Arial"/>
              </a:defRPr>
            </a:defPPr>
          </a:lstStyle>
          <a:p xmlns:a="http://schemas.openxmlformats.org/drawingml/2006/main">
            <a:pPr algn="l">
              <a:defRPr sz="1425" b="0" i="0">
                <a:solidFill>
                  <a:srgbClr val="FFFFFF"/>
                </a:solidFill>
                <a:latin typeface="Arial"/>
                <a:ea typeface="Arial"/>
                <a:cs typeface="Arial"/>
              </a:defRPr>
            </a:pPr>
            <a:r>
              <a:rPr sz="1425" b="0" i="0">
                <a:solidFill>
                  <a:srgbClr val="FFFFFF"/>
                </a:solidFill>
                <a:latin typeface="Arial"/>
                <a:ea typeface="Arial"/>
                <a:cs typeface="Arial"/>
              </a:rPr>
              <a:t>Anthony · Amon · TJ</a:t>
            </a:r>
          </a:p>
        </p:txBody>
      </p:sp>
    </p:spTree>
    <p:extLst>
      <p:ext uri="{BB962C8B-B14F-4D97-AF65-F5344CB8AC3E}">
        <p14:creationId xmlns:p14="http://schemas.microsoft.com/office/powerpoint/2010/main" val="20094429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2026-10-08T17:41:14.8830000Z</dcterms:created>
  <dcterms:modified xsi:type="dcterms:W3CDTF">2026-10-08T17:41:14.8830000Z</dcterms:modified>
</coreProperties>
</file>