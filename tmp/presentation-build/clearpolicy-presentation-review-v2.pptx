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adfb30fca8c42e3" /><Relationship Type="http://schemas.openxmlformats.org/officeDocument/2006/relationships/extended-properties" Target="/docProps/app.xml" Id="R799ceb27b2fb454e" /><Relationship Type="http://schemas.openxmlformats.org/officeDocument/2006/relationships/officeDocument" Target="/ppt/presentation.xml" Id="Rcc8a7cf48c9e44de" /></Relationships>
</file>

<file path=ppt/presentation.xml><?xml version="1.0" encoding="utf-8"?>
<p:presentation xmlns:p="http://schemas.openxmlformats.org/presentationml/2006/main">
  <p:sldMasterIdLst>
    <p:sldMasterId xmlns:r="http://schemas.openxmlformats.org/officeDocument/2006/relationships" id="2147483648" r:id="R6bf8cdedfa3a4f9c"/>
  </p:sldMasterIdLst>
  <p:notesMasterIdLst>
    <p:notesMasterId xmlns:r="http://schemas.openxmlformats.org/officeDocument/2006/relationships" r:id="Rf5d0f75e6e7246f6"/>
  </p:notesMasterIdLst>
  <p:sldIdLst>
    <p:sldId xmlns:r="http://schemas.openxmlformats.org/officeDocument/2006/relationships" id="256" r:id="Rf31f07d42d3b4c21"/>
    <p:sldId xmlns:r="http://schemas.openxmlformats.org/officeDocument/2006/relationships" id="257" r:id="Rcc495998e4e44f93"/>
    <p:sldId xmlns:r="http://schemas.openxmlformats.org/officeDocument/2006/relationships" id="258" r:id="R2503c47a60764d7a"/>
    <p:sldId xmlns:r="http://schemas.openxmlformats.org/officeDocument/2006/relationships" id="259" r:id="R4fb881ce2c304e14"/>
    <p:sldId xmlns:r="http://schemas.openxmlformats.org/officeDocument/2006/relationships" id="260" r:id="R34af3166cfee4c6c"/>
    <p:sldId xmlns:r="http://schemas.openxmlformats.org/officeDocument/2006/relationships" id="261" r:id="R7075c9234d4f410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7e10b3cc1bf4b6b" /><Relationship Type="http://schemas.openxmlformats.org/officeDocument/2006/relationships/slideMaster" Target="/ppt/slideMasters/slideMaster1.xml" Id="R6bf8cdedfa3a4f9c" /><Relationship Type="http://schemas.openxmlformats.org/officeDocument/2006/relationships/notesMaster" Target="/ppt/notesMasters/notesMaster1.xml" Id="Rf5d0f75e6e7246f6" /><Relationship Type="http://schemas.openxmlformats.org/officeDocument/2006/relationships/presProps" Target="/ppt/presProps.xml" Id="Rc84e7e9e25284b59" /><Relationship Type="http://schemas.openxmlformats.org/officeDocument/2006/relationships/tableStyles" Target="/ppt/tableStyles.xml" Id="R1368776fe2d94331" /><Relationship Type="http://schemas.openxmlformats.org/officeDocument/2006/relationships/slide" Target="/ppt/slides/slide1.xml" Id="Rf31f07d42d3b4c21" /><Relationship Type="http://schemas.openxmlformats.org/officeDocument/2006/relationships/slide" Target="/ppt/slides/slide2.xml" Id="Rcc495998e4e44f93" /><Relationship Type="http://schemas.openxmlformats.org/officeDocument/2006/relationships/slide" Target="/ppt/slides/slide3.xml" Id="R2503c47a60764d7a" /><Relationship Type="http://schemas.openxmlformats.org/officeDocument/2006/relationships/slide" Target="/ppt/slides/slide4.xml" Id="R4fb881ce2c304e14" /><Relationship Type="http://schemas.openxmlformats.org/officeDocument/2006/relationships/slide" Target="/ppt/slides/slide5.xml" Id="R34af3166cfee4c6c" /><Relationship Type="http://schemas.openxmlformats.org/officeDocument/2006/relationships/slide" Target="/ppt/slides/slide6.xml" Id="R7075c9234d4f410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b5878f2b145464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387ddd1ff754596" /><Relationship Type="http://schemas.openxmlformats.org/officeDocument/2006/relationships/notesMaster" Target="/ppt/notesMasters/notesMaster1.xml" Id="R1cb350b28a0c4c5b" /></Relationships>
</file>

<file path=ppt/notesSlides/_rels/notesSlide2.xml.rels>&#65279;<?xml version="1.0" encoding="utf-8"?><Relationships xmlns="http://schemas.openxmlformats.org/package/2006/relationships"><Relationship Type="http://schemas.openxmlformats.org/officeDocument/2006/relationships/slide" Target="/ppt/slides/slide2.xml" Id="R611164dfe8e948d5" /><Relationship Type="http://schemas.openxmlformats.org/officeDocument/2006/relationships/notesMaster" Target="/ppt/notesMasters/notesMaster1.xml" Id="Re5781f0fa52c432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5b188e806954f94" /><Relationship Type="http://schemas.openxmlformats.org/officeDocument/2006/relationships/notesMaster" Target="/ppt/notesMasters/notesMaster1.xml" Id="Rf88bb2a048cf440e" /></Relationships>
</file>

<file path=ppt/notesSlides/_rels/notesSlide4.xml.rels>&#65279;<?xml version="1.0" encoding="utf-8"?><Relationships xmlns="http://schemas.openxmlformats.org/package/2006/relationships"><Relationship Type="http://schemas.openxmlformats.org/officeDocument/2006/relationships/slide" Target="/ppt/slides/slide4.xml" Id="R09982c4d2bc74409" /><Relationship Type="http://schemas.openxmlformats.org/officeDocument/2006/relationships/notesMaster" Target="/ppt/notesMasters/notesMaster1.xml" Id="Ra17c81e61e6548f5" /></Relationships>
</file>

<file path=ppt/notesSlides/_rels/notesSlide5.xml.rels>&#65279;<?xml version="1.0" encoding="utf-8"?><Relationships xmlns="http://schemas.openxmlformats.org/package/2006/relationships"><Relationship Type="http://schemas.openxmlformats.org/officeDocument/2006/relationships/slide" Target="/ppt/slides/slide5.xml" Id="Re3041b1e12c14dcd" /><Relationship Type="http://schemas.openxmlformats.org/officeDocument/2006/relationships/notesMaster" Target="/ppt/notesMasters/notesMaster1.xml" Id="R4869fabd84a34cc5" /></Relationships>
</file>

<file path=ppt/notesSlides/_rels/notesSlide6.xml.rels>&#65279;<?xml version="1.0" encoding="utf-8"?><Relationships xmlns="http://schemas.openxmlformats.org/package/2006/relationships"><Relationship Type="http://schemas.openxmlformats.org/officeDocument/2006/relationships/slide" Target="/ppt/slides/slide6.xml" Id="Reb45bc68812b4eb8" /><Relationship Type="http://schemas.openxmlformats.org/officeDocument/2006/relationships/notesMaster" Target="/ppt/notesMasters/notesMaster1.xml" Id="Rd371551a6f0b484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Anthony · 0:20</a:t>
            </a:r>
          </a:p>
          <a:p xmlns:a="http://schemas.openxmlformats.org/drawingml/2006/main">
            <a:r>
              <a:t/>
            </a:r>
          </a:p>
          <a:p xmlns:a="http://schemas.openxmlformats.org/drawingml/2006/main">
            <a:r>
              <a:t>ACTION: Introduce the three presenters and the purpose of the project.</a:t>
            </a:r>
          </a:p>
          <a:p xmlns:a="http://schemas.openxmlformats.org/drawingml/2006/main">
            <a:r>
              <a:t/>
            </a:r>
          </a:p>
          <a:p xmlns:a="http://schemas.openxmlformats.org/drawingml/2006/main">
            <a:r>
              <a:t>Anthony: “Hi, we’re TJ, Anthony, and Amon. We built ClearPolicy, a class prototype that helps readers find privacy policy language worth reviewing. Amon will show how the app handles a policy, I’ll explain the rule engine, and TJ will cover the clause tagger and run the live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Amon · 0:40</a:t>
            </a:r>
          </a:p>
          <a:p xmlns:a="http://schemas.openxmlformats.org/drawingml/2006/main">
            <a:r>
              <a:t/>
            </a:r>
          </a:p>
          <a:p xmlns:a="http://schemas.openxmlformats.org/drawingml/2006/main">
            <a:r>
              <a:t>ACTION: Point to the interface, API, and the two analysis paths.</a:t>
            </a:r>
          </a:p>
          <a:p xmlns:a="http://schemas.openxmlformats.org/drawingml/2006/main">
            <a:r>
              <a:t/>
            </a:r>
          </a:p>
          <a:p xmlns:a="http://schemas.openxmlformats.org/drawingml/2006/main">
            <a:r>
              <a:t>Amon: “A reader can paste policy text or load the sample. The React interface splits the text into clauses and sends them to our Flask API. The API runs two separate analyses: the versioned rules engine returns findings and the weighted Trust Score, while the learned classifier suggests topics for clauses. The interface brings those results together so a reader can compare them with the policy wording. Submitted text is processed in memory and is not saved by the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Anthony · 0:45</a:t>
            </a:r>
          </a:p>
          <a:p xmlns:a="http://schemas.openxmlformats.org/drawingml/2006/main">
            <a:r>
              <a:t/>
            </a:r>
          </a:p>
          <a:p xmlns:a="http://schemas.openxmlformats.org/drawingml/2006/main">
            <a:r>
              <a:t>ACTION: Walk through the category weights and explain what one rule finding contains.</a:t>
            </a:r>
          </a:p>
          <a:p xmlns:a="http://schemas.openxmlformats.org/drawingml/2006/main">
            <a:r>
              <a:t/>
            </a:r>
          </a:p>
          <a:p xmlns:a="http://schemas.openxmlformats.org/drawingml/2006/main">
            <a:r>
              <a:t>Anthony: “Our rule engine uses versioned phrase rules and returns evidence with each finding: the matched wording, a plain-language explanation, and a suggested next step. The Trust Score weights data sharing at 25 percent, readability at 20, data collection at 20, legal language at 20, and user agency at 15. If the policy text does not provide enough evidence for a category, the app marks it as needing evidence rather than treating it as favorable. The score summarizes transparency signals in the supplied text; it is not a legal compliance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TJ · 0:45</a:t>
            </a:r>
          </a:p>
          <a:p xmlns:a="http://schemas.openxmlformats.org/drawingml/2006/main">
            <a:r>
              <a:t/>
            </a:r>
          </a:p>
          <a:p xmlns:a="http://schemas.openxmlformats.org/drawingml/2006/main">
            <a:r>
              <a:t>ACTION: Explain the training set, policy-level holdout, and baseline results.</a:t>
            </a:r>
          </a:p>
          <a:p xmlns:a="http://schemas.openxmlformats.org/drawingml/2006/main">
            <a:r>
              <a:t/>
            </a:r>
          </a:p>
          <a:p xmlns:a="http://schemas.openxmlformats.org/drawingml/2006/main">
            <a:r>
              <a:t>TJ: “The clause tagger is a multi-label Naive Bayes model trained on consolidated OPP-115 annotations: 3,790 segments from 115 policies. We held out whole policies, using 92 for training and 23 for evaluation, which gave us 862 held-out segments. On that baseline, micro F1 was 0.7119, macro F1 was 0.6150, and exact label-set match was 0.3805. The final model artifact was then fit on all 115 policies. These topic tags are experimental, their scores are not calibrated probabilities, and they do not affect the Trust Score. The corpus is historical and limited to English website policies.”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TJ · 2:30</a:t>
            </a:r>
          </a:p>
          <a:p xmlns:a="http://schemas.openxmlformats.org/drawingml/2006/main">
            <a:r>
              <a:t/>
            </a:r>
          </a:p>
          <a:p xmlns:a="http://schemas.openxmlformats.org/drawingml/2006/main">
            <a:r>
              <a:t>ACTION: Take browser control. Load the fictional sample, analyze it, then trace rule findings and any displayed clause tag back to the source text.</a:t>
            </a:r>
          </a:p>
          <a:p xmlns:a="http://schemas.openxmlformats.org/drawingml/2006/main">
            <a:r>
              <a:t/>
            </a:r>
          </a:p>
          <a:p xmlns:a="http://schemas.openxmlformats.org/drawingml/2006/main">
            <a:r>
              <a:t>TJ: “I’ll run the sample policy through the app. It is fictional and was written for this classroom demonstration, not taken from a real company.”</a:t>
            </a:r>
          </a:p>
          <a:p xmlns:a="http://schemas.openxmlformats.org/drawingml/2006/main">
            <a:r>
              <a:t/>
            </a:r>
          </a:p>
          <a:p xmlns:a="http://schemas.openxmlformats.org/drawingml/2006/main">
            <a:r>
              <a:t>DEMO ACTIONS:</a:t>
            </a:r>
          </a:p>
          <a:p xmlns:a="http://schemas.openxmlformats.org/drawingml/2006/main">
            <a:r>
              <a:t/>
            </a:r>
          </a:p>
          <a:p xmlns:a="http://schemas.openxmlformats.org/drawingml/2006/main">
            <a:r>
              <a:t>Load: Select Try sample policy. Briefly show the input text.</a:t>
            </a:r>
          </a:p>
          <a:p xmlns:a="http://schemas.openxmlformats.org/drawingml/2006/main">
            <a:r>
              <a:t/>
            </a:r>
          </a:p>
          <a:p xmlns:a="http://schemas.openxmlformats.org/drawingml/2006/main">
            <a:r>
              <a:t>Analyze: Select Analyze policy and wait for the results.</a:t>
            </a:r>
          </a:p>
          <a:p xmlns:a="http://schemas.openxmlformats.org/drawingml/2006/main">
            <a:r>
              <a:t/>
            </a:r>
          </a:p>
          <a:p xmlns:a="http://schemas.openxmlformats.org/drawingml/2006/main">
            <a:r>
              <a:t>Trace: Show the score and category coverage. Point to the advertising-sharing and open-ended-retention findings, then compare each with its source sentence. Note the access and deletion language. If a clause tag appears, read its topic and check the original clause.</a:t>
            </a:r>
          </a:p>
          <a:p xmlns:a="http://schemas.openxmlformats.org/drawingml/2006/main">
            <a:r>
              <a:t/>
            </a:r>
          </a:p>
          <a:p xmlns:a="http://schemas.openxmlformats.org/drawingml/2006/main">
            <a:r>
              <a:t>TJ: “The rules help me find language to review. A topic tag is only a model suggestion, and a missing tag does not mean a clause is unimportant. I’ll use the original policy text to interpret every signal. The app does not tell us whether the policy complies with a law.”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Anthony · 0:20</a:t>
            </a:r>
          </a:p>
          <a:p xmlns:a="http://schemas.openxmlformats.org/drawingml/2006/main">
            <a:r>
              <a:t/>
            </a:r>
          </a:p>
          <a:p xmlns:a="http://schemas.openxmlformats.org/drawingml/2006/main">
            <a:r>
              <a:t>ACTION: Recap the three project workstreams and thank the audience.</a:t>
            </a:r>
          </a:p>
          <a:p xmlns:a="http://schemas.openxmlformats.org/drawingml/2006/main">
            <a:r>
              <a:t/>
            </a:r>
          </a:p>
          <a:p xmlns:a="http://schemas.openxmlformats.org/drawingml/2006/main">
            <a:r>
              <a:t>Anthony: “Today, we’ve shown three connected areas: TJ’s clause model and demo, Amon’s API and interface integration, and my rule engine and scoring. Together, they make policy language easier to inspect while keeping evidence visible. This is an educational aid, not legal advice or proof of compliance. Thank you.”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7c3dfbc14c14f6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8cfaf38bc4942e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e6c5274fcb2466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45b13974aad4e6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8c11b831eaf408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a6e81bc596b4dd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40EA4BF-D552-486F-92C0-988554E3093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C345B73-E34B-4C79-B965-953489B5B5E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3AACB8E-163D-4C17-AEFA-16DADD5E3A7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D27A198-70FA-4F70-B668-8CE65DECB72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7F6458C-C7D2-45D0-8422-3E27654290E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050E315-3333-4D3F-9339-F09AF1D14E9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28F0D9C-6491-46DA-A2DC-B5DD5257B2E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DC18844-D5AF-47D3-8BC4-5F786EC285B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851AD66-07E8-4A05-B208-86C8A4B8F1E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71B6FD0-548D-4DF3-9EA1-0623DE37256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572c3c21b204fce" /><Relationship Type="http://schemas.openxmlformats.org/officeDocument/2006/relationships/slideLayout" Target="/ppt/slideLayouts/slideLayout1.xml" Id="R574d2bfc5a9c4a35" /><Relationship Type="http://schemas.openxmlformats.org/officeDocument/2006/relationships/slideLayout" Target="/ppt/slideLayouts/slideLayout2.xml" Id="Re41247ee2e2e40fe" /><Relationship Type="http://schemas.openxmlformats.org/officeDocument/2006/relationships/slideLayout" Target="/ppt/slideLayouts/slideLayout3.xml" Id="Rd4ff83d2dbcc4b21" /><Relationship Type="http://schemas.openxmlformats.org/officeDocument/2006/relationships/slideLayout" Target="/ppt/slideLayouts/slideLayout4.xml" Id="R6df0931de6b54c19" /><Relationship Type="http://schemas.openxmlformats.org/officeDocument/2006/relationships/slideLayout" Target="/ppt/slideLayouts/slideLayout5.xml" Id="R854aac1ed208439e" /><Relationship Type="http://schemas.openxmlformats.org/officeDocument/2006/relationships/slideLayout" Target="/ppt/slideLayouts/slideLayout6.xml" Id="R75fc6ba945b74be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74d2bfc5a9c4a35"/>
    <p:sldLayoutId xmlns:r="http://schemas.openxmlformats.org/officeDocument/2006/relationships" id="2147483650" r:id="Re41247ee2e2e40fe"/>
    <p:sldLayoutId xmlns:r="http://schemas.openxmlformats.org/officeDocument/2006/relationships" id="2147483651" r:id="Rd4ff83d2dbcc4b21"/>
    <p:sldLayoutId xmlns:r="http://schemas.openxmlformats.org/officeDocument/2006/relationships" id="2147483652" r:id="R6df0931de6b54c19"/>
    <p:sldLayoutId xmlns:r="http://schemas.openxmlformats.org/officeDocument/2006/relationships" id="2147483653" r:id="R854aac1ed208439e"/>
    <p:sldLayoutId xmlns:r="http://schemas.openxmlformats.org/officeDocument/2006/relationships" id="2147483654" r:id="R75fc6ba945b74be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6065b84b114449f" /><Relationship Type="http://schemas.openxmlformats.org/officeDocument/2006/relationships/notesSlide" Target="/ppt/notesSlides/notesSlide1.xml" Id="Rf88170dbaebe472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1e756f27e2844fe" /><Relationship Type="http://schemas.openxmlformats.org/officeDocument/2006/relationships/notesSlide" Target="/ppt/notesSlides/notesSlide2.xml" Id="R1cf6512175e7417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9279701886a4cb8" /><Relationship Type="http://schemas.openxmlformats.org/officeDocument/2006/relationships/notesSlide" Target="/ppt/notesSlides/notesSlide3.xml" Id="Re4c14835da984a2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8e12a6b3a094040" /><Relationship Type="http://schemas.openxmlformats.org/officeDocument/2006/relationships/notesSlide" Target="/ppt/notesSlides/notesSlide4.xml" Id="Rcb06fc8c8c1b4b7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20b4d2efa064807" /><Relationship Type="http://schemas.openxmlformats.org/officeDocument/2006/relationships/notesSlide" Target="/ppt/notesSlides/notesSlide5.xml" Id="Rb0da56d60e71452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a7906ce95be4f73" /><Relationship Type="http://schemas.openxmlformats.org/officeDocument/2006/relationships/notesSlide" Target="/ppt/notesSlides/notesSlide6.xml" Id="Rdc8b19d2bf8f40bc" /></Relationships>
</file>

<file path=ppt/slides/slide1.xml><?xml version="1.0" encoding="utf-8"?>
<p:sld xmlns:p="http://schemas.openxmlformats.org/presentationml/2006/main">
  <p:cSld>
    <p:bg>
      <p:bgPr>
        <a:solidFill xmlns:a="http://schemas.openxmlformats.org/drawingml/2006/main">
          <a:srgbClr val="16333C"/>
        </a:solidFill>
      </p:bgPr>
    </p:bg>
    <p:spTree>
      <p:nvGrpSpPr>
        <p:cNvPr id="1" name=""/>
        <p:cNvGrpSpPr/>
        <p:nvPr/>
      </p:nvGrpSpPr>
      <p:grpSpPr>
        <a:xfrm xmlns:a="http://schemas.openxmlformats.org/drawingml/2006/main"/>
      </p:grpSpPr>
      <p:sp>
        <p:nvSpPr>
          <p:cNvPr id="6" name="course">
            <a:extLst xmlns:a="http://schemas.openxmlformats.org/drawingml/2006/main">
              <a:ext uri="{FF2B5EF4-FFF2-40B4-BE49-F238E27FC236}">
                <a16:creationId xmlns:a16="http://schemas.microsoft.com/office/drawing/2014/main" id="{E3DE4DF7-A1A3-4ED3-A82D-AEFA9C409CF1}"/>
              </a:ext>
            </a:extLst>
          </p:cNvPr>
          <p:cNvSpPr>
            <a:spLocks xmlns:a="http://schemas.openxmlformats.org/drawingml/2006/main" noGrp="1"/>
          </p:cNvSpPr>
          <p:nvPr/>
        </p:nvSpPr>
        <p:spPr>
          <a:xfrm xmlns:a="http://schemas.openxmlformats.org/drawingml/2006/main">
            <a:off x="762000" y="609600"/>
            <a:ext cx="571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425" b="1">
                <a:solidFill>
                  <a:srgbClr val="B6E1D2"/>
                </a:solidFill>
                <a:latin typeface="Arial"/>
                <a:ea typeface="Arial"/>
                <a:cs typeface="Arial"/>
              </a:defRPr>
            </a:defPPr>
          </a:lstStyle>
          <a:p xmlns:a="http://schemas.openxmlformats.org/drawingml/2006/main">
            <a:pPr algn="l">
              <a:defRPr sz="1425" b="1">
                <a:solidFill>
                  <a:srgbClr val="B6E1D2"/>
                </a:solidFill>
                <a:latin typeface="Arial"/>
                <a:ea typeface="Arial"/>
                <a:cs typeface="Arial"/>
              </a:defRPr>
            </a:pPr>
            <a:r>
              <a:rPr sz="1425" b="1">
                <a:solidFill>
                  <a:srgbClr val="B6E1D2"/>
                </a:solidFill>
                <a:latin typeface="Arial"/>
                <a:ea typeface="Arial"/>
                <a:cs typeface="Arial"/>
              </a:rPr>
              <a:t>COMP 496  ·  FALL 2026</a:t>
            </a:r>
          </a:p>
        </p:txBody>
      </p:sp>
      <p:sp>
        <p:nvSpPr>
          <p:cNvPr id="2" name="product-name">
            <a:extLst xmlns:a="http://schemas.openxmlformats.org/drawingml/2006/main">
              <a:ext uri="{FF2B5EF4-FFF2-40B4-BE49-F238E27FC236}">
                <a16:creationId xmlns:a16="http://schemas.microsoft.com/office/drawing/2014/main" id="{EAACA1F0-89A5-4E45-93A7-E1ED38440687}"/>
              </a:ext>
            </a:extLst>
          </p:cNvPr>
          <p:cNvSpPr>
            <a:spLocks xmlns:a="http://schemas.openxmlformats.org/drawingml/2006/main" noGrp="1"/>
          </p:cNvSpPr>
          <p:nvPr/>
        </p:nvSpPr>
        <p:spPr>
          <a:xfrm xmlns:a="http://schemas.openxmlformats.org/drawingml/2006/main">
            <a:off x="762000" y="1619250"/>
            <a:ext cx="9048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700" b="1">
                <a:solidFill>
                  <a:srgbClr val="FFFFFF"/>
                </a:solidFill>
                <a:latin typeface="Arial"/>
                <a:ea typeface="Arial"/>
                <a:cs typeface="Arial"/>
              </a:defRPr>
            </a:defPPr>
          </a:lstStyle>
          <a:p xmlns:a="http://schemas.openxmlformats.org/drawingml/2006/main">
            <a:pPr algn="l">
              <a:defRPr sz="5700" b="1">
                <a:solidFill>
                  <a:srgbClr val="FFFFFF"/>
                </a:solidFill>
                <a:latin typeface="Arial"/>
                <a:ea typeface="Arial"/>
                <a:cs typeface="Arial"/>
              </a:defRPr>
            </a:pPr>
            <a:r>
              <a:rPr sz="5700" b="1">
                <a:solidFill>
                  <a:srgbClr val="FFFFFF"/>
                </a:solidFill>
                <a:latin typeface="Arial"/>
                <a:ea typeface="Arial"/>
                <a:cs typeface="Arial"/>
              </a:rPr>
              <a:t>ClearPolicy</a:t>
            </a:r>
          </a:p>
        </p:txBody>
      </p:sp>
      <p:sp>
        <p:nvSpPr>
          <p:cNvPr id="3" name="presentation-subject">
            <a:extLst xmlns:a="http://schemas.openxmlformats.org/drawingml/2006/main">
              <a:ext uri="{FF2B5EF4-FFF2-40B4-BE49-F238E27FC236}">
                <a16:creationId xmlns:a16="http://schemas.microsoft.com/office/drawing/2014/main" id="{BC6F4E77-CD3A-4C0F-9729-CE25A1708110}"/>
              </a:ext>
            </a:extLst>
          </p:cNvPr>
          <p:cNvSpPr>
            <a:spLocks xmlns:a="http://schemas.openxmlformats.org/drawingml/2006/main" noGrp="1"/>
          </p:cNvSpPr>
          <p:nvPr/>
        </p:nvSpPr>
        <p:spPr>
          <a:xfrm xmlns:a="http://schemas.openxmlformats.org/drawingml/2006/main">
            <a:off x="800100" y="2609850"/>
            <a:ext cx="8572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550" b="0">
                <a:solidFill>
                  <a:srgbClr val="B6E1D2"/>
                </a:solidFill>
                <a:latin typeface="Arial"/>
                <a:ea typeface="Arial"/>
                <a:cs typeface="Arial"/>
              </a:defRPr>
            </a:defPPr>
          </a:lstStyle>
          <a:p xmlns:a="http://schemas.openxmlformats.org/drawingml/2006/main">
            <a:pPr algn="l">
              <a:defRPr sz="2550" b="0">
                <a:solidFill>
                  <a:srgbClr val="B6E1D2"/>
                </a:solidFill>
                <a:latin typeface="Arial"/>
                <a:ea typeface="Arial"/>
                <a:cs typeface="Arial"/>
              </a:defRPr>
            </a:pPr>
            <a:r>
              <a:rPr sz="2550" b="0">
                <a:solidFill>
                  <a:srgbClr val="B6E1D2"/>
                </a:solidFill>
                <a:latin typeface="Arial"/>
                <a:ea typeface="Arial"/>
                <a:cs typeface="Arial"/>
              </a:rPr>
              <a:t>Privacy Policy Analyzer</a:t>
            </a:r>
          </a:p>
        </p:txBody>
      </p:sp>
      <p:sp>
        <p:nvSpPr>
          <p:cNvPr id="4" name="cover-summary">
            <a:extLst xmlns:a="http://schemas.openxmlformats.org/drawingml/2006/main">
              <a:ext uri="{FF2B5EF4-FFF2-40B4-BE49-F238E27FC236}">
                <a16:creationId xmlns:a16="http://schemas.microsoft.com/office/drawing/2014/main" id="{E663E187-755F-4BE0-9CC0-71D6DC0D34F5}"/>
              </a:ext>
            </a:extLst>
          </p:cNvPr>
          <p:cNvSpPr>
            <a:spLocks xmlns:a="http://schemas.openxmlformats.org/drawingml/2006/main" noGrp="1"/>
          </p:cNvSpPr>
          <p:nvPr/>
        </p:nvSpPr>
        <p:spPr>
          <a:xfrm xmlns:a="http://schemas.openxmlformats.org/drawingml/2006/main">
            <a:off x="800100" y="3562350"/>
            <a:ext cx="7429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FFFFFF"/>
                </a:solidFill>
                <a:latin typeface="Arial"/>
                <a:ea typeface="Arial"/>
                <a:cs typeface="Arial"/>
              </a:defRPr>
            </a:def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A classroom prototype for finding policy language worth reviewing.</a:t>
            </a:r>
          </a:p>
        </p:txBody>
      </p:sp>
      <p:sp>
        <p:nvSpPr>
          <p:cNvPr id="5" name="presenters">
            <a:extLst xmlns:a="http://schemas.openxmlformats.org/drawingml/2006/main">
              <a:ext uri="{FF2B5EF4-FFF2-40B4-BE49-F238E27FC236}">
                <a16:creationId xmlns:a16="http://schemas.microsoft.com/office/drawing/2014/main" id="{6C843B90-313D-433B-92D6-CB03290B1D9A}"/>
              </a:ext>
            </a:extLst>
          </p:cNvPr>
          <p:cNvSpPr>
            <a:spLocks xmlns:a="http://schemas.openxmlformats.org/drawingml/2006/main" noGrp="1"/>
          </p:cNvSpPr>
          <p:nvPr/>
        </p:nvSpPr>
        <p:spPr>
          <a:xfrm xmlns:a="http://schemas.openxmlformats.org/drawingml/2006/main">
            <a:off x="800100" y="579120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B6E1D2"/>
                </a:solidFill>
                <a:latin typeface="Arial"/>
                <a:ea typeface="Arial"/>
                <a:cs typeface="Arial"/>
              </a:defRPr>
            </a:defPPr>
          </a:lstStyle>
          <a:p xmlns:a="http://schemas.openxmlformats.org/drawingml/2006/main">
            <a:pPr algn="l">
              <a:defRPr sz="1725" b="0">
                <a:solidFill>
                  <a:srgbClr val="B6E1D2"/>
                </a:solidFill>
                <a:latin typeface="Arial"/>
                <a:ea typeface="Arial"/>
                <a:cs typeface="Arial"/>
              </a:defRPr>
            </a:pPr>
            <a:r>
              <a:rPr sz="1725" b="0">
                <a:solidFill>
                  <a:srgbClr val="B6E1D2"/>
                </a:solidFill>
                <a:latin typeface="Arial"/>
                <a:ea typeface="Arial"/>
                <a:cs typeface="Arial"/>
              </a:rPr>
              <a:t>TJ  ·  Anthony  ·  Amon</a:t>
            </a:r>
          </a:p>
        </p:txBody>
      </p:sp>
    </p:spTree>
    <p:extLst>
      <p:ext uri="{BB962C8B-B14F-4D97-AF65-F5344CB8AC3E}">
        <p14:creationId xmlns:p14="http://schemas.microsoft.com/office/powerpoint/2010/main" val="285699201"/>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9" name="slide-title">
            <a:extLst xmlns:a="http://schemas.openxmlformats.org/drawingml/2006/main">
              <a:ext uri="{FF2B5EF4-FFF2-40B4-BE49-F238E27FC236}">
                <a16:creationId xmlns:a16="http://schemas.microsoft.com/office/drawing/2014/main" id="{FCF298E9-C214-447C-97BF-C95EB70CA58D}"/>
              </a:ext>
            </a:extLst>
          </p:cNvPr>
          <p:cNvSpPr>
            <a:spLocks xmlns:a="http://schemas.openxmlformats.org/drawingml/2006/main" noGrp="1"/>
          </p:cNvSpPr>
          <p:nvPr/>
        </p:nvSpPr>
        <p:spPr>
          <a:xfrm xmlns:a="http://schemas.openxmlformats.org/drawingml/2006/main">
            <a:off x="685800" y="5143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300" b="1">
                <a:solidFill>
                  <a:srgbClr val="16333C"/>
                </a:solidFill>
                <a:latin typeface="Arial"/>
                <a:ea typeface="Arial"/>
                <a:cs typeface="Arial"/>
              </a:defRPr>
            </a:defPPr>
          </a:lstStyle>
          <a:p xmlns:a="http://schemas.openxmlformats.org/drawingml/2006/main">
            <a:pPr algn="l">
              <a:defRPr sz="3300" b="1">
                <a:solidFill>
                  <a:srgbClr val="16333C"/>
                </a:solidFill>
                <a:latin typeface="Arial"/>
                <a:ea typeface="Arial"/>
                <a:cs typeface="Arial"/>
              </a:defRPr>
            </a:pPr>
            <a:r>
              <a:rPr sz="3300" b="1">
                <a:solidFill>
                  <a:srgbClr val="16333C"/>
                </a:solidFill>
                <a:latin typeface="Arial"/>
                <a:ea typeface="Arial"/>
                <a:cs typeface="Arial"/>
              </a:rPr>
              <a:t>Analysis flow</a:t>
            </a:r>
          </a:p>
        </p:txBody>
      </p:sp>
      <p:sp>
        <p:nvSpPr>
          <p:cNvPr id="2" name="flow-subtitle">
            <a:extLst xmlns:a="http://schemas.openxmlformats.org/drawingml/2006/main">
              <a:ext uri="{FF2B5EF4-FFF2-40B4-BE49-F238E27FC236}">
                <a16:creationId xmlns:a16="http://schemas.microsoft.com/office/drawing/2014/main" id="{6BB2210E-9CB9-4A73-96BF-FA4D0EA056D4}"/>
              </a:ext>
            </a:extLst>
          </p:cNvPr>
          <p:cNvSpPr>
            <a:spLocks xmlns:a="http://schemas.openxmlformats.org/drawingml/2006/main" noGrp="1"/>
          </p:cNvSpPr>
          <p:nvPr/>
        </p:nvSpPr>
        <p:spPr>
          <a:xfrm xmlns:a="http://schemas.openxmlformats.org/drawingml/2006/main">
            <a:off x="704850" y="1143000"/>
            <a:ext cx="1057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52666B"/>
                </a:solidFill>
                <a:latin typeface="Arial"/>
                <a:ea typeface="Arial"/>
                <a:cs typeface="Arial"/>
              </a:defRPr>
            </a:defPPr>
          </a:lstStyle>
          <a:p xmlns:a="http://schemas.openxmlformats.org/drawingml/2006/main">
            <a:pPr algn="l">
              <a:defRPr sz="1725" b="0">
                <a:solidFill>
                  <a:srgbClr val="52666B"/>
                </a:solidFill>
                <a:latin typeface="Arial"/>
                <a:ea typeface="Arial"/>
                <a:cs typeface="Arial"/>
              </a:defRPr>
            </a:pPr>
            <a:r>
              <a:rPr sz="1725" b="0">
                <a:solidFill>
                  <a:srgbClr val="52666B"/>
                </a:solidFill>
                <a:latin typeface="Arial"/>
                <a:ea typeface="Arial"/>
                <a:cs typeface="Arial"/>
              </a:rPr>
              <a:t>The interface packages policy text into clauses before the API runs both analyzers.</a:t>
            </a:r>
          </a:p>
        </p:txBody>
      </p:sp>
      <p:sp>
        <p:nvSpPr>
          <p:cNvPr id="3" name="flow-node-1">
            <a:extLst xmlns:a="http://schemas.openxmlformats.org/drawingml/2006/main">
              <a:ext uri="{FF2B5EF4-FFF2-40B4-BE49-F238E27FC236}">
                <a16:creationId xmlns:a16="http://schemas.microsoft.com/office/drawing/2014/main" id="{2438349C-0401-4CBD-ADA9-666F39375113}"/>
              </a:ext>
            </a:extLst>
          </p:cNvPr>
          <p:cNvSpPr>
            <a:spLocks xmlns:a="http://schemas.openxmlformats.org/drawingml/2006/main" noGrp="1"/>
          </p:cNvSpPr>
          <p:nvPr/>
        </p:nvSpPr>
        <p:spPr>
          <a:xfrm xmlns:a="http://schemas.openxmlformats.org/drawingml/2006/main">
            <a:off x="685800" y="2047875"/>
            <a:ext cx="2686050" cy="1181100"/>
          </a:xfrm>
          <a:prstGeom xmlns:a="http://schemas.openxmlformats.org/drawingml/2006/main" prst="rect">
            <a:avLst/>
          </a:prstGeom>
          <a:solidFill xmlns:a="http://schemas.openxmlformats.org/drawingml/2006/main">
            <a:srgbClr val="E1EFE9"/>
          </a:solidFill>
          <a:ln xmlns:a="http://schemas.openxmlformats.org/drawingml/2006/main" w="0">
            <a:noFill/>
            <a:prstDash val="solid"/>
          </a:ln>
        </p:spPr>
      </p:sp>
      <p:sp>
        <p:nvSpPr>
          <p:cNvPr id="4" name="flow-label-1">
            <a:extLst xmlns:a="http://schemas.openxmlformats.org/drawingml/2006/main">
              <a:ext uri="{FF2B5EF4-FFF2-40B4-BE49-F238E27FC236}">
                <a16:creationId xmlns:a16="http://schemas.microsoft.com/office/drawing/2014/main" id="{F7E58EFD-3A3F-48C1-9026-1DBF91BF6629}"/>
              </a:ext>
            </a:extLst>
          </p:cNvPr>
          <p:cNvSpPr>
            <a:spLocks xmlns:a="http://schemas.openxmlformats.org/drawingml/2006/main" noGrp="1"/>
          </p:cNvSpPr>
          <p:nvPr/>
        </p:nvSpPr>
        <p:spPr>
          <a:xfrm xmlns:a="http://schemas.openxmlformats.org/drawingml/2006/main">
            <a:off x="876300" y="2238375"/>
            <a:ext cx="23241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1">
                <a:solidFill>
                  <a:srgbClr val="16333C"/>
                </a:solidFill>
                <a:latin typeface="Arial"/>
                <a:ea typeface="Arial"/>
                <a:cs typeface="Arial"/>
              </a:defRPr>
            </a:defPPr>
          </a:lstStyle>
          <a:p xmlns:a="http://schemas.openxmlformats.org/drawingml/2006/main">
            <a:pPr algn="l">
              <a:defRPr sz="1500" b="1">
                <a:solidFill>
                  <a:srgbClr val="16333C"/>
                </a:solidFill>
                <a:latin typeface="Arial"/>
                <a:ea typeface="Arial"/>
                <a:cs typeface="Arial"/>
              </a:defRPr>
            </a:pPr>
            <a:r>
              <a:rPr sz="1500" b="1">
                <a:solidFill>
                  <a:srgbClr val="16333C"/>
                </a:solidFill>
                <a:latin typeface="Arial"/>
                <a:ea typeface="Arial"/>
                <a:cs typeface="Arial"/>
              </a:rPr>
              <a:t>POLICY TEXT</a:t>
            </a:r>
          </a:p>
        </p:txBody>
      </p:sp>
      <p:sp>
        <p:nvSpPr>
          <p:cNvPr id="5" name="flow-body-1">
            <a:extLst xmlns:a="http://schemas.openxmlformats.org/drawingml/2006/main">
              <a:ext uri="{FF2B5EF4-FFF2-40B4-BE49-F238E27FC236}">
                <a16:creationId xmlns:a16="http://schemas.microsoft.com/office/drawing/2014/main" id="{2FE4544A-8800-4FCE-A492-33FD2AD1490F}"/>
              </a:ext>
            </a:extLst>
          </p:cNvPr>
          <p:cNvSpPr>
            <a:spLocks xmlns:a="http://schemas.openxmlformats.org/drawingml/2006/main" noGrp="1"/>
          </p:cNvSpPr>
          <p:nvPr/>
        </p:nvSpPr>
        <p:spPr>
          <a:xfrm xmlns:a="http://schemas.openxmlformats.org/drawingml/2006/main">
            <a:off x="876300" y="2647950"/>
            <a:ext cx="23241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75" b="0">
                <a:solidFill>
                  <a:srgbClr val="16333C"/>
                </a:solidFill>
                <a:latin typeface="Arial"/>
                <a:ea typeface="Arial"/>
                <a:cs typeface="Arial"/>
              </a:defRPr>
            </a:defPPr>
          </a:lstStyle>
          <a:p xmlns:a="http://schemas.openxmlformats.org/drawingml/2006/main">
            <a:pPr algn="l">
              <a:defRPr sz="1575" b="0">
                <a:solidFill>
                  <a:srgbClr val="16333C"/>
                </a:solidFill>
                <a:latin typeface="Arial"/>
                <a:ea typeface="Arial"/>
                <a:cs typeface="Arial"/>
              </a:defRPr>
            </a:pPr>
            <a:r>
              <a:rPr sz="1575" b="0">
                <a:solidFill>
                  <a:srgbClr val="16333C"/>
                </a:solidFill>
                <a:latin typeface="Arial"/>
                <a:ea typeface="Arial"/>
                <a:cs typeface="Arial"/>
              </a:rPr>
              <a:t>Paste text or load the sample</a:t>
            </a:r>
          </a:p>
        </p:txBody>
      </p:sp>
      <p:sp>
        <p:nvSpPr>
          <p:cNvPr id="6" name="flow-node-2">
            <a:extLst xmlns:a="http://schemas.openxmlformats.org/drawingml/2006/main">
              <a:ext uri="{FF2B5EF4-FFF2-40B4-BE49-F238E27FC236}">
                <a16:creationId xmlns:a16="http://schemas.microsoft.com/office/drawing/2014/main" id="{59518D11-9F2E-4DAD-B6D0-372B23892135}"/>
              </a:ext>
            </a:extLst>
          </p:cNvPr>
          <p:cNvSpPr>
            <a:spLocks xmlns:a="http://schemas.openxmlformats.org/drawingml/2006/main" noGrp="1"/>
          </p:cNvSpPr>
          <p:nvPr/>
        </p:nvSpPr>
        <p:spPr>
          <a:xfrm xmlns:a="http://schemas.openxmlformats.org/drawingml/2006/main">
            <a:off x="4162425" y="2047875"/>
            <a:ext cx="2686050" cy="1181100"/>
          </a:xfrm>
          <a:prstGeom xmlns:a="http://schemas.openxmlformats.org/drawingml/2006/main" prst="rect">
            <a:avLst/>
          </a:prstGeom>
          <a:solidFill xmlns:a="http://schemas.openxmlformats.org/drawingml/2006/main">
            <a:srgbClr val="E9ECE6"/>
          </a:solidFill>
          <a:ln xmlns:a="http://schemas.openxmlformats.org/drawingml/2006/main" w="0">
            <a:noFill/>
            <a:prstDash val="solid"/>
          </a:ln>
        </p:spPr>
      </p:sp>
      <p:sp>
        <p:nvSpPr>
          <p:cNvPr id="7" name="flow-label-2">
            <a:extLst xmlns:a="http://schemas.openxmlformats.org/drawingml/2006/main">
              <a:ext uri="{FF2B5EF4-FFF2-40B4-BE49-F238E27FC236}">
                <a16:creationId xmlns:a16="http://schemas.microsoft.com/office/drawing/2014/main" id="{1D3253D7-6411-4922-944B-BB4F5FD9CDCF}"/>
              </a:ext>
            </a:extLst>
          </p:cNvPr>
          <p:cNvSpPr>
            <a:spLocks xmlns:a="http://schemas.openxmlformats.org/drawingml/2006/main" noGrp="1"/>
          </p:cNvSpPr>
          <p:nvPr/>
        </p:nvSpPr>
        <p:spPr>
          <a:xfrm xmlns:a="http://schemas.openxmlformats.org/drawingml/2006/main">
            <a:off x="4352925" y="2238375"/>
            <a:ext cx="23241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1">
                <a:solidFill>
                  <a:srgbClr val="16333C"/>
                </a:solidFill>
                <a:latin typeface="Arial"/>
                <a:ea typeface="Arial"/>
                <a:cs typeface="Arial"/>
              </a:defRPr>
            </a:defPPr>
          </a:lstStyle>
          <a:p xmlns:a="http://schemas.openxmlformats.org/drawingml/2006/main">
            <a:pPr algn="l">
              <a:defRPr sz="1500" b="1">
                <a:solidFill>
                  <a:srgbClr val="16333C"/>
                </a:solidFill>
                <a:latin typeface="Arial"/>
                <a:ea typeface="Arial"/>
                <a:cs typeface="Arial"/>
              </a:defRPr>
            </a:pPr>
            <a:r>
              <a:rPr sz="1500" b="1">
                <a:solidFill>
                  <a:srgbClr val="16333C"/>
                </a:solidFill>
                <a:latin typeface="Arial"/>
                <a:ea typeface="Arial"/>
                <a:cs typeface="Arial"/>
              </a:rPr>
              <a:t>REACT INTERFACE</a:t>
            </a:r>
          </a:p>
        </p:txBody>
      </p:sp>
      <p:sp>
        <p:nvSpPr>
          <p:cNvPr id="8" name="flow-body-2">
            <a:extLst xmlns:a="http://schemas.openxmlformats.org/drawingml/2006/main">
              <a:ext uri="{FF2B5EF4-FFF2-40B4-BE49-F238E27FC236}">
                <a16:creationId xmlns:a16="http://schemas.microsoft.com/office/drawing/2014/main" id="{79318F5D-A6A6-4BF6-B3C0-432FE4AE69CB}"/>
              </a:ext>
            </a:extLst>
          </p:cNvPr>
          <p:cNvSpPr>
            <a:spLocks xmlns:a="http://schemas.openxmlformats.org/drawingml/2006/main" noGrp="1"/>
          </p:cNvSpPr>
          <p:nvPr/>
        </p:nvSpPr>
        <p:spPr>
          <a:xfrm xmlns:a="http://schemas.openxmlformats.org/drawingml/2006/main">
            <a:off x="4352925" y="2647950"/>
            <a:ext cx="23241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75" b="0">
                <a:solidFill>
                  <a:srgbClr val="16333C"/>
                </a:solidFill>
                <a:latin typeface="Arial"/>
                <a:ea typeface="Arial"/>
                <a:cs typeface="Arial"/>
              </a:defRPr>
            </a:defPPr>
          </a:lstStyle>
          <a:p xmlns:a="http://schemas.openxmlformats.org/drawingml/2006/main">
            <a:pPr algn="l">
              <a:defRPr sz="1575" b="0">
                <a:solidFill>
                  <a:srgbClr val="16333C"/>
                </a:solidFill>
                <a:latin typeface="Arial"/>
                <a:ea typeface="Arial"/>
                <a:cs typeface="Arial"/>
              </a:defRPr>
            </a:pPr>
            <a:r>
              <a:rPr sz="1575" b="0">
                <a:solidFill>
                  <a:srgbClr val="16333C"/>
                </a:solidFill>
                <a:latin typeface="Arial"/>
                <a:ea typeface="Arial"/>
                <a:cs typeface="Arial"/>
              </a:rPr>
              <a:t>Splits text into clauses</a:t>
            </a:r>
          </a:p>
        </p:txBody>
      </p:sp>
      <p:sp>
        <p:nvSpPr>
          <p:cNvPr id="9" name="flow-node-3">
            <a:extLst xmlns:a="http://schemas.openxmlformats.org/drawingml/2006/main">
              <a:ext uri="{FF2B5EF4-FFF2-40B4-BE49-F238E27FC236}">
                <a16:creationId xmlns:a16="http://schemas.microsoft.com/office/drawing/2014/main" id="{F2846E9A-3304-4F4E-B4BB-4CF3C9CCD182}"/>
              </a:ext>
            </a:extLst>
          </p:cNvPr>
          <p:cNvSpPr>
            <a:spLocks xmlns:a="http://schemas.openxmlformats.org/drawingml/2006/main" noGrp="1"/>
          </p:cNvSpPr>
          <p:nvPr/>
        </p:nvSpPr>
        <p:spPr>
          <a:xfrm xmlns:a="http://schemas.openxmlformats.org/drawingml/2006/main">
            <a:off x="7639050" y="2047875"/>
            <a:ext cx="2686050" cy="1181100"/>
          </a:xfrm>
          <a:prstGeom xmlns:a="http://schemas.openxmlformats.org/drawingml/2006/main" prst="rect">
            <a:avLst/>
          </a:prstGeom>
          <a:solidFill xmlns:a="http://schemas.openxmlformats.org/drawingml/2006/main">
            <a:srgbClr val="087F72"/>
          </a:solidFill>
          <a:ln xmlns:a="http://schemas.openxmlformats.org/drawingml/2006/main" w="0">
            <a:noFill/>
            <a:prstDash val="solid"/>
          </a:ln>
        </p:spPr>
      </p:sp>
      <p:sp>
        <p:nvSpPr>
          <p:cNvPr id="10" name="flow-label-3">
            <a:extLst xmlns:a="http://schemas.openxmlformats.org/drawingml/2006/main">
              <a:ext uri="{FF2B5EF4-FFF2-40B4-BE49-F238E27FC236}">
                <a16:creationId xmlns:a16="http://schemas.microsoft.com/office/drawing/2014/main" id="{AF5D65F5-6440-4966-B127-448D5907E843}"/>
              </a:ext>
            </a:extLst>
          </p:cNvPr>
          <p:cNvSpPr>
            <a:spLocks xmlns:a="http://schemas.openxmlformats.org/drawingml/2006/main" noGrp="1"/>
          </p:cNvSpPr>
          <p:nvPr/>
        </p:nvSpPr>
        <p:spPr>
          <a:xfrm xmlns:a="http://schemas.openxmlformats.org/drawingml/2006/main">
            <a:off x="7829550" y="2238375"/>
            <a:ext cx="23241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1">
                <a:solidFill>
                  <a:srgbClr val="FFFFFF"/>
                </a:solidFill>
                <a:latin typeface="Arial"/>
                <a:ea typeface="Arial"/>
                <a:cs typeface="Arial"/>
              </a:defRPr>
            </a:defPPr>
          </a:lstStyle>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FLASK API</a:t>
            </a:r>
          </a:p>
        </p:txBody>
      </p:sp>
      <p:sp>
        <p:nvSpPr>
          <p:cNvPr id="11" name="flow-body-3">
            <a:extLst xmlns:a="http://schemas.openxmlformats.org/drawingml/2006/main">
              <a:ext uri="{FF2B5EF4-FFF2-40B4-BE49-F238E27FC236}">
                <a16:creationId xmlns:a16="http://schemas.microsoft.com/office/drawing/2014/main" id="{147B63DB-425B-48BE-A00D-B14E9111B0E9}"/>
              </a:ext>
            </a:extLst>
          </p:cNvPr>
          <p:cNvSpPr>
            <a:spLocks xmlns:a="http://schemas.openxmlformats.org/drawingml/2006/main" noGrp="1"/>
          </p:cNvSpPr>
          <p:nvPr/>
        </p:nvSpPr>
        <p:spPr>
          <a:xfrm xmlns:a="http://schemas.openxmlformats.org/drawingml/2006/main">
            <a:off x="7829550" y="2647950"/>
            <a:ext cx="23241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75" b="0">
                <a:solidFill>
                  <a:srgbClr val="FFFFFF"/>
                </a:solidFill>
                <a:latin typeface="Arial"/>
                <a:ea typeface="Arial"/>
                <a:cs typeface="Arial"/>
              </a:defRPr>
            </a:defPPr>
          </a:lstStyle>
          <a:p xmlns:a="http://schemas.openxmlformats.org/drawingml/2006/main">
            <a:pPr algn="l">
              <a:defRPr sz="1575" b="0">
                <a:solidFill>
                  <a:srgbClr val="FFFFFF"/>
                </a:solidFill>
                <a:latin typeface="Arial"/>
                <a:ea typeface="Arial"/>
                <a:cs typeface="Arial"/>
              </a:defRPr>
            </a:pPr>
            <a:r>
              <a:rPr sz="1575" b="0">
                <a:solidFill>
                  <a:srgbClr val="FFFFFF"/>
                </a:solidFill>
                <a:latin typeface="Arial"/>
                <a:ea typeface="Arial"/>
                <a:cs typeface="Arial"/>
              </a:rPr>
              <a:t>POST /api/v1/analyses</a:t>
            </a:r>
          </a:p>
        </p:txBody>
      </p:sp>
      <p:sp>
        <p:nvSpPr>
          <p:cNvPr id="12" name="flow-arrow-one">
            <a:extLst xmlns:a="http://schemas.openxmlformats.org/drawingml/2006/main">
              <a:ext uri="{FF2B5EF4-FFF2-40B4-BE49-F238E27FC236}">
                <a16:creationId xmlns:a16="http://schemas.microsoft.com/office/drawing/2014/main" id="{1D19D329-A6C2-4A3D-B6BA-2E4F154D6E83}"/>
              </a:ext>
            </a:extLst>
          </p:cNvPr>
          <p:cNvSpPr>
            <a:spLocks xmlns:a="http://schemas.openxmlformats.org/drawingml/2006/main" noGrp="1"/>
          </p:cNvSpPr>
          <p:nvPr/>
        </p:nvSpPr>
        <p:spPr>
          <a:xfrm xmlns:a="http://schemas.openxmlformats.org/drawingml/2006/main">
            <a:off x="3476625" y="2381250"/>
            <a:ext cx="514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3000" b="1">
                <a:solidFill>
                  <a:srgbClr val="C96F50"/>
                </a:solidFill>
                <a:latin typeface="Arial"/>
                <a:ea typeface="Arial"/>
                <a:cs typeface="Arial"/>
              </a:defRPr>
            </a:defPPr>
          </a:lstStyle>
          <a:p xmlns:a="http://schemas.openxmlformats.org/drawingml/2006/main">
            <a:pPr algn="ctr">
              <a:defRPr sz="3000" b="1">
                <a:solidFill>
                  <a:srgbClr val="C96F50"/>
                </a:solidFill>
                <a:latin typeface="Arial"/>
                <a:ea typeface="Arial"/>
                <a:cs typeface="Arial"/>
              </a:defRPr>
            </a:pPr>
            <a:r>
              <a:rPr sz="3000" b="1">
                <a:solidFill>
                  <a:srgbClr val="C96F50"/>
                </a:solidFill>
                <a:latin typeface="Arial"/>
                <a:ea typeface="Arial"/>
                <a:cs typeface="Arial"/>
              </a:rPr>
              <a:t>→</a:t>
            </a:r>
          </a:p>
        </p:txBody>
      </p:sp>
      <p:sp>
        <p:nvSpPr>
          <p:cNvPr id="13" name="flow-arrow-two">
            <a:extLst xmlns:a="http://schemas.openxmlformats.org/drawingml/2006/main">
              <a:ext uri="{FF2B5EF4-FFF2-40B4-BE49-F238E27FC236}">
                <a16:creationId xmlns:a16="http://schemas.microsoft.com/office/drawing/2014/main" id="{13D32D6B-D0D8-473B-B14A-8EFBC2EAC2B9}"/>
              </a:ext>
            </a:extLst>
          </p:cNvPr>
          <p:cNvSpPr>
            <a:spLocks xmlns:a="http://schemas.openxmlformats.org/drawingml/2006/main" noGrp="1"/>
          </p:cNvSpPr>
          <p:nvPr/>
        </p:nvSpPr>
        <p:spPr>
          <a:xfrm xmlns:a="http://schemas.openxmlformats.org/drawingml/2006/main">
            <a:off x="6953250" y="2381250"/>
            <a:ext cx="514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3000" b="1">
                <a:solidFill>
                  <a:srgbClr val="C96F50"/>
                </a:solidFill>
                <a:latin typeface="Arial"/>
                <a:ea typeface="Arial"/>
                <a:cs typeface="Arial"/>
              </a:defRPr>
            </a:defPPr>
          </a:lstStyle>
          <a:p xmlns:a="http://schemas.openxmlformats.org/drawingml/2006/main">
            <a:pPr algn="ctr">
              <a:defRPr sz="3000" b="1">
                <a:solidFill>
                  <a:srgbClr val="C96F50"/>
                </a:solidFill>
                <a:latin typeface="Arial"/>
                <a:ea typeface="Arial"/>
                <a:cs typeface="Arial"/>
              </a:defRPr>
            </a:pPr>
            <a:r>
              <a:rPr sz="3000" b="1">
                <a:solidFill>
                  <a:srgbClr val="C96F50"/>
                </a:solidFill>
                <a:latin typeface="Arial"/>
                <a:ea typeface="Arial"/>
                <a:cs typeface="Arial"/>
              </a:rPr>
              <a:t>→</a:t>
            </a:r>
          </a:p>
        </p:txBody>
      </p:sp>
      <p:sp>
        <p:nvSpPr>
          <p:cNvPr id="14" name="rules-heading">
            <a:extLst xmlns:a="http://schemas.openxmlformats.org/drawingml/2006/main">
              <a:ext uri="{FF2B5EF4-FFF2-40B4-BE49-F238E27FC236}">
                <a16:creationId xmlns:a16="http://schemas.microsoft.com/office/drawing/2014/main" id="{55C2DCFD-C798-4832-A750-727E57B36AEE}"/>
              </a:ext>
            </a:extLst>
          </p:cNvPr>
          <p:cNvSpPr>
            <a:spLocks xmlns:a="http://schemas.openxmlformats.org/drawingml/2006/main" noGrp="1"/>
          </p:cNvSpPr>
          <p:nvPr/>
        </p:nvSpPr>
        <p:spPr>
          <a:xfrm xmlns:a="http://schemas.openxmlformats.org/drawingml/2006/main">
            <a:off x="714375" y="3829050"/>
            <a:ext cx="49530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1">
                <a:solidFill>
                  <a:srgbClr val="087F72"/>
                </a:solidFill>
                <a:latin typeface="Arial"/>
                <a:ea typeface="Arial"/>
                <a:cs typeface="Arial"/>
              </a:defRPr>
            </a:defPPr>
          </a:lstStyle>
          <a:p xmlns:a="http://schemas.openxmlformats.org/drawingml/2006/main">
            <a:pPr algn="l">
              <a:defRPr sz="1650" b="1">
                <a:solidFill>
                  <a:srgbClr val="087F72"/>
                </a:solidFill>
                <a:latin typeface="Arial"/>
                <a:ea typeface="Arial"/>
                <a:cs typeface="Arial"/>
              </a:defRPr>
            </a:pPr>
            <a:r>
              <a:rPr sz="1650" b="1">
                <a:solidFill>
                  <a:srgbClr val="087F72"/>
                </a:solidFill>
                <a:latin typeface="Arial"/>
                <a:ea typeface="Arial"/>
                <a:cs typeface="Arial"/>
              </a:rPr>
              <a:t>VERSIONED RULE ENGINE</a:t>
            </a:r>
          </a:p>
        </p:txBody>
      </p:sp>
      <p:sp>
        <p:nvSpPr>
          <p:cNvPr id="15" name="rules-body">
            <a:extLst xmlns:a="http://schemas.openxmlformats.org/drawingml/2006/main">
              <a:ext uri="{FF2B5EF4-FFF2-40B4-BE49-F238E27FC236}">
                <a16:creationId xmlns:a16="http://schemas.microsoft.com/office/drawing/2014/main" id="{24B579AC-AA31-4D2F-9774-F02E417F9D49}"/>
              </a:ext>
            </a:extLst>
          </p:cNvPr>
          <p:cNvSpPr>
            <a:spLocks xmlns:a="http://schemas.openxmlformats.org/drawingml/2006/main" noGrp="1"/>
          </p:cNvSpPr>
          <p:nvPr/>
        </p:nvSpPr>
        <p:spPr>
          <a:xfrm xmlns:a="http://schemas.openxmlformats.org/drawingml/2006/main">
            <a:off x="714375" y="4305300"/>
            <a:ext cx="495300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6333C"/>
                </a:solidFill>
                <a:latin typeface="Arial"/>
                <a:ea typeface="Arial"/>
                <a:cs typeface="Arial"/>
              </a:defRPr>
            </a:defPPr>
          </a:lstStyle>
          <a:p xmlns:a="http://schemas.openxmlformats.org/drawingml/2006/main">
            <a:pPr algn="l">
              <a:defRPr sz="1800" b="0">
                <a:solidFill>
                  <a:srgbClr val="16333C"/>
                </a:solidFill>
                <a:latin typeface="Arial"/>
                <a:ea typeface="Arial"/>
                <a:cs typeface="Arial"/>
              </a:defRPr>
            </a:pPr>
            <a:r>
              <a:rPr sz="1800" b="0">
                <a:solidFill>
                  <a:srgbClr val="16333C"/>
                </a:solidFill>
                <a:latin typeface="Arial"/>
                <a:ea typeface="Arial"/>
                <a:cs typeface="Arial"/>
              </a:rPr>
              <a:t>Evidence-backed findings, category assessments, and the weighted Trust Score.</a:t>
            </a:r>
          </a:p>
        </p:txBody>
      </p:sp>
      <p:sp>
        <p:nvSpPr>
          <p:cNvPr id="16" name="model-heading">
            <a:extLst xmlns:a="http://schemas.openxmlformats.org/drawingml/2006/main">
              <a:ext uri="{FF2B5EF4-FFF2-40B4-BE49-F238E27FC236}">
                <a16:creationId xmlns:a16="http://schemas.microsoft.com/office/drawing/2014/main" id="{FAA8A9DE-84C9-426F-960D-B4FC01143E4C}"/>
              </a:ext>
            </a:extLst>
          </p:cNvPr>
          <p:cNvSpPr>
            <a:spLocks xmlns:a="http://schemas.openxmlformats.org/drawingml/2006/main" noGrp="1"/>
          </p:cNvSpPr>
          <p:nvPr/>
        </p:nvSpPr>
        <p:spPr>
          <a:xfrm xmlns:a="http://schemas.openxmlformats.org/drawingml/2006/main">
            <a:off x="6286500" y="3829050"/>
            <a:ext cx="49530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1">
                <a:solidFill>
                  <a:srgbClr val="C96F50"/>
                </a:solidFill>
                <a:latin typeface="Arial"/>
                <a:ea typeface="Arial"/>
                <a:cs typeface="Arial"/>
              </a:defRPr>
            </a:defPPr>
          </a:lstStyle>
          <a:p xmlns:a="http://schemas.openxmlformats.org/drawingml/2006/main">
            <a:pPr algn="l">
              <a:defRPr sz="1650" b="1">
                <a:solidFill>
                  <a:srgbClr val="C96F50"/>
                </a:solidFill>
                <a:latin typeface="Arial"/>
                <a:ea typeface="Arial"/>
                <a:cs typeface="Arial"/>
              </a:defRPr>
            </a:pPr>
            <a:r>
              <a:rPr sz="1650" b="1">
                <a:solidFill>
                  <a:srgbClr val="C96F50"/>
                </a:solidFill>
                <a:latin typeface="Arial"/>
                <a:ea typeface="Arial"/>
                <a:cs typeface="Arial"/>
              </a:rPr>
              <a:t>LEARNED CLAUSE TAGGER</a:t>
            </a:r>
          </a:p>
        </p:txBody>
      </p:sp>
      <p:sp>
        <p:nvSpPr>
          <p:cNvPr id="17" name="model-body">
            <a:extLst xmlns:a="http://schemas.openxmlformats.org/drawingml/2006/main">
              <a:ext uri="{FF2B5EF4-FFF2-40B4-BE49-F238E27FC236}">
                <a16:creationId xmlns:a16="http://schemas.microsoft.com/office/drawing/2014/main" id="{1AA04426-9821-4046-86D0-6C8CDAF2B7F3}"/>
              </a:ext>
            </a:extLst>
          </p:cNvPr>
          <p:cNvSpPr>
            <a:spLocks xmlns:a="http://schemas.openxmlformats.org/drawingml/2006/main" noGrp="1"/>
          </p:cNvSpPr>
          <p:nvPr/>
        </p:nvSpPr>
        <p:spPr>
          <a:xfrm xmlns:a="http://schemas.openxmlformats.org/drawingml/2006/main">
            <a:off x="6286500" y="4305300"/>
            <a:ext cx="495300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6333C"/>
                </a:solidFill>
                <a:latin typeface="Arial"/>
                <a:ea typeface="Arial"/>
                <a:cs typeface="Arial"/>
              </a:defRPr>
            </a:defPPr>
          </a:lstStyle>
          <a:p xmlns:a="http://schemas.openxmlformats.org/drawingml/2006/main">
            <a:pPr algn="l">
              <a:defRPr sz="1800" b="0">
                <a:solidFill>
                  <a:srgbClr val="16333C"/>
                </a:solidFill>
                <a:latin typeface="Arial"/>
                <a:ea typeface="Arial"/>
                <a:cs typeface="Arial"/>
              </a:defRPr>
            </a:pPr>
            <a:r>
              <a:rPr sz="1800" b="0">
                <a:solidFill>
                  <a:srgbClr val="16333C"/>
                </a:solidFill>
                <a:latin typeface="Arial"/>
                <a:ea typeface="Arial"/>
                <a:cs typeface="Arial"/>
              </a:rPr>
              <a:t>Experimental topic suggestions returned separately from rule findings and scoring.</a:t>
            </a:r>
          </a:p>
        </p:txBody>
      </p:sp>
      <p:sp>
        <p:nvSpPr>
          <p:cNvPr id="18" name="privacy-note">
            <a:extLst xmlns:a="http://schemas.openxmlformats.org/drawingml/2006/main">
              <a:ext uri="{FF2B5EF4-FFF2-40B4-BE49-F238E27FC236}">
                <a16:creationId xmlns:a16="http://schemas.microsoft.com/office/drawing/2014/main" id="{74A181A2-4CE8-4376-B5A4-2E1955295B27}"/>
              </a:ext>
            </a:extLst>
          </p:cNvPr>
          <p:cNvSpPr>
            <a:spLocks xmlns:a="http://schemas.openxmlformats.org/drawingml/2006/main" noGrp="1"/>
          </p:cNvSpPr>
          <p:nvPr/>
        </p:nvSpPr>
        <p:spPr>
          <a:xfrm xmlns:a="http://schemas.openxmlformats.org/drawingml/2006/main">
            <a:off x="714375" y="590550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52666B"/>
                </a:solidFill>
                <a:latin typeface="Arial"/>
                <a:ea typeface="Arial"/>
                <a:cs typeface="Arial"/>
              </a:defRPr>
            </a:defPPr>
          </a:lstStyle>
          <a:p xmlns:a="http://schemas.openxmlformats.org/drawingml/2006/main">
            <a:pPr algn="l">
              <a:defRPr sz="1500" b="0">
                <a:solidFill>
                  <a:srgbClr val="52666B"/>
                </a:solidFill>
                <a:latin typeface="Arial"/>
                <a:ea typeface="Arial"/>
                <a:cs typeface="Arial"/>
              </a:defRPr>
            </a:pPr>
            <a:r>
              <a:rPr sz="1500" b="0">
                <a:solidFill>
                  <a:srgbClr val="52666B"/>
                </a:solidFill>
                <a:latin typeface="Arial"/>
                <a:ea typeface="Arial"/>
                <a:cs typeface="Arial"/>
              </a:rPr>
              <a:t>The API returns both paths to the interface. Submitted policy text is processed in memory, not saved.</a:t>
            </a:r>
          </a:p>
        </p:txBody>
      </p:sp>
    </p:spTree>
    <p:extLst>
      <p:ext uri="{BB962C8B-B14F-4D97-AF65-F5344CB8AC3E}">
        <p14:creationId xmlns:p14="http://schemas.microsoft.com/office/powerpoint/2010/main" val="1954397730"/>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460714B9-4800-4FA3-B6F2-CBD4A4B39480}"/>
              </a:ext>
            </a:extLst>
          </p:cNvPr>
          <p:cNvSpPr>
            <a:spLocks xmlns:a="http://schemas.openxmlformats.org/drawingml/2006/main" noGrp="1"/>
          </p:cNvSpPr>
          <p:nvPr/>
        </p:nvSpPr>
        <p:spPr>
          <a:xfrm xmlns:a="http://schemas.openxmlformats.org/drawingml/2006/main">
            <a:off x="685800" y="5143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300" b="1">
                <a:solidFill>
                  <a:srgbClr val="16333C"/>
                </a:solidFill>
                <a:latin typeface="Arial"/>
                <a:ea typeface="Arial"/>
                <a:cs typeface="Arial"/>
              </a:defRPr>
            </a:defPPr>
          </a:lstStyle>
          <a:p xmlns:a="http://schemas.openxmlformats.org/drawingml/2006/main">
            <a:pPr algn="l">
              <a:defRPr sz="3300" b="1">
                <a:solidFill>
                  <a:srgbClr val="16333C"/>
                </a:solidFill>
                <a:latin typeface="Arial"/>
                <a:ea typeface="Arial"/>
                <a:cs typeface="Arial"/>
              </a:defRPr>
            </a:pPr>
            <a:r>
              <a:rPr sz="3300" b="1">
                <a:solidFill>
                  <a:srgbClr val="16333C"/>
                </a:solidFill>
                <a:latin typeface="Arial"/>
                <a:ea typeface="Arial"/>
                <a:cs typeface="Arial"/>
              </a:rPr>
              <a:t>Rules and the Trust Score</a:t>
            </a:r>
          </a:p>
        </p:txBody>
      </p:sp>
      <p:sp>
        <p:nvSpPr>
          <p:cNvPr id="2" name="rules-subtitle">
            <a:extLst xmlns:a="http://schemas.openxmlformats.org/drawingml/2006/main">
              <a:ext uri="{FF2B5EF4-FFF2-40B4-BE49-F238E27FC236}">
                <a16:creationId xmlns:a16="http://schemas.microsoft.com/office/drawing/2014/main" id="{1B730443-C6FB-4C82-9EFC-9CCBA8BEA7FF}"/>
              </a:ext>
            </a:extLst>
          </p:cNvPr>
          <p:cNvSpPr>
            <a:spLocks xmlns:a="http://schemas.openxmlformats.org/drawingml/2006/main" noGrp="1"/>
          </p:cNvSpPr>
          <p:nvPr/>
        </p:nvSpPr>
        <p:spPr>
          <a:xfrm xmlns:a="http://schemas.openxmlformats.org/drawingml/2006/main">
            <a:off x="704850" y="1143000"/>
            <a:ext cx="10572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52666B"/>
                </a:solidFill>
                <a:latin typeface="Arial"/>
                <a:ea typeface="Arial"/>
                <a:cs typeface="Arial"/>
              </a:defRPr>
            </a:defPPr>
          </a:lstStyle>
          <a:p xmlns:a="http://schemas.openxmlformats.org/drawingml/2006/main">
            <a:pPr algn="l">
              <a:defRPr sz="1650" b="0">
                <a:solidFill>
                  <a:srgbClr val="52666B"/>
                </a:solidFill>
                <a:latin typeface="Arial"/>
                <a:ea typeface="Arial"/>
                <a:cs typeface="Arial"/>
              </a:defRPr>
            </a:pPr>
            <a:r>
              <a:rPr sz="1650" b="0">
                <a:solidFill>
                  <a:srgbClr val="52666B"/>
                </a:solidFill>
                <a:latin typeface="Arial"/>
                <a:ea typeface="Arial"/>
                <a:cs typeface="Arial"/>
              </a:rPr>
              <a:t>Anthony’s workstream: versioned rules, evidence-backed findings, and weighted scoring.</a:t>
            </a:r>
          </a:p>
        </p:txBody>
      </p:sp>
      <p:sp>
        <p:nvSpPr>
          <p:cNvPr id="3" name="weight-0">
            <a:extLst xmlns:a="http://schemas.openxmlformats.org/drawingml/2006/main">
              <a:ext uri="{FF2B5EF4-FFF2-40B4-BE49-F238E27FC236}">
                <a16:creationId xmlns:a16="http://schemas.microsoft.com/office/drawing/2014/main" id="{06053FB8-0B92-4606-8D6D-66906058A22B}"/>
              </a:ext>
            </a:extLst>
          </p:cNvPr>
          <p:cNvSpPr>
            <a:spLocks xmlns:a="http://schemas.openxmlformats.org/drawingml/2006/main" noGrp="1"/>
          </p:cNvSpPr>
          <p:nvPr/>
        </p:nvSpPr>
        <p:spPr>
          <a:xfrm xmlns:a="http://schemas.openxmlformats.org/drawingml/2006/main">
            <a:off x="742950" y="1924050"/>
            <a:ext cx="1066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550" b="1">
                <a:solidFill>
                  <a:srgbClr val="087F72"/>
                </a:solidFill>
                <a:latin typeface="Arial"/>
                <a:ea typeface="Arial"/>
                <a:cs typeface="Arial"/>
              </a:defRPr>
            </a:defPPr>
          </a:lstStyle>
          <a:p xmlns:a="http://schemas.openxmlformats.org/drawingml/2006/main">
            <a:pPr algn="l">
              <a:defRPr sz="2550" b="1">
                <a:solidFill>
                  <a:srgbClr val="087F72"/>
                </a:solidFill>
                <a:latin typeface="Arial"/>
                <a:ea typeface="Arial"/>
                <a:cs typeface="Arial"/>
              </a:defRPr>
            </a:pPr>
            <a:r>
              <a:rPr sz="2550" b="1">
                <a:solidFill>
                  <a:srgbClr val="087F72"/>
                </a:solidFill>
                <a:latin typeface="Arial"/>
                <a:ea typeface="Arial"/>
                <a:cs typeface="Arial"/>
              </a:rPr>
              <a:t>25%</a:t>
            </a:r>
          </a:p>
        </p:txBody>
      </p:sp>
      <p:sp>
        <p:nvSpPr>
          <p:cNvPr id="4" name="category-0">
            <a:extLst xmlns:a="http://schemas.openxmlformats.org/drawingml/2006/main">
              <a:ext uri="{FF2B5EF4-FFF2-40B4-BE49-F238E27FC236}">
                <a16:creationId xmlns:a16="http://schemas.microsoft.com/office/drawing/2014/main" id="{8B97B920-2206-43F6-873D-269D29B1E4E2}"/>
              </a:ext>
            </a:extLst>
          </p:cNvPr>
          <p:cNvSpPr>
            <a:spLocks xmlns:a="http://schemas.openxmlformats.org/drawingml/2006/main" noGrp="1"/>
          </p:cNvSpPr>
          <p:nvPr/>
        </p:nvSpPr>
        <p:spPr>
          <a:xfrm xmlns:a="http://schemas.openxmlformats.org/drawingml/2006/main">
            <a:off x="1952625" y="1971675"/>
            <a:ext cx="381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50" b="0">
                <a:solidFill>
                  <a:srgbClr val="16333C"/>
                </a:solidFill>
                <a:latin typeface="Arial"/>
                <a:ea typeface="Arial"/>
                <a:cs typeface="Arial"/>
              </a:defRPr>
            </a:defPPr>
          </a:lstStyle>
          <a:p xmlns:a="http://schemas.openxmlformats.org/drawingml/2006/main">
            <a:pPr algn="l">
              <a:defRPr sz="1950" b="0">
                <a:solidFill>
                  <a:srgbClr val="16333C"/>
                </a:solidFill>
                <a:latin typeface="Arial"/>
                <a:ea typeface="Arial"/>
                <a:cs typeface="Arial"/>
              </a:defRPr>
            </a:pPr>
            <a:r>
              <a:rPr sz="1950" b="0">
                <a:solidFill>
                  <a:srgbClr val="16333C"/>
                </a:solidFill>
                <a:latin typeface="Arial"/>
                <a:ea typeface="Arial"/>
                <a:cs typeface="Arial"/>
              </a:rPr>
              <a:t>Data sharing</a:t>
            </a:r>
          </a:p>
        </p:txBody>
      </p:sp>
      <p:sp>
        <p:nvSpPr>
          <p:cNvPr id="5" name="weight-1">
            <a:extLst xmlns:a="http://schemas.openxmlformats.org/drawingml/2006/main">
              <a:ext uri="{FF2B5EF4-FFF2-40B4-BE49-F238E27FC236}">
                <a16:creationId xmlns:a16="http://schemas.microsoft.com/office/drawing/2014/main" id="{791CB042-D774-4DE4-8741-62BF073F4B8B}"/>
              </a:ext>
            </a:extLst>
          </p:cNvPr>
          <p:cNvSpPr>
            <a:spLocks xmlns:a="http://schemas.openxmlformats.org/drawingml/2006/main" noGrp="1"/>
          </p:cNvSpPr>
          <p:nvPr/>
        </p:nvSpPr>
        <p:spPr>
          <a:xfrm xmlns:a="http://schemas.openxmlformats.org/drawingml/2006/main">
            <a:off x="742950" y="2628900"/>
            <a:ext cx="1066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550" b="1">
                <a:solidFill>
                  <a:srgbClr val="087F72"/>
                </a:solidFill>
                <a:latin typeface="Arial"/>
                <a:ea typeface="Arial"/>
                <a:cs typeface="Arial"/>
              </a:defRPr>
            </a:defPPr>
          </a:lstStyle>
          <a:p xmlns:a="http://schemas.openxmlformats.org/drawingml/2006/main">
            <a:pPr algn="l">
              <a:defRPr sz="2550" b="1">
                <a:solidFill>
                  <a:srgbClr val="087F72"/>
                </a:solidFill>
                <a:latin typeface="Arial"/>
                <a:ea typeface="Arial"/>
                <a:cs typeface="Arial"/>
              </a:defRPr>
            </a:pPr>
            <a:r>
              <a:rPr sz="2550" b="1">
                <a:solidFill>
                  <a:srgbClr val="087F72"/>
                </a:solidFill>
                <a:latin typeface="Arial"/>
                <a:ea typeface="Arial"/>
                <a:cs typeface="Arial"/>
              </a:rPr>
              <a:t>20%</a:t>
            </a:r>
          </a:p>
        </p:txBody>
      </p:sp>
      <p:sp>
        <p:nvSpPr>
          <p:cNvPr id="6" name="category-1">
            <a:extLst xmlns:a="http://schemas.openxmlformats.org/drawingml/2006/main">
              <a:ext uri="{FF2B5EF4-FFF2-40B4-BE49-F238E27FC236}">
                <a16:creationId xmlns:a16="http://schemas.microsoft.com/office/drawing/2014/main" id="{C9118765-2772-42E8-97E0-7A0E213A3109}"/>
              </a:ext>
            </a:extLst>
          </p:cNvPr>
          <p:cNvSpPr>
            <a:spLocks xmlns:a="http://schemas.openxmlformats.org/drawingml/2006/main" noGrp="1"/>
          </p:cNvSpPr>
          <p:nvPr/>
        </p:nvSpPr>
        <p:spPr>
          <a:xfrm xmlns:a="http://schemas.openxmlformats.org/drawingml/2006/main">
            <a:off x="1952625" y="2676525"/>
            <a:ext cx="381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50" b="0">
                <a:solidFill>
                  <a:srgbClr val="16333C"/>
                </a:solidFill>
                <a:latin typeface="Arial"/>
                <a:ea typeface="Arial"/>
                <a:cs typeface="Arial"/>
              </a:defRPr>
            </a:defPPr>
          </a:lstStyle>
          <a:p xmlns:a="http://schemas.openxmlformats.org/drawingml/2006/main">
            <a:pPr algn="l">
              <a:defRPr sz="1950" b="0">
                <a:solidFill>
                  <a:srgbClr val="16333C"/>
                </a:solidFill>
                <a:latin typeface="Arial"/>
                <a:ea typeface="Arial"/>
                <a:cs typeface="Arial"/>
              </a:defRPr>
            </a:pPr>
            <a:r>
              <a:rPr sz="1950" b="0">
                <a:solidFill>
                  <a:srgbClr val="16333C"/>
                </a:solidFill>
                <a:latin typeface="Arial"/>
                <a:ea typeface="Arial"/>
                <a:cs typeface="Arial"/>
              </a:rPr>
              <a:t>Readability</a:t>
            </a:r>
          </a:p>
        </p:txBody>
      </p:sp>
      <p:sp>
        <p:nvSpPr>
          <p:cNvPr id="7" name="weight-2">
            <a:extLst xmlns:a="http://schemas.openxmlformats.org/drawingml/2006/main">
              <a:ext uri="{FF2B5EF4-FFF2-40B4-BE49-F238E27FC236}">
                <a16:creationId xmlns:a16="http://schemas.microsoft.com/office/drawing/2014/main" id="{DB03925B-B915-49ED-9E54-33F2460CA216}"/>
              </a:ext>
            </a:extLst>
          </p:cNvPr>
          <p:cNvSpPr>
            <a:spLocks xmlns:a="http://schemas.openxmlformats.org/drawingml/2006/main" noGrp="1"/>
          </p:cNvSpPr>
          <p:nvPr/>
        </p:nvSpPr>
        <p:spPr>
          <a:xfrm xmlns:a="http://schemas.openxmlformats.org/drawingml/2006/main">
            <a:off x="742950" y="3333750"/>
            <a:ext cx="1066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550" b="1">
                <a:solidFill>
                  <a:srgbClr val="087F72"/>
                </a:solidFill>
                <a:latin typeface="Arial"/>
                <a:ea typeface="Arial"/>
                <a:cs typeface="Arial"/>
              </a:defRPr>
            </a:defPPr>
          </a:lstStyle>
          <a:p xmlns:a="http://schemas.openxmlformats.org/drawingml/2006/main">
            <a:pPr algn="l">
              <a:defRPr sz="2550" b="1">
                <a:solidFill>
                  <a:srgbClr val="087F72"/>
                </a:solidFill>
                <a:latin typeface="Arial"/>
                <a:ea typeface="Arial"/>
                <a:cs typeface="Arial"/>
              </a:defRPr>
            </a:pPr>
            <a:r>
              <a:rPr sz="2550" b="1">
                <a:solidFill>
                  <a:srgbClr val="087F72"/>
                </a:solidFill>
                <a:latin typeface="Arial"/>
                <a:ea typeface="Arial"/>
                <a:cs typeface="Arial"/>
              </a:rPr>
              <a:t>20%</a:t>
            </a:r>
          </a:p>
        </p:txBody>
      </p:sp>
      <p:sp>
        <p:nvSpPr>
          <p:cNvPr id="8" name="category-2">
            <a:extLst xmlns:a="http://schemas.openxmlformats.org/drawingml/2006/main">
              <a:ext uri="{FF2B5EF4-FFF2-40B4-BE49-F238E27FC236}">
                <a16:creationId xmlns:a16="http://schemas.microsoft.com/office/drawing/2014/main" id="{7B02CD41-D5AC-4632-AD64-7088F3EF6AE1}"/>
              </a:ext>
            </a:extLst>
          </p:cNvPr>
          <p:cNvSpPr>
            <a:spLocks xmlns:a="http://schemas.openxmlformats.org/drawingml/2006/main" noGrp="1"/>
          </p:cNvSpPr>
          <p:nvPr/>
        </p:nvSpPr>
        <p:spPr>
          <a:xfrm xmlns:a="http://schemas.openxmlformats.org/drawingml/2006/main">
            <a:off x="1952625" y="3381375"/>
            <a:ext cx="381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50" b="0">
                <a:solidFill>
                  <a:srgbClr val="16333C"/>
                </a:solidFill>
                <a:latin typeface="Arial"/>
                <a:ea typeface="Arial"/>
                <a:cs typeface="Arial"/>
              </a:defRPr>
            </a:defPPr>
          </a:lstStyle>
          <a:p xmlns:a="http://schemas.openxmlformats.org/drawingml/2006/main">
            <a:pPr algn="l">
              <a:defRPr sz="1950" b="0">
                <a:solidFill>
                  <a:srgbClr val="16333C"/>
                </a:solidFill>
                <a:latin typeface="Arial"/>
                <a:ea typeface="Arial"/>
                <a:cs typeface="Arial"/>
              </a:defRPr>
            </a:pPr>
            <a:r>
              <a:rPr sz="1950" b="0">
                <a:solidFill>
                  <a:srgbClr val="16333C"/>
                </a:solidFill>
                <a:latin typeface="Arial"/>
                <a:ea typeface="Arial"/>
                <a:cs typeface="Arial"/>
              </a:rPr>
              <a:t>Data collection</a:t>
            </a:r>
          </a:p>
        </p:txBody>
      </p:sp>
      <p:sp>
        <p:nvSpPr>
          <p:cNvPr id="9" name="weight-3">
            <a:extLst xmlns:a="http://schemas.openxmlformats.org/drawingml/2006/main">
              <a:ext uri="{FF2B5EF4-FFF2-40B4-BE49-F238E27FC236}">
                <a16:creationId xmlns:a16="http://schemas.microsoft.com/office/drawing/2014/main" id="{53BE2E75-D2F1-4F5F-A3C2-871E9F5A50BC}"/>
              </a:ext>
            </a:extLst>
          </p:cNvPr>
          <p:cNvSpPr>
            <a:spLocks xmlns:a="http://schemas.openxmlformats.org/drawingml/2006/main" noGrp="1"/>
          </p:cNvSpPr>
          <p:nvPr/>
        </p:nvSpPr>
        <p:spPr>
          <a:xfrm xmlns:a="http://schemas.openxmlformats.org/drawingml/2006/main">
            <a:off x="742950" y="4038600"/>
            <a:ext cx="1066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550" b="1">
                <a:solidFill>
                  <a:srgbClr val="087F72"/>
                </a:solidFill>
                <a:latin typeface="Arial"/>
                <a:ea typeface="Arial"/>
                <a:cs typeface="Arial"/>
              </a:defRPr>
            </a:defPPr>
          </a:lstStyle>
          <a:p xmlns:a="http://schemas.openxmlformats.org/drawingml/2006/main">
            <a:pPr algn="l">
              <a:defRPr sz="2550" b="1">
                <a:solidFill>
                  <a:srgbClr val="087F72"/>
                </a:solidFill>
                <a:latin typeface="Arial"/>
                <a:ea typeface="Arial"/>
                <a:cs typeface="Arial"/>
              </a:defRPr>
            </a:pPr>
            <a:r>
              <a:rPr sz="2550" b="1">
                <a:solidFill>
                  <a:srgbClr val="087F72"/>
                </a:solidFill>
                <a:latin typeface="Arial"/>
                <a:ea typeface="Arial"/>
                <a:cs typeface="Arial"/>
              </a:rPr>
              <a:t>20%</a:t>
            </a:r>
          </a:p>
        </p:txBody>
      </p:sp>
      <p:sp>
        <p:nvSpPr>
          <p:cNvPr id="10" name="category-3">
            <a:extLst xmlns:a="http://schemas.openxmlformats.org/drawingml/2006/main">
              <a:ext uri="{FF2B5EF4-FFF2-40B4-BE49-F238E27FC236}">
                <a16:creationId xmlns:a16="http://schemas.microsoft.com/office/drawing/2014/main" id="{B64076F9-7815-47E4-9669-A7EAF777A2B3}"/>
              </a:ext>
            </a:extLst>
          </p:cNvPr>
          <p:cNvSpPr>
            <a:spLocks xmlns:a="http://schemas.openxmlformats.org/drawingml/2006/main" noGrp="1"/>
          </p:cNvSpPr>
          <p:nvPr/>
        </p:nvSpPr>
        <p:spPr>
          <a:xfrm xmlns:a="http://schemas.openxmlformats.org/drawingml/2006/main">
            <a:off x="1952625" y="4086225"/>
            <a:ext cx="381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50" b="0">
                <a:solidFill>
                  <a:srgbClr val="16333C"/>
                </a:solidFill>
                <a:latin typeface="Arial"/>
                <a:ea typeface="Arial"/>
                <a:cs typeface="Arial"/>
              </a:defRPr>
            </a:defPPr>
          </a:lstStyle>
          <a:p xmlns:a="http://schemas.openxmlformats.org/drawingml/2006/main">
            <a:pPr algn="l">
              <a:defRPr sz="1950" b="0">
                <a:solidFill>
                  <a:srgbClr val="16333C"/>
                </a:solidFill>
                <a:latin typeface="Arial"/>
                <a:ea typeface="Arial"/>
                <a:cs typeface="Arial"/>
              </a:defRPr>
            </a:pPr>
            <a:r>
              <a:rPr sz="1950" b="0">
                <a:solidFill>
                  <a:srgbClr val="16333C"/>
                </a:solidFill>
                <a:latin typeface="Arial"/>
                <a:ea typeface="Arial"/>
                <a:cs typeface="Arial"/>
              </a:rPr>
              <a:t>Legal language</a:t>
            </a:r>
          </a:p>
        </p:txBody>
      </p:sp>
      <p:sp>
        <p:nvSpPr>
          <p:cNvPr id="11" name="weight-4">
            <a:extLst xmlns:a="http://schemas.openxmlformats.org/drawingml/2006/main">
              <a:ext uri="{FF2B5EF4-FFF2-40B4-BE49-F238E27FC236}">
                <a16:creationId xmlns:a16="http://schemas.microsoft.com/office/drawing/2014/main" id="{F5059082-238C-42D3-BFF9-0259938EF9BF}"/>
              </a:ext>
            </a:extLst>
          </p:cNvPr>
          <p:cNvSpPr>
            <a:spLocks xmlns:a="http://schemas.openxmlformats.org/drawingml/2006/main" noGrp="1"/>
          </p:cNvSpPr>
          <p:nvPr/>
        </p:nvSpPr>
        <p:spPr>
          <a:xfrm xmlns:a="http://schemas.openxmlformats.org/drawingml/2006/main">
            <a:off x="742950" y="4743450"/>
            <a:ext cx="1066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550" b="1">
                <a:solidFill>
                  <a:srgbClr val="087F72"/>
                </a:solidFill>
                <a:latin typeface="Arial"/>
                <a:ea typeface="Arial"/>
                <a:cs typeface="Arial"/>
              </a:defRPr>
            </a:defPPr>
          </a:lstStyle>
          <a:p xmlns:a="http://schemas.openxmlformats.org/drawingml/2006/main">
            <a:pPr algn="l">
              <a:defRPr sz="2550" b="1">
                <a:solidFill>
                  <a:srgbClr val="087F72"/>
                </a:solidFill>
                <a:latin typeface="Arial"/>
                <a:ea typeface="Arial"/>
                <a:cs typeface="Arial"/>
              </a:defRPr>
            </a:pPr>
            <a:r>
              <a:rPr sz="2550" b="1">
                <a:solidFill>
                  <a:srgbClr val="087F72"/>
                </a:solidFill>
                <a:latin typeface="Arial"/>
                <a:ea typeface="Arial"/>
                <a:cs typeface="Arial"/>
              </a:rPr>
              <a:t>15%</a:t>
            </a:r>
          </a:p>
        </p:txBody>
      </p:sp>
      <p:sp>
        <p:nvSpPr>
          <p:cNvPr id="12" name="category-4">
            <a:extLst xmlns:a="http://schemas.openxmlformats.org/drawingml/2006/main">
              <a:ext uri="{FF2B5EF4-FFF2-40B4-BE49-F238E27FC236}">
                <a16:creationId xmlns:a16="http://schemas.microsoft.com/office/drawing/2014/main" id="{F714DC6F-14E0-48A3-AA2B-918275E84DEA}"/>
              </a:ext>
            </a:extLst>
          </p:cNvPr>
          <p:cNvSpPr>
            <a:spLocks xmlns:a="http://schemas.openxmlformats.org/drawingml/2006/main" noGrp="1"/>
          </p:cNvSpPr>
          <p:nvPr/>
        </p:nvSpPr>
        <p:spPr>
          <a:xfrm xmlns:a="http://schemas.openxmlformats.org/drawingml/2006/main">
            <a:off x="1952625" y="4791075"/>
            <a:ext cx="381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50" b="0">
                <a:solidFill>
                  <a:srgbClr val="16333C"/>
                </a:solidFill>
                <a:latin typeface="Arial"/>
                <a:ea typeface="Arial"/>
                <a:cs typeface="Arial"/>
              </a:defRPr>
            </a:defPPr>
          </a:lstStyle>
          <a:p xmlns:a="http://schemas.openxmlformats.org/drawingml/2006/main">
            <a:pPr algn="l">
              <a:defRPr sz="1950" b="0">
                <a:solidFill>
                  <a:srgbClr val="16333C"/>
                </a:solidFill>
                <a:latin typeface="Arial"/>
                <a:ea typeface="Arial"/>
                <a:cs typeface="Arial"/>
              </a:defRPr>
            </a:pPr>
            <a:r>
              <a:rPr sz="1950" b="0">
                <a:solidFill>
                  <a:srgbClr val="16333C"/>
                </a:solidFill>
                <a:latin typeface="Arial"/>
                <a:ea typeface="Arial"/>
                <a:cs typeface="Arial"/>
              </a:rPr>
              <a:t>User agency</a:t>
            </a:r>
          </a:p>
        </p:txBody>
      </p:sp>
      <p:sp>
        <p:nvSpPr>
          <p:cNvPr id="13" name="finding-heading">
            <a:extLst xmlns:a="http://schemas.openxmlformats.org/drawingml/2006/main">
              <a:ext uri="{FF2B5EF4-FFF2-40B4-BE49-F238E27FC236}">
                <a16:creationId xmlns:a16="http://schemas.microsoft.com/office/drawing/2014/main" id="{0A843B52-DA2E-4B7B-B010-698642D21857}"/>
              </a:ext>
            </a:extLst>
          </p:cNvPr>
          <p:cNvSpPr>
            <a:spLocks xmlns:a="http://schemas.openxmlformats.org/drawingml/2006/main" noGrp="1"/>
          </p:cNvSpPr>
          <p:nvPr/>
        </p:nvSpPr>
        <p:spPr>
          <a:xfrm xmlns:a="http://schemas.openxmlformats.org/drawingml/2006/main">
            <a:off x="6610350" y="2009775"/>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16333C"/>
                </a:solidFill>
                <a:latin typeface="Arial"/>
                <a:ea typeface="Arial"/>
                <a:cs typeface="Arial"/>
              </a:defRPr>
            </a:defPPr>
          </a:lstStyle>
          <a:p xmlns:a="http://schemas.openxmlformats.org/drawingml/2006/main">
            <a:pPr algn="l">
              <a:defRPr sz="2250" b="1">
                <a:solidFill>
                  <a:srgbClr val="16333C"/>
                </a:solidFill>
                <a:latin typeface="Arial"/>
                <a:ea typeface="Arial"/>
                <a:cs typeface="Arial"/>
              </a:defRPr>
            </a:pPr>
            <a:r>
              <a:rPr sz="2250" b="1">
                <a:solidFill>
                  <a:srgbClr val="16333C"/>
                </a:solidFill>
                <a:latin typeface="Arial"/>
                <a:ea typeface="Arial"/>
                <a:cs typeface="Arial"/>
              </a:rPr>
              <a:t>Each finding includes</a:t>
            </a:r>
          </a:p>
        </p:txBody>
      </p:sp>
      <p:sp>
        <p:nvSpPr>
          <p:cNvPr id="14" name="finding-details">
            <a:extLst xmlns:a="http://schemas.openxmlformats.org/drawingml/2006/main">
              <a:ext uri="{FF2B5EF4-FFF2-40B4-BE49-F238E27FC236}">
                <a16:creationId xmlns:a16="http://schemas.microsoft.com/office/drawing/2014/main" id="{A6BFD4C1-40EE-4442-862C-AA26C06C68C4}"/>
              </a:ext>
            </a:extLst>
          </p:cNvPr>
          <p:cNvSpPr>
            <a:spLocks xmlns:a="http://schemas.openxmlformats.org/drawingml/2006/main" noGrp="1"/>
          </p:cNvSpPr>
          <p:nvPr/>
        </p:nvSpPr>
        <p:spPr>
          <a:xfrm xmlns:a="http://schemas.openxmlformats.org/drawingml/2006/main">
            <a:off x="6629400" y="2600325"/>
            <a:ext cx="4400550" cy="1533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16333C"/>
                </a:solidFill>
                <a:latin typeface="Arial"/>
                <a:ea typeface="Arial"/>
                <a:cs typeface="Arial"/>
              </a:defRPr>
            </a:defPPr>
          </a:lstStyle>
          <a:p xmlns:a="http://schemas.openxmlformats.org/drawingml/2006/main">
            <a:pPr algn="l">
              <a:defRPr sz="1650" b="0">
                <a:solidFill>
                  <a:srgbClr val="16333C"/>
                </a:solidFill>
                <a:latin typeface="Arial"/>
                <a:ea typeface="Arial"/>
                <a:cs typeface="Arial"/>
              </a:defRPr>
            </a:pPr>
            <a:r>
              <a:rPr sz="1650" b="0">
                <a:solidFill>
                  <a:srgbClr val="16333C"/>
                </a:solidFill>
                <a:latin typeface="Arial"/>
                <a:ea typeface="Arial"/>
                <a:cs typeface="Arial"/>
              </a:rPr>
              <a:t>Matched policy wording</a:t>
            </a:r>
          </a:p>
          <a:p xmlns:a="http://schemas.openxmlformats.org/drawingml/2006/main">
            <a:pPr algn="l">
              <a:defRPr sz="1650" b="0">
                <a:solidFill>
                  <a:srgbClr val="16333C"/>
                </a:solidFill>
                <a:latin typeface="Arial"/>
                <a:ea typeface="Arial"/>
                <a:cs typeface="Arial"/>
              </a:defRPr>
            </a:pPr>
            <a:r>
              <a:rPr sz="1650" b="0">
                <a:solidFill>
                  <a:srgbClr val="16333C"/>
                </a:solidFill>
                <a:latin typeface="Arial"/>
                <a:ea typeface="Arial"/>
                <a:cs typeface="Arial"/>
              </a:rPr>
              <a:t>Plain-language explanation</a:t>
            </a:r>
          </a:p>
          <a:p xmlns:a="http://schemas.openxmlformats.org/drawingml/2006/main">
            <a:pPr algn="l">
              <a:defRPr sz="1650" b="0">
                <a:solidFill>
                  <a:srgbClr val="16333C"/>
                </a:solidFill>
                <a:latin typeface="Arial"/>
                <a:ea typeface="Arial"/>
                <a:cs typeface="Arial"/>
              </a:defRPr>
            </a:pPr>
            <a:r>
              <a:rPr sz="1650" b="0">
                <a:solidFill>
                  <a:srgbClr val="16333C"/>
                </a:solidFill>
                <a:latin typeface="Arial"/>
                <a:ea typeface="Arial"/>
                <a:cs typeface="Arial"/>
              </a:rPr>
              <a:t>Suggested next step</a:t>
            </a:r>
          </a:p>
          <a:p xmlns:a="http://schemas.openxmlformats.org/drawingml/2006/main">
            <a:pPr algn="l">
              <a:defRPr sz="1650" b="0">
                <a:solidFill>
                  <a:srgbClr val="16333C"/>
                </a:solidFill>
                <a:latin typeface="Arial"/>
                <a:ea typeface="Arial"/>
                <a:cs typeface="Arial"/>
              </a:defRPr>
            </a:pPr>
            <a:r>
              <a:rPr sz="1650" b="0">
                <a:solidFill>
                  <a:srgbClr val="16333C"/>
                </a:solidFill>
                <a:latin typeface="Arial"/>
                <a:ea typeface="Arial"/>
                <a:cs typeface="Arial"/>
              </a:rPr>
              <a:t>Selected rules link to GDPR and CCPA/CPRA references.</a:t>
            </a:r>
          </a:p>
        </p:txBody>
      </p:sp>
      <p:sp>
        <p:nvSpPr>
          <p:cNvPr id="15" name="coverage-heading">
            <a:extLst xmlns:a="http://schemas.openxmlformats.org/drawingml/2006/main">
              <a:ext uri="{FF2B5EF4-FFF2-40B4-BE49-F238E27FC236}">
                <a16:creationId xmlns:a16="http://schemas.microsoft.com/office/drawing/2014/main" id="{0FF7932A-681B-4673-B531-2BC371ED3EBE}"/>
              </a:ext>
            </a:extLst>
          </p:cNvPr>
          <p:cNvSpPr>
            <a:spLocks xmlns:a="http://schemas.openxmlformats.org/drawingml/2006/main" noGrp="1"/>
          </p:cNvSpPr>
          <p:nvPr/>
        </p:nvSpPr>
        <p:spPr>
          <a:xfrm xmlns:a="http://schemas.openxmlformats.org/drawingml/2006/main">
            <a:off x="6629400" y="4391025"/>
            <a:ext cx="440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C96F50"/>
                </a:solidFill>
                <a:latin typeface="Arial"/>
                <a:ea typeface="Arial"/>
                <a:cs typeface="Arial"/>
              </a:defRPr>
            </a:defPPr>
          </a:lstStyle>
          <a:p xmlns:a="http://schemas.openxmlformats.org/drawingml/2006/main">
            <a:pPr algn="l">
              <a:defRPr sz="1800" b="1">
                <a:solidFill>
                  <a:srgbClr val="C96F50"/>
                </a:solidFill>
                <a:latin typeface="Arial"/>
                <a:ea typeface="Arial"/>
                <a:cs typeface="Arial"/>
              </a:defRPr>
            </a:pPr>
            <a:r>
              <a:rPr sz="1800" b="1">
                <a:solidFill>
                  <a:srgbClr val="C96F50"/>
                </a:solidFill>
                <a:latin typeface="Arial"/>
                <a:ea typeface="Arial"/>
                <a:cs typeface="Arial"/>
              </a:rPr>
              <a:t>Coverage stays visible</a:t>
            </a:r>
          </a:p>
        </p:txBody>
      </p:sp>
      <p:sp>
        <p:nvSpPr>
          <p:cNvPr id="16" name="coverage-body">
            <a:extLst xmlns:a="http://schemas.openxmlformats.org/drawingml/2006/main">
              <a:ext uri="{FF2B5EF4-FFF2-40B4-BE49-F238E27FC236}">
                <a16:creationId xmlns:a16="http://schemas.microsoft.com/office/drawing/2014/main" id="{49AE754B-A957-4E7D-A70B-B9E2F654D553}"/>
              </a:ext>
            </a:extLst>
          </p:cNvPr>
          <p:cNvSpPr>
            <a:spLocks xmlns:a="http://schemas.openxmlformats.org/drawingml/2006/main" noGrp="1"/>
          </p:cNvSpPr>
          <p:nvPr/>
        </p:nvSpPr>
        <p:spPr>
          <a:xfrm xmlns:a="http://schemas.openxmlformats.org/drawingml/2006/main">
            <a:off x="6629400" y="4867275"/>
            <a:ext cx="4457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16333C"/>
                </a:solidFill>
                <a:latin typeface="Arial"/>
                <a:ea typeface="Arial"/>
                <a:cs typeface="Arial"/>
              </a:defRPr>
            </a:defPPr>
          </a:lstStyle>
          <a:p xmlns:a="http://schemas.openxmlformats.org/drawingml/2006/main">
            <a:pPr algn="l">
              <a:defRPr sz="1650" b="0">
                <a:solidFill>
                  <a:srgbClr val="16333C"/>
                </a:solidFill>
                <a:latin typeface="Arial"/>
                <a:ea typeface="Arial"/>
                <a:cs typeface="Arial"/>
              </a:defRPr>
            </a:pPr>
            <a:r>
              <a:rPr sz="1650" b="0">
                <a:solidFill>
                  <a:srgbClr val="16333C"/>
                </a:solidFill>
                <a:latin typeface="Arial"/>
                <a:ea typeface="Arial"/>
                <a:cs typeface="Arial"/>
              </a:rPr>
              <a:t>Insufficient text is marked “Needs evidence,” not treated as a favorable signal.</a:t>
            </a:r>
          </a:p>
        </p:txBody>
      </p:sp>
      <p:sp>
        <p:nvSpPr>
          <p:cNvPr id="17" name="score-meaning">
            <a:extLst xmlns:a="http://schemas.openxmlformats.org/drawingml/2006/main">
              <a:ext uri="{FF2B5EF4-FFF2-40B4-BE49-F238E27FC236}">
                <a16:creationId xmlns:a16="http://schemas.microsoft.com/office/drawing/2014/main" id="{1E9775D1-D885-4FB7-AEC4-C871CA6F81DF}"/>
              </a:ext>
            </a:extLst>
          </p:cNvPr>
          <p:cNvSpPr>
            <a:spLocks xmlns:a="http://schemas.openxmlformats.org/drawingml/2006/main" noGrp="1"/>
          </p:cNvSpPr>
          <p:nvPr/>
        </p:nvSpPr>
        <p:spPr>
          <a:xfrm xmlns:a="http://schemas.openxmlformats.org/drawingml/2006/main">
            <a:off x="742950" y="581025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425" b="0">
                <a:solidFill>
                  <a:srgbClr val="52666B"/>
                </a:solidFill>
                <a:latin typeface="Arial"/>
                <a:ea typeface="Arial"/>
                <a:cs typeface="Arial"/>
              </a:defRPr>
            </a:defPPr>
          </a:lstStyle>
          <a:p xmlns:a="http://schemas.openxmlformats.org/drawingml/2006/main">
            <a:pPr algn="l">
              <a:defRPr sz="1425" b="0">
                <a:solidFill>
                  <a:srgbClr val="52666B"/>
                </a:solidFill>
                <a:latin typeface="Arial"/>
                <a:ea typeface="Arial"/>
                <a:cs typeface="Arial"/>
              </a:defRPr>
            </a:pPr>
            <a:r>
              <a:rPr sz="1425" b="0">
                <a:solidFill>
                  <a:srgbClr val="52666B"/>
                </a:solidFill>
                <a:latin typeface="Arial"/>
                <a:ea typeface="Arial"/>
                <a:cs typeface="Arial"/>
              </a:rPr>
              <a:t>A higher score means stronger transparency and user-protective signals in the text; it is not a legal compliance result.</a:t>
            </a:r>
          </a:p>
        </p:txBody>
      </p:sp>
    </p:spTree>
    <p:extLst>
      <p:ext uri="{BB962C8B-B14F-4D97-AF65-F5344CB8AC3E}">
        <p14:creationId xmlns:p14="http://schemas.microsoft.com/office/powerpoint/2010/main" val="1278177106"/>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080D99C2-0635-4B84-852F-518EC175192B}"/>
              </a:ext>
            </a:extLst>
          </p:cNvPr>
          <p:cNvSpPr>
            <a:spLocks xmlns:a="http://schemas.openxmlformats.org/drawingml/2006/main" noGrp="1"/>
          </p:cNvSpPr>
          <p:nvPr/>
        </p:nvSpPr>
        <p:spPr>
          <a:xfrm xmlns:a="http://schemas.openxmlformats.org/drawingml/2006/main">
            <a:off x="685800" y="5143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300" b="1">
                <a:solidFill>
                  <a:srgbClr val="16333C"/>
                </a:solidFill>
                <a:latin typeface="Arial"/>
                <a:ea typeface="Arial"/>
                <a:cs typeface="Arial"/>
              </a:defRPr>
            </a:defPPr>
          </a:lstStyle>
          <a:p xmlns:a="http://schemas.openxmlformats.org/drawingml/2006/main">
            <a:pPr algn="l">
              <a:defRPr sz="3300" b="1">
                <a:solidFill>
                  <a:srgbClr val="16333C"/>
                </a:solidFill>
                <a:latin typeface="Arial"/>
                <a:ea typeface="Arial"/>
                <a:cs typeface="Arial"/>
              </a:defRPr>
            </a:pPr>
            <a:r>
              <a:rPr sz="3300" b="1">
                <a:solidFill>
                  <a:srgbClr val="16333C"/>
                </a:solidFill>
                <a:latin typeface="Arial"/>
                <a:ea typeface="Arial"/>
                <a:cs typeface="Arial"/>
              </a:rPr>
              <a:t>OPP-115 clause tagger</a:t>
            </a:r>
          </a:p>
        </p:txBody>
      </p:sp>
      <p:sp>
        <p:nvSpPr>
          <p:cNvPr id="2" name="model-subtitle">
            <a:extLst xmlns:a="http://schemas.openxmlformats.org/drawingml/2006/main">
              <a:ext uri="{FF2B5EF4-FFF2-40B4-BE49-F238E27FC236}">
                <a16:creationId xmlns:a16="http://schemas.microsoft.com/office/drawing/2014/main" id="{1ADBEDCF-8320-4510-A363-EFEA897F765D}"/>
              </a:ext>
            </a:extLst>
          </p:cNvPr>
          <p:cNvSpPr>
            <a:spLocks xmlns:a="http://schemas.openxmlformats.org/drawingml/2006/main" noGrp="1"/>
          </p:cNvSpPr>
          <p:nvPr/>
        </p:nvSpPr>
        <p:spPr>
          <a:xfrm xmlns:a="http://schemas.openxmlformats.org/drawingml/2006/main">
            <a:off x="704850" y="1143000"/>
            <a:ext cx="10572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52666B"/>
                </a:solidFill>
                <a:latin typeface="Arial"/>
                <a:ea typeface="Arial"/>
                <a:cs typeface="Arial"/>
              </a:defRPr>
            </a:defPPr>
          </a:lstStyle>
          <a:p xmlns:a="http://schemas.openxmlformats.org/drawingml/2006/main">
            <a:pPr algn="l">
              <a:defRPr sz="1650" b="0">
                <a:solidFill>
                  <a:srgbClr val="52666B"/>
                </a:solidFill>
                <a:latin typeface="Arial"/>
                <a:ea typeface="Arial"/>
                <a:cs typeface="Arial"/>
              </a:defRPr>
            </a:pPr>
            <a:r>
              <a:rPr sz="1650" b="0">
                <a:solidFill>
                  <a:srgbClr val="52666B"/>
                </a:solidFill>
                <a:latin typeface="Arial"/>
                <a:ea typeface="Arial"/>
                <a:cs typeface="Arial"/>
              </a:rPr>
              <a:t>TJ’s workstream: multi-label topic suggestions attached to policy clauses.</a:t>
            </a:r>
          </a:p>
        </p:txBody>
      </p:sp>
      <p:sp>
        <p:nvSpPr>
          <p:cNvPr id="3" name="model-method">
            <a:extLst xmlns:a="http://schemas.openxmlformats.org/drawingml/2006/main">
              <a:ext uri="{FF2B5EF4-FFF2-40B4-BE49-F238E27FC236}">
                <a16:creationId xmlns:a16="http://schemas.microsoft.com/office/drawing/2014/main" id="{1C14C24C-3150-4885-92B1-FED65CE43B13}"/>
              </a:ext>
            </a:extLst>
          </p:cNvPr>
          <p:cNvSpPr>
            <a:spLocks xmlns:a="http://schemas.openxmlformats.org/drawingml/2006/main" noGrp="1"/>
          </p:cNvSpPr>
          <p:nvPr/>
        </p:nvSpPr>
        <p:spPr>
          <a:xfrm xmlns:a="http://schemas.openxmlformats.org/drawingml/2006/main">
            <a:off x="723900" y="1771650"/>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1">
                <a:solidFill>
                  <a:srgbClr val="087F72"/>
                </a:solidFill>
                <a:latin typeface="Arial"/>
                <a:ea typeface="Arial"/>
                <a:cs typeface="Arial"/>
              </a:defRPr>
            </a:defPPr>
          </a:lstStyle>
          <a:p xmlns:a="http://schemas.openxmlformats.org/drawingml/2006/main">
            <a:pPr algn="l">
              <a:defRPr sz="1650" b="1">
                <a:solidFill>
                  <a:srgbClr val="087F72"/>
                </a:solidFill>
                <a:latin typeface="Arial"/>
                <a:ea typeface="Arial"/>
                <a:cs typeface="Arial"/>
              </a:defRPr>
            </a:pPr>
            <a:r>
              <a:rPr sz="1650" b="1">
                <a:solidFill>
                  <a:srgbClr val="087F72"/>
                </a:solidFill>
                <a:latin typeface="Arial"/>
                <a:ea typeface="Arial"/>
                <a:cs typeface="Arial"/>
              </a:rPr>
              <a:t>Multinomial Naive Bayes  ·  binary word and adjacent-word-pair features</a:t>
            </a:r>
          </a:p>
        </p:txBody>
      </p:sp>
      <p:sp>
        <p:nvSpPr>
          <p:cNvPr id="4" name="data-count">
            <a:extLst xmlns:a="http://schemas.openxmlformats.org/drawingml/2006/main">
              <a:ext uri="{FF2B5EF4-FFF2-40B4-BE49-F238E27FC236}">
                <a16:creationId xmlns:a16="http://schemas.microsoft.com/office/drawing/2014/main" id="{1A869586-95DD-46A9-8779-1393BCAB5F79}"/>
              </a:ext>
            </a:extLst>
          </p:cNvPr>
          <p:cNvSpPr>
            <a:spLocks xmlns:a="http://schemas.openxmlformats.org/drawingml/2006/main" noGrp="1"/>
          </p:cNvSpPr>
          <p:nvPr/>
        </p:nvSpPr>
        <p:spPr>
          <a:xfrm xmlns:a="http://schemas.openxmlformats.org/drawingml/2006/main">
            <a:off x="742950" y="2447925"/>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b="0">
                <a:solidFill>
                  <a:srgbClr val="16333C"/>
                </a:solidFill>
                <a:latin typeface="Arial"/>
                <a:ea typeface="Arial"/>
                <a:cs typeface="Arial"/>
              </a:defRPr>
            </a:defPPr>
          </a:lstStyle>
          <a:p xmlns:a="http://schemas.openxmlformats.org/drawingml/2006/main">
            <a:pPr algn="l">
              <a:defRPr sz="1875" b="0">
                <a:solidFill>
                  <a:srgbClr val="16333C"/>
                </a:solidFill>
                <a:latin typeface="Arial"/>
                <a:ea typeface="Arial"/>
                <a:cs typeface="Arial"/>
              </a:defRPr>
            </a:pPr>
            <a:r>
              <a:rPr sz="1875" b="0">
                <a:solidFill>
                  <a:srgbClr val="16333C"/>
                </a:solidFill>
                <a:latin typeface="Arial"/>
                <a:ea typeface="Arial"/>
                <a:cs typeface="Arial"/>
              </a:rPr>
              <a:t>115 policies     ·     3,790 labeled segments     ·     92 train / 23 holdout policies</a:t>
            </a:r>
          </a:p>
        </p:txBody>
      </p:sp>
      <p:sp>
        <p:nvSpPr>
          <p:cNvPr id="5" name="holdout-detail">
            <a:extLst xmlns:a="http://schemas.openxmlformats.org/drawingml/2006/main">
              <a:ext uri="{FF2B5EF4-FFF2-40B4-BE49-F238E27FC236}">
                <a16:creationId xmlns:a16="http://schemas.microsoft.com/office/drawing/2014/main" id="{86CF6845-A5F5-4BC9-8416-54C55CFD4640}"/>
              </a:ext>
            </a:extLst>
          </p:cNvPr>
          <p:cNvSpPr>
            <a:spLocks xmlns:a="http://schemas.openxmlformats.org/drawingml/2006/main" noGrp="1"/>
          </p:cNvSpPr>
          <p:nvPr/>
        </p:nvSpPr>
        <p:spPr>
          <a:xfrm xmlns:a="http://schemas.openxmlformats.org/drawingml/2006/main">
            <a:off x="742950" y="2952750"/>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52666B"/>
                </a:solidFill>
                <a:latin typeface="Arial"/>
                <a:ea typeface="Arial"/>
                <a:cs typeface="Arial"/>
              </a:defRPr>
            </a:defPPr>
          </a:lstStyle>
          <a:p xmlns:a="http://schemas.openxmlformats.org/drawingml/2006/main">
            <a:pPr algn="l">
              <a:defRPr sz="1500" b="0">
                <a:solidFill>
                  <a:srgbClr val="52666B"/>
                </a:solidFill>
                <a:latin typeface="Arial"/>
                <a:ea typeface="Arial"/>
                <a:cs typeface="Arial"/>
              </a:defRPr>
            </a:pPr>
            <a:r>
              <a:rPr sz="1500" b="0">
                <a:solidFill>
                  <a:srgbClr val="52666B"/>
                </a:solidFill>
                <a:latin typeface="Arial"/>
                <a:ea typeface="Arial"/>
                <a:cs typeface="Arial"/>
              </a:rPr>
              <a:t>The held-out evaluation used 862 segments from policies the model had not seen.</a:t>
            </a:r>
          </a:p>
        </p:txBody>
      </p:sp>
      <p:sp>
        <p:nvSpPr>
          <p:cNvPr id="6" name="metric-value-0">
            <a:extLst xmlns:a="http://schemas.openxmlformats.org/drawingml/2006/main">
              <a:ext uri="{FF2B5EF4-FFF2-40B4-BE49-F238E27FC236}">
                <a16:creationId xmlns:a16="http://schemas.microsoft.com/office/drawing/2014/main" id="{F3D5ADB2-76C6-498D-8BEB-DE1A4A98028A}"/>
              </a:ext>
            </a:extLst>
          </p:cNvPr>
          <p:cNvSpPr>
            <a:spLocks xmlns:a="http://schemas.openxmlformats.org/drawingml/2006/main" noGrp="1"/>
          </p:cNvSpPr>
          <p:nvPr/>
        </p:nvSpPr>
        <p:spPr>
          <a:xfrm xmlns:a="http://schemas.openxmlformats.org/drawingml/2006/main">
            <a:off x="742950" y="3714750"/>
            <a:ext cx="3143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900" b="1">
                <a:solidFill>
                  <a:srgbClr val="16333C"/>
                </a:solidFill>
                <a:latin typeface="Arial"/>
                <a:ea typeface="Arial"/>
                <a:cs typeface="Arial"/>
              </a:defRPr>
            </a:defPPr>
          </a:lstStyle>
          <a:p xmlns:a="http://schemas.openxmlformats.org/drawingml/2006/main">
            <a:pPr algn="l">
              <a:defRPr sz="3900" b="1">
                <a:solidFill>
                  <a:srgbClr val="16333C"/>
                </a:solidFill>
                <a:latin typeface="Arial"/>
                <a:ea typeface="Arial"/>
                <a:cs typeface="Arial"/>
              </a:defRPr>
            </a:pPr>
            <a:r>
              <a:rPr sz="3900" b="1">
                <a:solidFill>
                  <a:srgbClr val="16333C"/>
                </a:solidFill>
                <a:latin typeface="Arial"/>
                <a:ea typeface="Arial"/>
                <a:cs typeface="Arial"/>
              </a:rPr>
              <a:t>0.7119</a:t>
            </a:r>
          </a:p>
        </p:txBody>
      </p:sp>
      <p:sp>
        <p:nvSpPr>
          <p:cNvPr id="7" name="metric-label-0">
            <a:extLst xmlns:a="http://schemas.openxmlformats.org/drawingml/2006/main">
              <a:ext uri="{FF2B5EF4-FFF2-40B4-BE49-F238E27FC236}">
                <a16:creationId xmlns:a16="http://schemas.microsoft.com/office/drawing/2014/main" id="{6C5398A1-ABAB-4AAD-802C-7A6712FC14C7}"/>
              </a:ext>
            </a:extLst>
          </p:cNvPr>
          <p:cNvSpPr>
            <a:spLocks xmlns:a="http://schemas.openxmlformats.org/drawingml/2006/main" noGrp="1"/>
          </p:cNvSpPr>
          <p:nvPr/>
        </p:nvSpPr>
        <p:spPr>
          <a:xfrm xmlns:a="http://schemas.openxmlformats.org/drawingml/2006/main">
            <a:off x="762000" y="4391025"/>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087F72"/>
                </a:solidFill>
                <a:latin typeface="Arial"/>
                <a:ea typeface="Arial"/>
                <a:cs typeface="Arial"/>
              </a:defRPr>
            </a:defPPr>
          </a:lstStyle>
          <a:p xmlns:a="http://schemas.openxmlformats.org/drawingml/2006/main">
            <a:pPr algn="l">
              <a:defRPr sz="1650" b="0">
                <a:solidFill>
                  <a:srgbClr val="087F72"/>
                </a:solidFill>
                <a:latin typeface="Arial"/>
                <a:ea typeface="Arial"/>
                <a:cs typeface="Arial"/>
              </a:defRPr>
            </a:pPr>
            <a:r>
              <a:rPr sz="1650" b="0">
                <a:solidFill>
                  <a:srgbClr val="087F72"/>
                </a:solidFill>
                <a:latin typeface="Arial"/>
                <a:ea typeface="Arial"/>
                <a:cs typeface="Arial"/>
              </a:rPr>
              <a:t>micro F1</a:t>
            </a:r>
          </a:p>
        </p:txBody>
      </p:sp>
      <p:sp>
        <p:nvSpPr>
          <p:cNvPr id="8" name="metric-value-1">
            <a:extLst xmlns:a="http://schemas.openxmlformats.org/drawingml/2006/main">
              <a:ext uri="{FF2B5EF4-FFF2-40B4-BE49-F238E27FC236}">
                <a16:creationId xmlns:a16="http://schemas.microsoft.com/office/drawing/2014/main" id="{7F227054-F9A4-4080-AA3F-54E00ADA2809}"/>
              </a:ext>
            </a:extLst>
          </p:cNvPr>
          <p:cNvSpPr>
            <a:spLocks xmlns:a="http://schemas.openxmlformats.org/drawingml/2006/main" noGrp="1"/>
          </p:cNvSpPr>
          <p:nvPr/>
        </p:nvSpPr>
        <p:spPr>
          <a:xfrm xmlns:a="http://schemas.openxmlformats.org/drawingml/2006/main">
            <a:off x="4229100" y="3714750"/>
            <a:ext cx="3143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900" b="1">
                <a:solidFill>
                  <a:srgbClr val="16333C"/>
                </a:solidFill>
                <a:latin typeface="Arial"/>
                <a:ea typeface="Arial"/>
                <a:cs typeface="Arial"/>
              </a:defRPr>
            </a:defPPr>
          </a:lstStyle>
          <a:p xmlns:a="http://schemas.openxmlformats.org/drawingml/2006/main">
            <a:pPr algn="l">
              <a:defRPr sz="3900" b="1">
                <a:solidFill>
                  <a:srgbClr val="16333C"/>
                </a:solidFill>
                <a:latin typeface="Arial"/>
                <a:ea typeface="Arial"/>
                <a:cs typeface="Arial"/>
              </a:defRPr>
            </a:pPr>
            <a:r>
              <a:rPr sz="3900" b="1">
                <a:solidFill>
                  <a:srgbClr val="16333C"/>
                </a:solidFill>
                <a:latin typeface="Arial"/>
                <a:ea typeface="Arial"/>
                <a:cs typeface="Arial"/>
              </a:rPr>
              <a:t>0.6150</a:t>
            </a:r>
          </a:p>
        </p:txBody>
      </p:sp>
      <p:sp>
        <p:nvSpPr>
          <p:cNvPr id="9" name="metric-label-1">
            <a:extLst xmlns:a="http://schemas.openxmlformats.org/drawingml/2006/main">
              <a:ext uri="{FF2B5EF4-FFF2-40B4-BE49-F238E27FC236}">
                <a16:creationId xmlns:a16="http://schemas.microsoft.com/office/drawing/2014/main" id="{55094F56-9918-48AF-8B2B-961446B47398}"/>
              </a:ext>
            </a:extLst>
          </p:cNvPr>
          <p:cNvSpPr>
            <a:spLocks xmlns:a="http://schemas.openxmlformats.org/drawingml/2006/main" noGrp="1"/>
          </p:cNvSpPr>
          <p:nvPr/>
        </p:nvSpPr>
        <p:spPr>
          <a:xfrm xmlns:a="http://schemas.openxmlformats.org/drawingml/2006/main">
            <a:off x="4248150" y="4391025"/>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087F72"/>
                </a:solidFill>
                <a:latin typeface="Arial"/>
                <a:ea typeface="Arial"/>
                <a:cs typeface="Arial"/>
              </a:defRPr>
            </a:defPPr>
          </a:lstStyle>
          <a:p xmlns:a="http://schemas.openxmlformats.org/drawingml/2006/main">
            <a:pPr algn="l">
              <a:defRPr sz="1650" b="0">
                <a:solidFill>
                  <a:srgbClr val="087F72"/>
                </a:solidFill>
                <a:latin typeface="Arial"/>
                <a:ea typeface="Arial"/>
                <a:cs typeface="Arial"/>
              </a:defRPr>
            </a:pPr>
            <a:r>
              <a:rPr sz="1650" b="0">
                <a:solidFill>
                  <a:srgbClr val="087F72"/>
                </a:solidFill>
                <a:latin typeface="Arial"/>
                <a:ea typeface="Arial"/>
                <a:cs typeface="Arial"/>
              </a:rPr>
              <a:t>macro F1</a:t>
            </a:r>
          </a:p>
        </p:txBody>
      </p:sp>
      <p:sp>
        <p:nvSpPr>
          <p:cNvPr id="10" name="metric-value-2">
            <a:extLst xmlns:a="http://schemas.openxmlformats.org/drawingml/2006/main">
              <a:ext uri="{FF2B5EF4-FFF2-40B4-BE49-F238E27FC236}">
                <a16:creationId xmlns:a16="http://schemas.microsoft.com/office/drawing/2014/main" id="{DCF81603-3E42-4A0B-91A2-4D4B6944383F}"/>
              </a:ext>
            </a:extLst>
          </p:cNvPr>
          <p:cNvSpPr>
            <a:spLocks xmlns:a="http://schemas.openxmlformats.org/drawingml/2006/main" noGrp="1"/>
          </p:cNvSpPr>
          <p:nvPr/>
        </p:nvSpPr>
        <p:spPr>
          <a:xfrm xmlns:a="http://schemas.openxmlformats.org/drawingml/2006/main">
            <a:off x="7715250" y="3714750"/>
            <a:ext cx="3143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900" b="1">
                <a:solidFill>
                  <a:srgbClr val="16333C"/>
                </a:solidFill>
                <a:latin typeface="Arial"/>
                <a:ea typeface="Arial"/>
                <a:cs typeface="Arial"/>
              </a:defRPr>
            </a:defPPr>
          </a:lstStyle>
          <a:p xmlns:a="http://schemas.openxmlformats.org/drawingml/2006/main">
            <a:pPr algn="l">
              <a:defRPr sz="3900" b="1">
                <a:solidFill>
                  <a:srgbClr val="16333C"/>
                </a:solidFill>
                <a:latin typeface="Arial"/>
                <a:ea typeface="Arial"/>
                <a:cs typeface="Arial"/>
              </a:defRPr>
            </a:pPr>
            <a:r>
              <a:rPr sz="3900" b="1">
                <a:solidFill>
                  <a:srgbClr val="16333C"/>
                </a:solidFill>
                <a:latin typeface="Arial"/>
                <a:ea typeface="Arial"/>
                <a:cs typeface="Arial"/>
              </a:rPr>
              <a:t>0.3805</a:t>
            </a:r>
          </a:p>
        </p:txBody>
      </p:sp>
      <p:sp>
        <p:nvSpPr>
          <p:cNvPr id="11" name="metric-label-2">
            <a:extLst xmlns:a="http://schemas.openxmlformats.org/drawingml/2006/main">
              <a:ext uri="{FF2B5EF4-FFF2-40B4-BE49-F238E27FC236}">
                <a16:creationId xmlns:a16="http://schemas.microsoft.com/office/drawing/2014/main" id="{B3B68D00-B8DF-4D7B-9BA0-DA607E136E4D}"/>
              </a:ext>
            </a:extLst>
          </p:cNvPr>
          <p:cNvSpPr>
            <a:spLocks xmlns:a="http://schemas.openxmlformats.org/drawingml/2006/main" noGrp="1"/>
          </p:cNvSpPr>
          <p:nvPr/>
        </p:nvSpPr>
        <p:spPr>
          <a:xfrm xmlns:a="http://schemas.openxmlformats.org/drawingml/2006/main">
            <a:off x="7734300" y="4391025"/>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087F72"/>
                </a:solidFill>
                <a:latin typeface="Arial"/>
                <a:ea typeface="Arial"/>
                <a:cs typeface="Arial"/>
              </a:defRPr>
            </a:defPPr>
          </a:lstStyle>
          <a:p xmlns:a="http://schemas.openxmlformats.org/drawingml/2006/main">
            <a:pPr algn="l">
              <a:defRPr sz="1650" b="0">
                <a:solidFill>
                  <a:srgbClr val="087F72"/>
                </a:solidFill>
                <a:latin typeface="Arial"/>
                <a:ea typeface="Arial"/>
                <a:cs typeface="Arial"/>
              </a:defRPr>
            </a:pPr>
            <a:r>
              <a:rPr sz="1650" b="0">
                <a:solidFill>
                  <a:srgbClr val="087F72"/>
                </a:solidFill>
                <a:latin typeface="Arial"/>
                <a:ea typeface="Arial"/>
                <a:cs typeface="Arial"/>
              </a:rPr>
              <a:t>exact label-set match</a:t>
            </a:r>
          </a:p>
        </p:txBody>
      </p:sp>
      <p:sp>
        <p:nvSpPr>
          <p:cNvPr id="12" name="model-limitations">
            <a:extLst xmlns:a="http://schemas.openxmlformats.org/drawingml/2006/main">
              <a:ext uri="{FF2B5EF4-FFF2-40B4-BE49-F238E27FC236}">
                <a16:creationId xmlns:a16="http://schemas.microsoft.com/office/drawing/2014/main" id="{B188B9CA-3CDF-43A1-8520-94CBFA555C48}"/>
              </a:ext>
            </a:extLst>
          </p:cNvPr>
          <p:cNvSpPr>
            <a:spLocks xmlns:a="http://schemas.openxmlformats.org/drawingml/2006/main" noGrp="1"/>
          </p:cNvSpPr>
          <p:nvPr/>
        </p:nvSpPr>
        <p:spPr>
          <a:xfrm xmlns:a="http://schemas.openxmlformats.org/drawingml/2006/main">
            <a:off x="742950" y="5219700"/>
            <a:ext cx="10715625"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52666B"/>
                </a:solidFill>
                <a:latin typeface="Arial"/>
                <a:ea typeface="Arial"/>
                <a:cs typeface="Arial"/>
              </a:defRPr>
            </a:defPPr>
          </a:lstStyle>
          <a:p xmlns:a="http://schemas.openxmlformats.org/drawingml/2006/main">
            <a:pPr algn="l">
              <a:defRPr sz="1500" b="0">
                <a:solidFill>
                  <a:srgbClr val="52666B"/>
                </a:solidFill>
                <a:latin typeface="Arial"/>
                <a:ea typeface="Arial"/>
                <a:cs typeface="Arial"/>
              </a:defRPr>
            </a:pPr>
            <a:r>
              <a:rPr sz="1500" b="0">
                <a:solidFill>
                  <a:srgbClr val="52666B"/>
                </a:solidFill>
                <a:latin typeface="Arial"/>
                <a:ea typeface="Arial"/>
                <a:cs typeface="Arial"/>
              </a:rPr>
              <a:t>The released model was fit on all 115 policies after evaluation. OPP-115 is a small, historical English website-policy corpus; tag scores are not calibrated probabilities, and topic tags do not change the Trust Score.</a:t>
            </a:r>
          </a:p>
        </p:txBody>
      </p:sp>
    </p:spTree>
    <p:extLst>
      <p:ext uri="{BB962C8B-B14F-4D97-AF65-F5344CB8AC3E}">
        <p14:creationId xmlns:p14="http://schemas.microsoft.com/office/powerpoint/2010/main" val="1070439182"/>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F54EAC8A-0594-45DC-9145-A97AAC4DAB07}"/>
              </a:ext>
            </a:extLst>
          </p:cNvPr>
          <p:cNvSpPr>
            <a:spLocks xmlns:a="http://schemas.openxmlformats.org/drawingml/2006/main" noGrp="1"/>
          </p:cNvSpPr>
          <p:nvPr/>
        </p:nvSpPr>
        <p:spPr>
          <a:xfrm xmlns:a="http://schemas.openxmlformats.org/drawingml/2006/main">
            <a:off x="685800" y="5143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300" b="1">
                <a:solidFill>
                  <a:srgbClr val="16333C"/>
                </a:solidFill>
                <a:latin typeface="Arial"/>
                <a:ea typeface="Arial"/>
                <a:cs typeface="Arial"/>
              </a:defRPr>
            </a:defPPr>
          </a:lstStyle>
          <a:p xmlns:a="http://schemas.openxmlformats.org/drawingml/2006/main">
            <a:pPr algn="l">
              <a:defRPr sz="3300" b="1">
                <a:solidFill>
                  <a:srgbClr val="16333C"/>
                </a:solidFill>
                <a:latin typeface="Arial"/>
                <a:ea typeface="Arial"/>
                <a:cs typeface="Arial"/>
              </a:defRPr>
            </a:pPr>
            <a:r>
              <a:rPr sz="3300" b="1">
                <a:solidFill>
                  <a:srgbClr val="16333C"/>
                </a:solidFill>
                <a:latin typeface="Arial"/>
                <a:ea typeface="Arial"/>
                <a:cs typeface="Arial"/>
              </a:rPr>
              <a:t>Live demo</a:t>
            </a:r>
          </a:p>
        </p:txBody>
      </p:sp>
      <p:sp>
        <p:nvSpPr>
          <p:cNvPr id="2" name="demo-speaker">
            <a:extLst xmlns:a="http://schemas.openxmlformats.org/drawingml/2006/main">
              <a:ext uri="{FF2B5EF4-FFF2-40B4-BE49-F238E27FC236}">
                <a16:creationId xmlns:a16="http://schemas.microsoft.com/office/drawing/2014/main" id="{E595D615-2FC7-4CA0-BC43-239C380CBBA5}"/>
              </a:ext>
            </a:extLst>
          </p:cNvPr>
          <p:cNvSpPr>
            <a:spLocks xmlns:a="http://schemas.openxmlformats.org/drawingml/2006/main" noGrp="1"/>
          </p:cNvSpPr>
          <p:nvPr/>
        </p:nvSpPr>
        <p:spPr>
          <a:xfrm xmlns:a="http://schemas.openxmlformats.org/drawingml/2006/main">
            <a:off x="723900" y="11430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1">
                <a:solidFill>
                  <a:srgbClr val="087F72"/>
                </a:solidFill>
                <a:latin typeface="Arial"/>
                <a:ea typeface="Arial"/>
                <a:cs typeface="Arial"/>
              </a:defRPr>
            </a:defPPr>
          </a:lstStyle>
          <a:p xmlns:a="http://schemas.openxmlformats.org/drawingml/2006/main">
            <a:pPr algn="l">
              <a:defRPr sz="1500" b="1">
                <a:solidFill>
                  <a:srgbClr val="087F72"/>
                </a:solidFill>
                <a:latin typeface="Arial"/>
                <a:ea typeface="Arial"/>
                <a:cs typeface="Arial"/>
              </a:defRPr>
            </a:pPr>
            <a:r>
              <a:rPr sz="1500" b="1">
                <a:solidFill>
                  <a:srgbClr val="087F72"/>
                </a:solidFill>
                <a:latin typeface="Arial"/>
                <a:ea typeface="Arial"/>
                <a:cs typeface="Arial"/>
              </a:rPr>
              <a:t>TJ  ·  ABOUT 2:30</a:t>
            </a:r>
          </a:p>
        </p:txBody>
      </p:sp>
      <p:sp>
        <p:nvSpPr>
          <p:cNvPr id="3" name="demo-number-0">
            <a:extLst xmlns:a="http://schemas.openxmlformats.org/drawingml/2006/main">
              <a:ext uri="{FF2B5EF4-FFF2-40B4-BE49-F238E27FC236}">
                <a16:creationId xmlns:a16="http://schemas.microsoft.com/office/drawing/2014/main" id="{F984C8AF-F4B9-425D-AF8F-DFE54B61293D}"/>
              </a:ext>
            </a:extLst>
          </p:cNvPr>
          <p:cNvSpPr>
            <a:spLocks xmlns:a="http://schemas.openxmlformats.org/drawingml/2006/main" noGrp="1"/>
          </p:cNvSpPr>
          <p:nvPr/>
        </p:nvSpPr>
        <p:spPr>
          <a:xfrm xmlns:a="http://schemas.openxmlformats.org/drawingml/2006/main">
            <a:off x="762000" y="2000250"/>
            <a:ext cx="742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550" b="1">
                <a:solidFill>
                  <a:srgbClr val="C96F50"/>
                </a:solidFill>
                <a:latin typeface="Arial"/>
                <a:ea typeface="Arial"/>
                <a:cs typeface="Arial"/>
              </a:defRPr>
            </a:defPPr>
          </a:lstStyle>
          <a:p xmlns:a="http://schemas.openxmlformats.org/drawingml/2006/main">
            <a:pPr algn="l">
              <a:defRPr sz="2550" b="1">
                <a:solidFill>
                  <a:srgbClr val="C96F50"/>
                </a:solidFill>
                <a:latin typeface="Arial"/>
                <a:ea typeface="Arial"/>
                <a:cs typeface="Arial"/>
              </a:defRPr>
            </a:pPr>
            <a:r>
              <a:rPr sz="2550" b="1">
                <a:solidFill>
                  <a:srgbClr val="C96F50"/>
                </a:solidFill>
                <a:latin typeface="Arial"/>
                <a:ea typeface="Arial"/>
                <a:cs typeface="Arial"/>
              </a:rPr>
              <a:t>01</a:t>
            </a:r>
          </a:p>
        </p:txBody>
      </p:sp>
      <p:sp>
        <p:nvSpPr>
          <p:cNvPr id="4" name="demo-heading-0">
            <a:extLst xmlns:a="http://schemas.openxmlformats.org/drawingml/2006/main">
              <a:ext uri="{FF2B5EF4-FFF2-40B4-BE49-F238E27FC236}">
                <a16:creationId xmlns:a16="http://schemas.microsoft.com/office/drawing/2014/main" id="{470B1A4B-82AD-4577-8F8C-73055D790DC6}"/>
              </a:ext>
            </a:extLst>
          </p:cNvPr>
          <p:cNvSpPr>
            <a:spLocks xmlns:a="http://schemas.openxmlformats.org/drawingml/2006/main" noGrp="1"/>
          </p:cNvSpPr>
          <p:nvPr/>
        </p:nvSpPr>
        <p:spPr>
          <a:xfrm xmlns:a="http://schemas.openxmlformats.org/drawingml/2006/main">
            <a:off x="1657350" y="2009775"/>
            <a:ext cx="4238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1">
                <a:solidFill>
                  <a:srgbClr val="16333C"/>
                </a:solidFill>
                <a:latin typeface="Arial"/>
                <a:ea typeface="Arial"/>
                <a:cs typeface="Arial"/>
              </a:defRPr>
            </a:defPPr>
          </a:lstStyle>
          <a:p xmlns:a="http://schemas.openxmlformats.org/drawingml/2006/main">
            <a:pPr algn="l">
              <a:defRPr sz="2025" b="1">
                <a:solidFill>
                  <a:srgbClr val="16333C"/>
                </a:solidFill>
                <a:latin typeface="Arial"/>
                <a:ea typeface="Arial"/>
                <a:cs typeface="Arial"/>
              </a:defRPr>
            </a:pPr>
            <a:r>
              <a:rPr sz="2025" b="1">
                <a:solidFill>
                  <a:srgbClr val="16333C"/>
                </a:solidFill>
                <a:latin typeface="Arial"/>
                <a:ea typeface="Arial"/>
                <a:cs typeface="Arial"/>
              </a:rPr>
              <a:t>Load the sample</a:t>
            </a:r>
          </a:p>
        </p:txBody>
      </p:sp>
      <p:sp>
        <p:nvSpPr>
          <p:cNvPr id="5" name="demo-description-0">
            <a:extLst xmlns:a="http://schemas.openxmlformats.org/drawingml/2006/main">
              <a:ext uri="{FF2B5EF4-FFF2-40B4-BE49-F238E27FC236}">
                <a16:creationId xmlns:a16="http://schemas.microsoft.com/office/drawing/2014/main" id="{FFF663AB-1D5E-4F79-91A2-F0C2841198D2}"/>
              </a:ext>
            </a:extLst>
          </p:cNvPr>
          <p:cNvSpPr>
            <a:spLocks xmlns:a="http://schemas.openxmlformats.org/drawingml/2006/main" noGrp="1"/>
          </p:cNvSpPr>
          <p:nvPr/>
        </p:nvSpPr>
        <p:spPr>
          <a:xfrm xmlns:a="http://schemas.openxmlformats.org/drawingml/2006/main">
            <a:off x="1657350" y="2447925"/>
            <a:ext cx="42386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52666B"/>
                </a:solidFill>
                <a:latin typeface="Arial"/>
                <a:ea typeface="Arial"/>
                <a:cs typeface="Arial"/>
              </a:defRPr>
            </a:defPPr>
          </a:lstStyle>
          <a:p xmlns:a="http://schemas.openxmlformats.org/drawingml/2006/main">
            <a:pPr algn="l">
              <a:defRPr sz="1500" b="0">
                <a:solidFill>
                  <a:srgbClr val="52666B"/>
                </a:solidFill>
                <a:latin typeface="Arial"/>
                <a:ea typeface="Arial"/>
                <a:cs typeface="Arial"/>
              </a:defRPr>
            </a:pPr>
            <a:r>
              <a:rPr sz="1500" b="0">
                <a:solidFill>
                  <a:srgbClr val="52666B"/>
                </a:solidFill>
                <a:latin typeface="Arial"/>
                <a:ea typeface="Arial"/>
                <a:cs typeface="Arial"/>
              </a:rPr>
              <a:t>Select Try sample policy.</a:t>
            </a:r>
          </a:p>
        </p:txBody>
      </p:sp>
      <p:sp>
        <p:nvSpPr>
          <p:cNvPr id="6" name="demo-number-1">
            <a:extLst xmlns:a="http://schemas.openxmlformats.org/drawingml/2006/main">
              <a:ext uri="{FF2B5EF4-FFF2-40B4-BE49-F238E27FC236}">
                <a16:creationId xmlns:a16="http://schemas.microsoft.com/office/drawing/2014/main" id="{BA15A40E-F7B3-49B8-BC5B-230E137DACCD}"/>
              </a:ext>
            </a:extLst>
          </p:cNvPr>
          <p:cNvSpPr>
            <a:spLocks xmlns:a="http://schemas.openxmlformats.org/drawingml/2006/main" noGrp="1"/>
          </p:cNvSpPr>
          <p:nvPr/>
        </p:nvSpPr>
        <p:spPr>
          <a:xfrm xmlns:a="http://schemas.openxmlformats.org/drawingml/2006/main">
            <a:off x="762000" y="3114675"/>
            <a:ext cx="742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550" b="1">
                <a:solidFill>
                  <a:srgbClr val="C96F50"/>
                </a:solidFill>
                <a:latin typeface="Arial"/>
                <a:ea typeface="Arial"/>
                <a:cs typeface="Arial"/>
              </a:defRPr>
            </a:defPPr>
          </a:lstStyle>
          <a:p xmlns:a="http://schemas.openxmlformats.org/drawingml/2006/main">
            <a:pPr algn="l">
              <a:defRPr sz="2550" b="1">
                <a:solidFill>
                  <a:srgbClr val="C96F50"/>
                </a:solidFill>
                <a:latin typeface="Arial"/>
                <a:ea typeface="Arial"/>
                <a:cs typeface="Arial"/>
              </a:defRPr>
            </a:pPr>
            <a:r>
              <a:rPr sz="2550" b="1">
                <a:solidFill>
                  <a:srgbClr val="C96F50"/>
                </a:solidFill>
                <a:latin typeface="Arial"/>
                <a:ea typeface="Arial"/>
                <a:cs typeface="Arial"/>
              </a:rPr>
              <a:t>02</a:t>
            </a:r>
          </a:p>
        </p:txBody>
      </p:sp>
      <p:sp>
        <p:nvSpPr>
          <p:cNvPr id="7" name="demo-heading-1">
            <a:extLst xmlns:a="http://schemas.openxmlformats.org/drawingml/2006/main">
              <a:ext uri="{FF2B5EF4-FFF2-40B4-BE49-F238E27FC236}">
                <a16:creationId xmlns:a16="http://schemas.microsoft.com/office/drawing/2014/main" id="{F8860640-CA88-49D4-8D5B-492F0F774B97}"/>
              </a:ext>
            </a:extLst>
          </p:cNvPr>
          <p:cNvSpPr>
            <a:spLocks xmlns:a="http://schemas.openxmlformats.org/drawingml/2006/main" noGrp="1"/>
          </p:cNvSpPr>
          <p:nvPr/>
        </p:nvSpPr>
        <p:spPr>
          <a:xfrm xmlns:a="http://schemas.openxmlformats.org/drawingml/2006/main">
            <a:off x="1657350" y="3124200"/>
            <a:ext cx="4238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1">
                <a:solidFill>
                  <a:srgbClr val="16333C"/>
                </a:solidFill>
                <a:latin typeface="Arial"/>
                <a:ea typeface="Arial"/>
                <a:cs typeface="Arial"/>
              </a:defRPr>
            </a:defPPr>
          </a:lstStyle>
          <a:p xmlns:a="http://schemas.openxmlformats.org/drawingml/2006/main">
            <a:pPr algn="l">
              <a:defRPr sz="2025" b="1">
                <a:solidFill>
                  <a:srgbClr val="16333C"/>
                </a:solidFill>
                <a:latin typeface="Arial"/>
                <a:ea typeface="Arial"/>
                <a:cs typeface="Arial"/>
              </a:defRPr>
            </a:pPr>
            <a:r>
              <a:rPr sz="2025" b="1">
                <a:solidFill>
                  <a:srgbClr val="16333C"/>
                </a:solidFill>
                <a:latin typeface="Arial"/>
                <a:ea typeface="Arial"/>
                <a:cs typeface="Arial"/>
              </a:rPr>
              <a:t>Run the analysis</a:t>
            </a:r>
          </a:p>
        </p:txBody>
      </p:sp>
      <p:sp>
        <p:nvSpPr>
          <p:cNvPr id="8" name="demo-description-1">
            <a:extLst xmlns:a="http://schemas.openxmlformats.org/drawingml/2006/main">
              <a:ext uri="{FF2B5EF4-FFF2-40B4-BE49-F238E27FC236}">
                <a16:creationId xmlns:a16="http://schemas.microsoft.com/office/drawing/2014/main" id="{185D3945-FBA5-4317-BD36-B9BC291500A4}"/>
              </a:ext>
            </a:extLst>
          </p:cNvPr>
          <p:cNvSpPr>
            <a:spLocks xmlns:a="http://schemas.openxmlformats.org/drawingml/2006/main" noGrp="1"/>
          </p:cNvSpPr>
          <p:nvPr/>
        </p:nvSpPr>
        <p:spPr>
          <a:xfrm xmlns:a="http://schemas.openxmlformats.org/drawingml/2006/main">
            <a:off x="1657350" y="3562350"/>
            <a:ext cx="42386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52666B"/>
                </a:solidFill>
                <a:latin typeface="Arial"/>
                <a:ea typeface="Arial"/>
                <a:cs typeface="Arial"/>
              </a:defRPr>
            </a:defPPr>
          </a:lstStyle>
          <a:p xmlns:a="http://schemas.openxmlformats.org/drawingml/2006/main">
            <a:pPr algn="l">
              <a:defRPr sz="1500" b="0">
                <a:solidFill>
                  <a:srgbClr val="52666B"/>
                </a:solidFill>
                <a:latin typeface="Arial"/>
                <a:ea typeface="Arial"/>
                <a:cs typeface="Arial"/>
              </a:defRPr>
            </a:pPr>
            <a:r>
              <a:rPr sz="1500" b="0">
                <a:solidFill>
                  <a:srgbClr val="52666B"/>
                </a:solidFill>
                <a:latin typeface="Arial"/>
                <a:ea typeface="Arial"/>
                <a:cs typeface="Arial"/>
              </a:rPr>
              <a:t>Show the Trust Score and category coverage.</a:t>
            </a:r>
          </a:p>
        </p:txBody>
      </p:sp>
      <p:sp>
        <p:nvSpPr>
          <p:cNvPr id="9" name="demo-number-2">
            <a:extLst xmlns:a="http://schemas.openxmlformats.org/drawingml/2006/main">
              <a:ext uri="{FF2B5EF4-FFF2-40B4-BE49-F238E27FC236}">
                <a16:creationId xmlns:a16="http://schemas.microsoft.com/office/drawing/2014/main" id="{F6277A85-A08E-4CB4-927F-4E4AA1FDD139}"/>
              </a:ext>
            </a:extLst>
          </p:cNvPr>
          <p:cNvSpPr>
            <a:spLocks xmlns:a="http://schemas.openxmlformats.org/drawingml/2006/main" noGrp="1"/>
          </p:cNvSpPr>
          <p:nvPr/>
        </p:nvSpPr>
        <p:spPr>
          <a:xfrm xmlns:a="http://schemas.openxmlformats.org/drawingml/2006/main">
            <a:off x="762000" y="4229100"/>
            <a:ext cx="742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550" b="1">
                <a:solidFill>
                  <a:srgbClr val="C96F50"/>
                </a:solidFill>
                <a:latin typeface="Arial"/>
                <a:ea typeface="Arial"/>
                <a:cs typeface="Arial"/>
              </a:defRPr>
            </a:defPPr>
          </a:lstStyle>
          <a:p xmlns:a="http://schemas.openxmlformats.org/drawingml/2006/main">
            <a:pPr algn="l">
              <a:defRPr sz="2550" b="1">
                <a:solidFill>
                  <a:srgbClr val="C96F50"/>
                </a:solidFill>
                <a:latin typeface="Arial"/>
                <a:ea typeface="Arial"/>
                <a:cs typeface="Arial"/>
              </a:defRPr>
            </a:pPr>
            <a:r>
              <a:rPr sz="2550" b="1">
                <a:solidFill>
                  <a:srgbClr val="C96F50"/>
                </a:solidFill>
                <a:latin typeface="Arial"/>
                <a:ea typeface="Arial"/>
                <a:cs typeface="Arial"/>
              </a:rPr>
              <a:t>03</a:t>
            </a:r>
          </a:p>
        </p:txBody>
      </p:sp>
      <p:sp>
        <p:nvSpPr>
          <p:cNvPr id="10" name="demo-heading-2">
            <a:extLst xmlns:a="http://schemas.openxmlformats.org/drawingml/2006/main">
              <a:ext uri="{FF2B5EF4-FFF2-40B4-BE49-F238E27FC236}">
                <a16:creationId xmlns:a16="http://schemas.microsoft.com/office/drawing/2014/main" id="{6664E165-C320-463C-A4BF-4DD7FC358686}"/>
              </a:ext>
            </a:extLst>
          </p:cNvPr>
          <p:cNvSpPr>
            <a:spLocks xmlns:a="http://schemas.openxmlformats.org/drawingml/2006/main" noGrp="1"/>
          </p:cNvSpPr>
          <p:nvPr/>
        </p:nvSpPr>
        <p:spPr>
          <a:xfrm xmlns:a="http://schemas.openxmlformats.org/drawingml/2006/main">
            <a:off x="1657350" y="4238625"/>
            <a:ext cx="4238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1">
                <a:solidFill>
                  <a:srgbClr val="16333C"/>
                </a:solidFill>
                <a:latin typeface="Arial"/>
                <a:ea typeface="Arial"/>
                <a:cs typeface="Arial"/>
              </a:defRPr>
            </a:defPPr>
          </a:lstStyle>
          <a:p xmlns:a="http://schemas.openxmlformats.org/drawingml/2006/main">
            <a:pPr algn="l">
              <a:defRPr sz="2025" b="1">
                <a:solidFill>
                  <a:srgbClr val="16333C"/>
                </a:solidFill>
                <a:latin typeface="Arial"/>
                <a:ea typeface="Arial"/>
                <a:cs typeface="Arial"/>
              </a:defRPr>
            </a:pPr>
            <a:r>
              <a:rPr sz="2025" b="1">
                <a:solidFill>
                  <a:srgbClr val="16333C"/>
                </a:solidFill>
                <a:latin typeface="Arial"/>
                <a:ea typeface="Arial"/>
                <a:cs typeface="Arial"/>
              </a:rPr>
              <a:t>Trace the signals</a:t>
            </a:r>
          </a:p>
        </p:txBody>
      </p:sp>
      <p:sp>
        <p:nvSpPr>
          <p:cNvPr id="11" name="demo-description-2">
            <a:extLst xmlns:a="http://schemas.openxmlformats.org/drawingml/2006/main">
              <a:ext uri="{FF2B5EF4-FFF2-40B4-BE49-F238E27FC236}">
                <a16:creationId xmlns:a16="http://schemas.microsoft.com/office/drawing/2014/main" id="{4A707652-4C57-45E1-A2AE-FE75CDE0F994}"/>
              </a:ext>
            </a:extLst>
          </p:cNvPr>
          <p:cNvSpPr>
            <a:spLocks xmlns:a="http://schemas.openxmlformats.org/drawingml/2006/main" noGrp="1"/>
          </p:cNvSpPr>
          <p:nvPr/>
        </p:nvSpPr>
        <p:spPr>
          <a:xfrm xmlns:a="http://schemas.openxmlformats.org/drawingml/2006/main">
            <a:off x="1657350" y="4676775"/>
            <a:ext cx="42386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52666B"/>
                </a:solidFill>
                <a:latin typeface="Arial"/>
                <a:ea typeface="Arial"/>
                <a:cs typeface="Arial"/>
              </a:defRPr>
            </a:defPPr>
          </a:lstStyle>
          <a:p xmlns:a="http://schemas.openxmlformats.org/drawingml/2006/main">
            <a:pPr algn="l">
              <a:defRPr sz="1500" b="0">
                <a:solidFill>
                  <a:srgbClr val="52666B"/>
                </a:solidFill>
                <a:latin typeface="Arial"/>
                <a:ea typeface="Arial"/>
                <a:cs typeface="Arial"/>
              </a:defRPr>
            </a:pPr>
            <a:r>
              <a:rPr sz="1500" b="0">
                <a:solidFill>
                  <a:srgbClr val="52666B"/>
                </a:solidFill>
                <a:latin typeface="Arial"/>
                <a:ea typeface="Arial"/>
                <a:cs typeface="Arial"/>
              </a:rPr>
              <a:t>Compare a finding and any visible topic tag with the source wording.</a:t>
            </a:r>
          </a:p>
        </p:txBody>
      </p:sp>
      <p:sp>
        <p:nvSpPr>
          <p:cNvPr id="12" name="sample-excerpt-background">
            <a:extLst xmlns:a="http://schemas.openxmlformats.org/drawingml/2006/main">
              <a:ext uri="{FF2B5EF4-FFF2-40B4-BE49-F238E27FC236}">
                <a16:creationId xmlns:a16="http://schemas.microsoft.com/office/drawing/2014/main" id="{9E202AE2-60D1-4E67-B55C-1515B1B427D1}"/>
              </a:ext>
            </a:extLst>
          </p:cNvPr>
          <p:cNvSpPr>
            <a:spLocks xmlns:a="http://schemas.openxmlformats.org/drawingml/2006/main" noGrp="1"/>
          </p:cNvSpPr>
          <p:nvPr/>
        </p:nvSpPr>
        <p:spPr>
          <a:xfrm xmlns:a="http://schemas.openxmlformats.org/drawingml/2006/main">
            <a:off x="6496050" y="2076450"/>
            <a:ext cx="5010150" cy="3086100"/>
          </a:xfrm>
          <a:prstGeom xmlns:a="http://schemas.openxmlformats.org/drawingml/2006/main" prst="rect">
            <a:avLst/>
          </a:prstGeom>
          <a:solidFill xmlns:a="http://schemas.openxmlformats.org/drawingml/2006/main">
            <a:srgbClr val="E1EFE9"/>
          </a:solidFill>
          <a:ln xmlns:a="http://schemas.openxmlformats.org/drawingml/2006/main" w="0">
            <a:noFill/>
            <a:prstDash val="solid"/>
          </a:ln>
        </p:spPr>
      </p:sp>
      <p:sp>
        <p:nvSpPr>
          <p:cNvPr id="13" name="sample-label">
            <a:extLst xmlns:a="http://schemas.openxmlformats.org/drawingml/2006/main">
              <a:ext uri="{FF2B5EF4-FFF2-40B4-BE49-F238E27FC236}">
                <a16:creationId xmlns:a16="http://schemas.microsoft.com/office/drawing/2014/main" id="{B7EA3190-03A0-4D61-A107-CB7131FED5E8}"/>
              </a:ext>
            </a:extLst>
          </p:cNvPr>
          <p:cNvSpPr>
            <a:spLocks xmlns:a="http://schemas.openxmlformats.org/drawingml/2006/main" noGrp="1"/>
          </p:cNvSpPr>
          <p:nvPr/>
        </p:nvSpPr>
        <p:spPr>
          <a:xfrm xmlns:a="http://schemas.openxmlformats.org/drawingml/2006/main">
            <a:off x="6762750" y="2343150"/>
            <a:ext cx="442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350" b="1">
                <a:solidFill>
                  <a:srgbClr val="087F72"/>
                </a:solidFill>
                <a:latin typeface="Arial"/>
                <a:ea typeface="Arial"/>
                <a:cs typeface="Arial"/>
              </a:defRPr>
            </a:defPPr>
          </a:lstStyle>
          <a:p xmlns:a="http://schemas.openxmlformats.org/drawingml/2006/main">
            <a:pPr algn="l">
              <a:defRPr sz="1350" b="1">
                <a:solidFill>
                  <a:srgbClr val="087F72"/>
                </a:solidFill>
                <a:latin typeface="Arial"/>
                <a:ea typeface="Arial"/>
                <a:cs typeface="Arial"/>
              </a:defRPr>
            </a:pPr>
            <a:r>
              <a:rPr sz="1350" b="1">
                <a:solidFill>
                  <a:srgbClr val="087F72"/>
                </a:solidFill>
                <a:latin typeface="Arial"/>
                <a:ea typeface="Arial"/>
                <a:cs typeface="Arial"/>
              </a:rPr>
              <a:t>FICTIONAL CLASSROOM POLICY</a:t>
            </a:r>
          </a:p>
        </p:txBody>
      </p:sp>
      <p:sp>
        <p:nvSpPr>
          <p:cNvPr id="14" name="sample-excerpt-sharing">
            <a:extLst xmlns:a="http://schemas.openxmlformats.org/drawingml/2006/main">
              <a:ext uri="{FF2B5EF4-FFF2-40B4-BE49-F238E27FC236}">
                <a16:creationId xmlns:a16="http://schemas.microsoft.com/office/drawing/2014/main" id="{F0AFBB12-D92E-40F9-9928-DC94C147685F}"/>
              </a:ext>
            </a:extLst>
          </p:cNvPr>
          <p:cNvSpPr>
            <a:spLocks xmlns:a="http://schemas.openxmlformats.org/drawingml/2006/main" noGrp="1"/>
          </p:cNvSpPr>
          <p:nvPr/>
        </p:nvSpPr>
        <p:spPr>
          <a:xfrm xmlns:a="http://schemas.openxmlformats.org/drawingml/2006/main">
            <a:off x="6762750" y="2876550"/>
            <a:ext cx="43434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1">
                <a:solidFill>
                  <a:srgbClr val="16333C"/>
                </a:solidFill>
                <a:latin typeface="Arial"/>
                <a:ea typeface="Arial"/>
                <a:cs typeface="Arial"/>
              </a:defRPr>
            </a:defPPr>
          </a:lstStyle>
          <a:p xmlns:a="http://schemas.openxmlformats.org/drawingml/2006/main">
            <a:pPr algn="l">
              <a:defRPr sz="1725" b="1">
                <a:solidFill>
                  <a:srgbClr val="16333C"/>
                </a:solidFill>
                <a:latin typeface="Arial"/>
                <a:ea typeface="Arial"/>
                <a:cs typeface="Arial"/>
              </a:defRPr>
            </a:pPr>
            <a:r>
              <a:rPr sz="1725" b="1">
                <a:solidFill>
                  <a:srgbClr val="16333C"/>
                </a:solidFill>
                <a:latin typeface="Arial"/>
                <a:ea typeface="Arial"/>
                <a:cs typeface="Arial"/>
              </a:rPr>
              <a:t>“We may share personal information with advertising partners...”</a:t>
            </a:r>
          </a:p>
        </p:txBody>
      </p:sp>
      <p:sp>
        <p:nvSpPr>
          <p:cNvPr id="15" name="sample-excerpt-retention">
            <a:extLst xmlns:a="http://schemas.openxmlformats.org/drawingml/2006/main">
              <a:ext uri="{FF2B5EF4-FFF2-40B4-BE49-F238E27FC236}">
                <a16:creationId xmlns:a16="http://schemas.microsoft.com/office/drawing/2014/main" id="{F8F0368B-73C5-4292-B3FC-99F7D298C23E}"/>
              </a:ext>
            </a:extLst>
          </p:cNvPr>
          <p:cNvSpPr>
            <a:spLocks xmlns:a="http://schemas.openxmlformats.org/drawingml/2006/main" noGrp="1"/>
          </p:cNvSpPr>
          <p:nvPr/>
        </p:nvSpPr>
        <p:spPr>
          <a:xfrm xmlns:a="http://schemas.openxmlformats.org/drawingml/2006/main">
            <a:off x="6762750" y="3905250"/>
            <a:ext cx="4343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16333C"/>
                </a:solidFill>
                <a:latin typeface="Arial"/>
                <a:ea typeface="Arial"/>
                <a:cs typeface="Arial"/>
              </a:defRPr>
            </a:defPPr>
          </a:lstStyle>
          <a:p xmlns:a="http://schemas.openxmlformats.org/drawingml/2006/main">
            <a:pPr algn="l">
              <a:defRPr sz="1650" b="0">
                <a:solidFill>
                  <a:srgbClr val="16333C"/>
                </a:solidFill>
                <a:latin typeface="Arial"/>
                <a:ea typeface="Arial"/>
                <a:cs typeface="Arial"/>
              </a:defRPr>
            </a:pPr>
            <a:r>
              <a:rPr sz="1650" b="0">
                <a:solidFill>
                  <a:srgbClr val="16333C"/>
                </a:solidFill>
                <a:latin typeface="Arial"/>
                <a:ea typeface="Arial"/>
                <a:cs typeface="Arial"/>
              </a:rPr>
              <a:t>“We retain information for as long as necessary for business purposes.”</a:t>
            </a:r>
          </a:p>
        </p:txBody>
      </p:sp>
      <p:sp>
        <p:nvSpPr>
          <p:cNvPr id="16" name="demo-disclaimer">
            <a:extLst xmlns:a="http://schemas.openxmlformats.org/drawingml/2006/main">
              <a:ext uri="{FF2B5EF4-FFF2-40B4-BE49-F238E27FC236}">
                <a16:creationId xmlns:a16="http://schemas.microsoft.com/office/drawing/2014/main" id="{8E715953-CE22-4EA8-9DAC-4ADC986196BE}"/>
              </a:ext>
            </a:extLst>
          </p:cNvPr>
          <p:cNvSpPr>
            <a:spLocks xmlns:a="http://schemas.openxmlformats.org/drawingml/2006/main" noGrp="1"/>
          </p:cNvSpPr>
          <p:nvPr/>
        </p:nvSpPr>
        <p:spPr>
          <a:xfrm xmlns:a="http://schemas.openxmlformats.org/drawingml/2006/main">
            <a:off x="742950" y="5791200"/>
            <a:ext cx="10715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425" b="0">
                <a:solidFill>
                  <a:srgbClr val="52666B"/>
                </a:solidFill>
                <a:latin typeface="Arial"/>
                <a:ea typeface="Arial"/>
                <a:cs typeface="Arial"/>
              </a:defRPr>
            </a:defPPr>
          </a:lstStyle>
          <a:p xmlns:a="http://schemas.openxmlformats.org/drawingml/2006/main">
            <a:pPr algn="l">
              <a:defRPr sz="1425" b="0">
                <a:solidFill>
                  <a:srgbClr val="52666B"/>
                </a:solidFill>
                <a:latin typeface="Arial"/>
                <a:ea typeface="Arial"/>
                <a:cs typeface="Arial"/>
              </a:defRPr>
            </a:pPr>
            <a:r>
              <a:rPr sz="1425" b="0">
                <a:solidFill>
                  <a:srgbClr val="52666B"/>
                </a:solidFill>
                <a:latin typeface="Arial"/>
                <a:ea typeface="Arial"/>
                <a:cs typeface="Arial"/>
              </a:rPr>
              <a:t>The sample is fictional. Use the source text to interpret every signal; the app does not determine legal compliance.</a:t>
            </a:r>
          </a:p>
        </p:txBody>
      </p:sp>
    </p:spTree>
    <p:extLst>
      <p:ext uri="{BB962C8B-B14F-4D97-AF65-F5344CB8AC3E}">
        <p14:creationId xmlns:p14="http://schemas.microsoft.com/office/powerpoint/2010/main" val="2025516821"/>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C787AB69-30AA-4680-9E4E-5817A28E7304}"/>
              </a:ext>
            </a:extLst>
          </p:cNvPr>
          <p:cNvSpPr>
            <a:spLocks xmlns:a="http://schemas.openxmlformats.org/drawingml/2006/main" noGrp="1"/>
          </p:cNvSpPr>
          <p:nvPr/>
        </p:nvSpPr>
        <p:spPr>
          <a:xfrm xmlns:a="http://schemas.openxmlformats.org/drawingml/2006/main">
            <a:off x="685800" y="5143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300" b="1">
                <a:solidFill>
                  <a:srgbClr val="16333C"/>
                </a:solidFill>
                <a:latin typeface="Arial"/>
                <a:ea typeface="Arial"/>
                <a:cs typeface="Arial"/>
              </a:defRPr>
            </a:defPPr>
          </a:lstStyle>
          <a:p xmlns:a="http://schemas.openxmlformats.org/drawingml/2006/main">
            <a:pPr algn="l">
              <a:defRPr sz="3300" b="1">
                <a:solidFill>
                  <a:srgbClr val="16333C"/>
                </a:solidFill>
                <a:latin typeface="Arial"/>
                <a:ea typeface="Arial"/>
                <a:cs typeface="Arial"/>
              </a:defRPr>
            </a:pPr>
            <a:r>
              <a:rPr sz="3300" b="1">
                <a:solidFill>
                  <a:srgbClr val="16333C"/>
                </a:solidFill>
                <a:latin typeface="Arial"/>
                <a:ea typeface="Arial"/>
                <a:cs typeface="Arial"/>
              </a:rPr>
              <a:t>Project workstreams</a:t>
            </a:r>
          </a:p>
        </p:txBody>
      </p:sp>
      <p:sp>
        <p:nvSpPr>
          <p:cNvPr id="2" name="workstream-subtitle">
            <a:extLst xmlns:a="http://schemas.openxmlformats.org/drawingml/2006/main">
              <a:ext uri="{FF2B5EF4-FFF2-40B4-BE49-F238E27FC236}">
                <a16:creationId xmlns:a16="http://schemas.microsoft.com/office/drawing/2014/main" id="{6BF6B7FD-05B8-4CD9-9A84-FF0615DDBE79}"/>
              </a:ext>
            </a:extLst>
          </p:cNvPr>
          <p:cNvSpPr>
            <a:spLocks xmlns:a="http://schemas.openxmlformats.org/drawingml/2006/main" noGrp="1"/>
          </p:cNvSpPr>
          <p:nvPr/>
        </p:nvSpPr>
        <p:spPr>
          <a:xfrm xmlns:a="http://schemas.openxmlformats.org/drawingml/2006/main">
            <a:off x="704850" y="1143000"/>
            <a:ext cx="10668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52666B"/>
                </a:solidFill>
                <a:latin typeface="Arial"/>
                <a:ea typeface="Arial"/>
                <a:cs typeface="Arial"/>
              </a:defRPr>
            </a:defPPr>
          </a:lstStyle>
          <a:p xmlns:a="http://schemas.openxmlformats.org/drawingml/2006/main">
            <a:pPr algn="l">
              <a:defRPr sz="1650" b="0">
                <a:solidFill>
                  <a:srgbClr val="52666B"/>
                </a:solidFill>
                <a:latin typeface="Arial"/>
                <a:ea typeface="Arial"/>
                <a:cs typeface="Arial"/>
              </a:defRPr>
            </a:pPr>
            <a:r>
              <a:rPr sz="1650" b="0">
                <a:solidFill>
                  <a:srgbClr val="52666B"/>
                </a:solidFill>
                <a:latin typeface="Arial"/>
                <a:ea typeface="Arial"/>
                <a:cs typeface="Arial"/>
              </a:rPr>
              <a:t>This overview highlights three connected areas of work.</a:t>
            </a:r>
          </a:p>
        </p:txBody>
      </p:sp>
      <p:sp>
        <p:nvSpPr>
          <p:cNvPr id="3" name="person-name-0">
            <a:extLst xmlns:a="http://schemas.openxmlformats.org/drawingml/2006/main">
              <a:ext uri="{FF2B5EF4-FFF2-40B4-BE49-F238E27FC236}">
                <a16:creationId xmlns:a16="http://schemas.microsoft.com/office/drawing/2014/main" id="{7E22BFFA-A664-43E8-831A-4C1ECCDDC05D}"/>
              </a:ext>
            </a:extLst>
          </p:cNvPr>
          <p:cNvSpPr>
            <a:spLocks xmlns:a="http://schemas.openxmlformats.org/drawingml/2006/main" noGrp="1"/>
          </p:cNvSpPr>
          <p:nvPr/>
        </p:nvSpPr>
        <p:spPr>
          <a:xfrm xmlns:a="http://schemas.openxmlformats.org/drawingml/2006/main">
            <a:off x="742950" y="2247900"/>
            <a:ext cx="31908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775" b="1">
                <a:solidFill>
                  <a:srgbClr val="16333C"/>
                </a:solidFill>
                <a:latin typeface="Arial"/>
                <a:ea typeface="Arial"/>
                <a:cs typeface="Arial"/>
              </a:defRPr>
            </a:defPPr>
          </a:lstStyle>
          <a:p xmlns:a="http://schemas.openxmlformats.org/drawingml/2006/main">
            <a:pPr algn="l">
              <a:defRPr sz="2775" b="1">
                <a:solidFill>
                  <a:srgbClr val="16333C"/>
                </a:solidFill>
                <a:latin typeface="Arial"/>
                <a:ea typeface="Arial"/>
                <a:cs typeface="Arial"/>
              </a:defRPr>
            </a:pPr>
            <a:r>
              <a:rPr sz="2775" b="1">
                <a:solidFill>
                  <a:srgbClr val="16333C"/>
                </a:solidFill>
                <a:latin typeface="Arial"/>
                <a:ea typeface="Arial"/>
                <a:cs typeface="Arial"/>
              </a:rPr>
              <a:t>TJ</a:t>
            </a:r>
          </a:p>
        </p:txBody>
      </p:sp>
      <p:sp>
        <p:nvSpPr>
          <p:cNvPr id="4" name="person-area-0">
            <a:extLst xmlns:a="http://schemas.openxmlformats.org/drawingml/2006/main">
              <a:ext uri="{FF2B5EF4-FFF2-40B4-BE49-F238E27FC236}">
                <a16:creationId xmlns:a16="http://schemas.microsoft.com/office/drawing/2014/main" id="{416CE607-8431-4857-8766-A7174EA2E108}"/>
              </a:ext>
            </a:extLst>
          </p:cNvPr>
          <p:cNvSpPr>
            <a:spLocks xmlns:a="http://schemas.openxmlformats.org/drawingml/2006/main" noGrp="1"/>
          </p:cNvSpPr>
          <p:nvPr/>
        </p:nvSpPr>
        <p:spPr>
          <a:xfrm xmlns:a="http://schemas.openxmlformats.org/drawingml/2006/main">
            <a:off x="742950" y="2952750"/>
            <a:ext cx="319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75" b="1">
                <a:solidFill>
                  <a:srgbClr val="087F72"/>
                </a:solidFill>
                <a:latin typeface="Arial"/>
                <a:ea typeface="Arial"/>
                <a:cs typeface="Arial"/>
              </a:defRPr>
            </a:defPPr>
          </a:lstStyle>
          <a:p xmlns:a="http://schemas.openxmlformats.org/drawingml/2006/main">
            <a:pPr algn="l">
              <a:defRPr sz="1275" b="1">
                <a:solidFill>
                  <a:srgbClr val="087F72"/>
                </a:solidFill>
                <a:latin typeface="Arial"/>
                <a:ea typeface="Arial"/>
                <a:cs typeface="Arial"/>
              </a:defRPr>
            </a:pPr>
            <a:r>
              <a:rPr sz="1275" b="1">
                <a:solidFill>
                  <a:srgbClr val="087F72"/>
                </a:solidFill>
                <a:latin typeface="Arial"/>
                <a:ea typeface="Arial"/>
                <a:cs typeface="Arial"/>
              </a:rPr>
              <a:t>CLAUSE MODEL + DEMO</a:t>
            </a:r>
          </a:p>
        </p:txBody>
      </p:sp>
      <p:sp>
        <p:nvSpPr>
          <p:cNvPr id="5" name="person-body-0">
            <a:extLst xmlns:a="http://schemas.openxmlformats.org/drawingml/2006/main">
              <a:ext uri="{FF2B5EF4-FFF2-40B4-BE49-F238E27FC236}">
                <a16:creationId xmlns:a16="http://schemas.microsoft.com/office/drawing/2014/main" id="{8C5CB5C4-8A4F-4F73-A9FE-C0C8558B57FF}"/>
              </a:ext>
            </a:extLst>
          </p:cNvPr>
          <p:cNvSpPr>
            <a:spLocks xmlns:a="http://schemas.openxmlformats.org/drawingml/2006/main" noGrp="1"/>
          </p:cNvSpPr>
          <p:nvPr/>
        </p:nvSpPr>
        <p:spPr>
          <a:xfrm xmlns:a="http://schemas.openxmlformats.org/drawingml/2006/main">
            <a:off x="742950" y="3457575"/>
            <a:ext cx="3095625"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16333C"/>
                </a:solidFill>
                <a:latin typeface="Arial"/>
                <a:ea typeface="Arial"/>
                <a:cs typeface="Arial"/>
              </a:defRPr>
            </a:defPPr>
          </a:lstStyle>
          <a:p xmlns:a="http://schemas.openxmlformats.org/drawingml/2006/main">
            <a:pPr algn="l">
              <a:defRPr sz="1725" b="0">
                <a:solidFill>
                  <a:srgbClr val="16333C"/>
                </a:solidFill>
                <a:latin typeface="Arial"/>
                <a:ea typeface="Arial"/>
                <a:cs typeface="Arial"/>
              </a:defRPr>
            </a:pPr>
            <a:r>
              <a:rPr sz="1725" b="0">
                <a:solidFill>
                  <a:srgbClr val="16333C"/>
                </a:solidFill>
                <a:latin typeface="Arial"/>
                <a:ea typeface="Arial"/>
                <a:cs typeface="Arial"/>
              </a:rPr>
              <a:t>Built the OPP-115 topic tagger and leads the live browser demonstration.</a:t>
            </a:r>
          </a:p>
        </p:txBody>
      </p:sp>
      <p:sp>
        <p:nvSpPr>
          <p:cNvPr id="6" name="person-name-1">
            <a:extLst xmlns:a="http://schemas.openxmlformats.org/drawingml/2006/main">
              <a:ext uri="{FF2B5EF4-FFF2-40B4-BE49-F238E27FC236}">
                <a16:creationId xmlns:a16="http://schemas.microsoft.com/office/drawing/2014/main" id="{FF7C1FE6-1AAC-4BBD-8D2B-072AFBBBFFB7}"/>
              </a:ext>
            </a:extLst>
          </p:cNvPr>
          <p:cNvSpPr>
            <a:spLocks xmlns:a="http://schemas.openxmlformats.org/drawingml/2006/main" noGrp="1"/>
          </p:cNvSpPr>
          <p:nvPr/>
        </p:nvSpPr>
        <p:spPr>
          <a:xfrm xmlns:a="http://schemas.openxmlformats.org/drawingml/2006/main">
            <a:off x="4343400" y="2247900"/>
            <a:ext cx="31908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775" b="1">
                <a:solidFill>
                  <a:srgbClr val="16333C"/>
                </a:solidFill>
                <a:latin typeface="Arial"/>
                <a:ea typeface="Arial"/>
                <a:cs typeface="Arial"/>
              </a:defRPr>
            </a:defPPr>
          </a:lstStyle>
          <a:p xmlns:a="http://schemas.openxmlformats.org/drawingml/2006/main">
            <a:pPr algn="l">
              <a:defRPr sz="2775" b="1">
                <a:solidFill>
                  <a:srgbClr val="16333C"/>
                </a:solidFill>
                <a:latin typeface="Arial"/>
                <a:ea typeface="Arial"/>
                <a:cs typeface="Arial"/>
              </a:defRPr>
            </a:pPr>
            <a:r>
              <a:rPr sz="2775" b="1">
                <a:solidFill>
                  <a:srgbClr val="16333C"/>
                </a:solidFill>
                <a:latin typeface="Arial"/>
                <a:ea typeface="Arial"/>
                <a:cs typeface="Arial"/>
              </a:rPr>
              <a:t>Anthony</a:t>
            </a:r>
          </a:p>
        </p:txBody>
      </p:sp>
      <p:sp>
        <p:nvSpPr>
          <p:cNvPr id="7" name="person-area-1">
            <a:extLst xmlns:a="http://schemas.openxmlformats.org/drawingml/2006/main">
              <a:ext uri="{FF2B5EF4-FFF2-40B4-BE49-F238E27FC236}">
                <a16:creationId xmlns:a16="http://schemas.microsoft.com/office/drawing/2014/main" id="{D64DE049-7228-41A2-B80C-F6391258D076}"/>
              </a:ext>
            </a:extLst>
          </p:cNvPr>
          <p:cNvSpPr>
            <a:spLocks xmlns:a="http://schemas.openxmlformats.org/drawingml/2006/main" noGrp="1"/>
          </p:cNvSpPr>
          <p:nvPr/>
        </p:nvSpPr>
        <p:spPr>
          <a:xfrm xmlns:a="http://schemas.openxmlformats.org/drawingml/2006/main">
            <a:off x="4343400" y="2952750"/>
            <a:ext cx="319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75" b="1">
                <a:solidFill>
                  <a:srgbClr val="C96F50"/>
                </a:solidFill>
                <a:latin typeface="Arial"/>
                <a:ea typeface="Arial"/>
                <a:cs typeface="Arial"/>
              </a:defRPr>
            </a:defPPr>
          </a:lstStyle>
          <a:p xmlns:a="http://schemas.openxmlformats.org/drawingml/2006/main">
            <a:pPr algn="l">
              <a:defRPr sz="1275" b="1">
                <a:solidFill>
                  <a:srgbClr val="C96F50"/>
                </a:solidFill>
                <a:latin typeface="Arial"/>
                <a:ea typeface="Arial"/>
                <a:cs typeface="Arial"/>
              </a:defRPr>
            </a:pPr>
            <a:r>
              <a:rPr sz="1275" b="1">
                <a:solidFill>
                  <a:srgbClr val="C96F50"/>
                </a:solidFill>
                <a:latin typeface="Arial"/>
                <a:ea typeface="Arial"/>
                <a:cs typeface="Arial"/>
              </a:rPr>
              <a:t>RULES + SCORING</a:t>
            </a:r>
          </a:p>
        </p:txBody>
      </p:sp>
      <p:sp>
        <p:nvSpPr>
          <p:cNvPr id="8" name="person-body-1">
            <a:extLst xmlns:a="http://schemas.openxmlformats.org/drawingml/2006/main">
              <a:ext uri="{FF2B5EF4-FFF2-40B4-BE49-F238E27FC236}">
                <a16:creationId xmlns:a16="http://schemas.microsoft.com/office/drawing/2014/main" id="{18980670-30F2-4B97-BE7C-A628C32A8EB5}"/>
              </a:ext>
            </a:extLst>
          </p:cNvPr>
          <p:cNvSpPr>
            <a:spLocks xmlns:a="http://schemas.openxmlformats.org/drawingml/2006/main" noGrp="1"/>
          </p:cNvSpPr>
          <p:nvPr/>
        </p:nvSpPr>
        <p:spPr>
          <a:xfrm xmlns:a="http://schemas.openxmlformats.org/drawingml/2006/main">
            <a:off x="4343400" y="3457575"/>
            <a:ext cx="3095625"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16333C"/>
                </a:solidFill>
                <a:latin typeface="Arial"/>
                <a:ea typeface="Arial"/>
                <a:cs typeface="Arial"/>
              </a:defRPr>
            </a:defPPr>
          </a:lstStyle>
          <a:p xmlns:a="http://schemas.openxmlformats.org/drawingml/2006/main">
            <a:pPr algn="l">
              <a:defRPr sz="1725" b="0">
                <a:solidFill>
                  <a:srgbClr val="16333C"/>
                </a:solidFill>
                <a:latin typeface="Arial"/>
                <a:ea typeface="Arial"/>
                <a:cs typeface="Arial"/>
              </a:defRPr>
            </a:pPr>
            <a:r>
              <a:rPr sz="1725" b="0">
                <a:solidFill>
                  <a:srgbClr val="16333C"/>
                </a:solidFill>
                <a:latin typeface="Arial"/>
                <a:ea typeface="Arial"/>
                <a:cs typeface="Arial"/>
              </a:rPr>
              <a:t>Owns the versioned policy rules, evaluator, and evidence-backed Trust Score.</a:t>
            </a:r>
          </a:p>
        </p:txBody>
      </p:sp>
      <p:sp>
        <p:nvSpPr>
          <p:cNvPr id="9" name="person-name-2">
            <a:extLst xmlns:a="http://schemas.openxmlformats.org/drawingml/2006/main">
              <a:ext uri="{FF2B5EF4-FFF2-40B4-BE49-F238E27FC236}">
                <a16:creationId xmlns:a16="http://schemas.microsoft.com/office/drawing/2014/main" id="{005D2A83-4F8C-4ED2-84ED-CCD240024EA4}"/>
              </a:ext>
            </a:extLst>
          </p:cNvPr>
          <p:cNvSpPr>
            <a:spLocks xmlns:a="http://schemas.openxmlformats.org/drawingml/2006/main" noGrp="1"/>
          </p:cNvSpPr>
          <p:nvPr/>
        </p:nvSpPr>
        <p:spPr>
          <a:xfrm xmlns:a="http://schemas.openxmlformats.org/drawingml/2006/main">
            <a:off x="7943850" y="2247900"/>
            <a:ext cx="31908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775" b="1">
                <a:solidFill>
                  <a:srgbClr val="16333C"/>
                </a:solidFill>
                <a:latin typeface="Arial"/>
                <a:ea typeface="Arial"/>
                <a:cs typeface="Arial"/>
              </a:defRPr>
            </a:defPPr>
          </a:lstStyle>
          <a:p xmlns:a="http://schemas.openxmlformats.org/drawingml/2006/main">
            <a:pPr algn="l">
              <a:defRPr sz="2775" b="1">
                <a:solidFill>
                  <a:srgbClr val="16333C"/>
                </a:solidFill>
                <a:latin typeface="Arial"/>
                <a:ea typeface="Arial"/>
                <a:cs typeface="Arial"/>
              </a:defRPr>
            </a:pPr>
            <a:r>
              <a:rPr sz="2775" b="1">
                <a:solidFill>
                  <a:srgbClr val="16333C"/>
                </a:solidFill>
                <a:latin typeface="Arial"/>
                <a:ea typeface="Arial"/>
                <a:cs typeface="Arial"/>
              </a:rPr>
              <a:t>Amon</a:t>
            </a:r>
          </a:p>
        </p:txBody>
      </p:sp>
      <p:sp>
        <p:nvSpPr>
          <p:cNvPr id="10" name="person-area-2">
            <a:extLst xmlns:a="http://schemas.openxmlformats.org/drawingml/2006/main">
              <a:ext uri="{FF2B5EF4-FFF2-40B4-BE49-F238E27FC236}">
                <a16:creationId xmlns:a16="http://schemas.microsoft.com/office/drawing/2014/main" id="{4C4F128B-993B-4739-8BD4-C061CA4A380C}"/>
              </a:ext>
            </a:extLst>
          </p:cNvPr>
          <p:cNvSpPr>
            <a:spLocks xmlns:a="http://schemas.openxmlformats.org/drawingml/2006/main" noGrp="1"/>
          </p:cNvSpPr>
          <p:nvPr/>
        </p:nvSpPr>
        <p:spPr>
          <a:xfrm xmlns:a="http://schemas.openxmlformats.org/drawingml/2006/main">
            <a:off x="7943850" y="2952750"/>
            <a:ext cx="319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75" b="1">
                <a:solidFill>
                  <a:srgbClr val="087F72"/>
                </a:solidFill>
                <a:latin typeface="Arial"/>
                <a:ea typeface="Arial"/>
                <a:cs typeface="Arial"/>
              </a:defRPr>
            </a:defPPr>
          </a:lstStyle>
          <a:p xmlns:a="http://schemas.openxmlformats.org/drawingml/2006/main">
            <a:pPr algn="l">
              <a:defRPr sz="1275" b="1">
                <a:solidFill>
                  <a:srgbClr val="087F72"/>
                </a:solidFill>
                <a:latin typeface="Arial"/>
                <a:ea typeface="Arial"/>
                <a:cs typeface="Arial"/>
              </a:defRPr>
            </a:pPr>
            <a:r>
              <a:rPr sz="1275" b="1">
                <a:solidFill>
                  <a:srgbClr val="087F72"/>
                </a:solidFill>
                <a:latin typeface="Arial"/>
                <a:ea typeface="Arial"/>
                <a:cs typeface="Arial"/>
              </a:rPr>
              <a:t>API + INTERFACE</a:t>
            </a:r>
          </a:p>
        </p:txBody>
      </p:sp>
      <p:sp>
        <p:nvSpPr>
          <p:cNvPr id="11" name="person-body-2">
            <a:extLst xmlns:a="http://schemas.openxmlformats.org/drawingml/2006/main">
              <a:ext uri="{FF2B5EF4-FFF2-40B4-BE49-F238E27FC236}">
                <a16:creationId xmlns:a16="http://schemas.microsoft.com/office/drawing/2014/main" id="{290FA3B7-D88E-4323-AD93-A9A3EFADB762}"/>
              </a:ext>
            </a:extLst>
          </p:cNvPr>
          <p:cNvSpPr>
            <a:spLocks xmlns:a="http://schemas.openxmlformats.org/drawingml/2006/main" noGrp="1"/>
          </p:cNvSpPr>
          <p:nvPr/>
        </p:nvSpPr>
        <p:spPr>
          <a:xfrm xmlns:a="http://schemas.openxmlformats.org/drawingml/2006/main">
            <a:off x="7943850" y="3457575"/>
            <a:ext cx="3095625"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16333C"/>
                </a:solidFill>
                <a:latin typeface="Arial"/>
                <a:ea typeface="Arial"/>
                <a:cs typeface="Arial"/>
              </a:defRPr>
            </a:defPPr>
          </a:lstStyle>
          <a:p xmlns:a="http://schemas.openxmlformats.org/drawingml/2006/main">
            <a:pPr algn="l">
              <a:defRPr sz="1725" b="0">
                <a:solidFill>
                  <a:srgbClr val="16333C"/>
                </a:solidFill>
                <a:latin typeface="Arial"/>
                <a:ea typeface="Arial"/>
                <a:cs typeface="Arial"/>
              </a:defRPr>
            </a:pPr>
            <a:r>
              <a:rPr sz="1725" b="0">
                <a:solidFill>
                  <a:srgbClr val="16333C"/>
                </a:solidFill>
                <a:latin typeface="Arial"/>
                <a:ea typeface="Arial"/>
                <a:cs typeface="Arial"/>
              </a:rPr>
              <a:t>Owns the API/UI integration and how analysis results appear in the app.</a:t>
            </a:r>
          </a:p>
        </p:txBody>
      </p:sp>
      <p:sp>
        <p:nvSpPr>
          <p:cNvPr id="12" name="project-takeaway">
            <a:extLst xmlns:a="http://schemas.openxmlformats.org/drawingml/2006/main">
              <a:ext uri="{FF2B5EF4-FFF2-40B4-BE49-F238E27FC236}">
                <a16:creationId xmlns:a16="http://schemas.microsoft.com/office/drawing/2014/main" id="{E69AC54E-D3DE-42C0-BE49-456B60B99DC9}"/>
              </a:ext>
            </a:extLst>
          </p:cNvPr>
          <p:cNvSpPr>
            <a:spLocks xmlns:a="http://schemas.openxmlformats.org/drawingml/2006/main" noGrp="1"/>
          </p:cNvSpPr>
          <p:nvPr/>
        </p:nvSpPr>
        <p:spPr>
          <a:xfrm xmlns:a="http://schemas.openxmlformats.org/drawingml/2006/main">
            <a:off x="742950" y="53911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b="1">
                <a:solidFill>
                  <a:srgbClr val="16333C"/>
                </a:solidFill>
                <a:latin typeface="Arial"/>
                <a:ea typeface="Arial"/>
                <a:cs typeface="Arial"/>
              </a:defRPr>
            </a:defPPr>
          </a:lstStyle>
          <a:p xmlns:a="http://schemas.openxmlformats.org/drawingml/2006/main">
            <a:pPr algn="l">
              <a:defRPr sz="1875" b="1">
                <a:solidFill>
                  <a:srgbClr val="16333C"/>
                </a:solidFill>
                <a:latin typeface="Arial"/>
                <a:ea typeface="Arial"/>
                <a:cs typeface="Arial"/>
              </a:defRPr>
            </a:pPr>
            <a:r>
              <a:rPr sz="1875" b="1">
                <a:solidFill>
                  <a:srgbClr val="16333C"/>
                </a:solidFill>
                <a:latin typeface="Arial"/>
                <a:ea typeface="Arial"/>
                <a:cs typeface="Arial"/>
              </a:rPr>
              <a:t>Educational review signals only. The prototype is not legal advice or proof of compliance.</a:t>
            </a:r>
          </a:p>
        </p:txBody>
      </p:sp>
    </p:spTree>
    <p:extLst>
      <p:ext uri="{BB962C8B-B14F-4D97-AF65-F5344CB8AC3E}">
        <p14:creationId xmlns:p14="http://schemas.microsoft.com/office/powerpoint/2010/main" val="2952114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2026-10-08T21:53:42.3900000Z</dcterms:created>
  <dcterms:modified xsi:type="dcterms:W3CDTF">2026-10-08T21:53:42.3900000Z</dcterms:modified>
</coreProperties>
</file>